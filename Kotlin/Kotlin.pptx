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331" r:id="rId6"/>
    <p:sldId id="333" r:id="rId7"/>
    <p:sldId id="347" r:id="rId8"/>
    <p:sldId id="348" r:id="rId9"/>
    <p:sldId id="356" r:id="rId10"/>
    <p:sldId id="349" r:id="rId11"/>
    <p:sldId id="350" r:id="rId12"/>
    <p:sldId id="353" r:id="rId13"/>
    <p:sldId id="334" r:id="rId14"/>
    <p:sldId id="354" r:id="rId15"/>
    <p:sldId id="355" r:id="rId16"/>
    <p:sldId id="264" r:id="rId17"/>
    <p:sldId id="335" r:id="rId18"/>
    <p:sldId id="332" r:id="rId19"/>
    <p:sldId id="336" r:id="rId20"/>
    <p:sldId id="337" r:id="rId21"/>
    <p:sldId id="357" r:id="rId22"/>
    <p:sldId id="345" r:id="rId23"/>
    <p:sldId id="346" r:id="rId24"/>
    <p:sldId id="330" r:id="rId25"/>
    <p:sldId id="338" r:id="rId26"/>
    <p:sldId id="339" r:id="rId27"/>
    <p:sldId id="340" r:id="rId28"/>
    <p:sldId id="341" r:id="rId29"/>
    <p:sldId id="342" r:id="rId30"/>
    <p:sldId id="343" r:id="rId31"/>
    <p:sldId id="344" r:id="rId32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D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3F3F3F"/>
        </a:fontRef>
        <a:srgbClr val="3F3F3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3F3F3F"/>
        </a:fontRef>
        <a:srgbClr val="3F3F3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3F3F3F"/>
        </a:fontRef>
        <a:srgbClr val="3F3F3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3F3F3F"/>
        </a:fontRef>
        <a:srgbClr val="3F3F3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8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3F3F3F"/>
        </a:fontRef>
        <a:srgbClr val="3F3F3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3F3F3F"/>
              </a:solidFill>
              <a:prstDash val="solid"/>
              <a:round/>
            </a:ln>
          </a:top>
          <a:bottom>
            <a:ln w="25400" cap="flat">
              <a:solidFill>
                <a:srgbClr val="3F3F3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F3F3F"/>
              </a:solidFill>
              <a:prstDash val="solid"/>
              <a:round/>
            </a:ln>
          </a:top>
          <a:bottom>
            <a:ln w="25400" cap="flat">
              <a:solidFill>
                <a:srgbClr val="3F3F3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849" autoAdjust="0"/>
  </p:normalViewPr>
  <p:slideViewPr>
    <p:cSldViewPr>
      <p:cViewPr varScale="1">
        <p:scale>
          <a:sx n="74" d="100"/>
          <a:sy n="74" d="100"/>
        </p:scale>
        <p:origin x="-84" y="-7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0" name="Shape 24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351729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5" name="Shape 2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 smtClean="0"/>
              <a:t>발표</a:t>
            </a:r>
            <a:r>
              <a:rPr dirty="0" smtClean="0"/>
              <a:t> </a:t>
            </a:r>
            <a:r>
              <a:rPr dirty="0" err="1"/>
              <a:t>시작하겠습니다</a:t>
            </a:r>
            <a:r>
              <a:rPr dirty="0" smtClean="0"/>
              <a:t>.</a:t>
            </a:r>
            <a:r>
              <a:rPr lang="en-US" dirty="0" smtClean="0"/>
              <a:t> </a:t>
            </a:r>
            <a:r>
              <a:rPr lang="ko-KR" altLang="en-US" dirty="0" smtClean="0"/>
              <a:t>제가 오늘부터 발표하게 될 내용은 </a:t>
            </a:r>
            <a:r>
              <a:rPr lang="ko-KR" altLang="en-US" dirty="0" err="1" smtClean="0"/>
              <a:t>렌달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하이드</a:t>
            </a:r>
            <a:r>
              <a:rPr lang="ko-KR" altLang="en-US" dirty="0" smtClean="0"/>
              <a:t> 저자의 </a:t>
            </a:r>
            <a:r>
              <a:rPr lang="en-US" altLang="ko-KR" dirty="0" err="1" smtClean="0"/>
              <a:t>GreatCode</a:t>
            </a:r>
            <a:r>
              <a:rPr lang="ko-KR" altLang="en-US" dirty="0" smtClean="0"/>
              <a:t> 라는 책을 주제로 발표하게 됐습니다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우선 제 소개이고요</a:t>
            </a:r>
            <a:r>
              <a:rPr lang="en-US" altLang="ko-KR" dirty="0" smtClean="0"/>
              <a:t>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우선 제 소개이고요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제 소개를 간략히 하자면 </a:t>
            </a:r>
            <a:r>
              <a:rPr lang="en-US" altLang="ko-KR" dirty="0" smtClean="0"/>
              <a:t>2015</a:t>
            </a:r>
            <a:r>
              <a:rPr lang="ko-KR" altLang="en-US" dirty="0" smtClean="0"/>
              <a:t>년부터 자바 웹 개발로 </a:t>
            </a:r>
            <a:r>
              <a:rPr lang="ko-KR" altLang="en-US" dirty="0" err="1" smtClean="0"/>
              <a:t>개발일을</a:t>
            </a:r>
            <a:r>
              <a:rPr lang="ko-KR" altLang="en-US" dirty="0" smtClean="0"/>
              <a:t> 시작했고</a:t>
            </a:r>
            <a:r>
              <a:rPr lang="en-US" altLang="ko-KR" dirty="0" smtClean="0"/>
              <a:t>,</a:t>
            </a:r>
            <a:r>
              <a:rPr lang="ko-KR" altLang="en-US" baseline="0" dirty="0" smtClean="0"/>
              <a:t> </a:t>
            </a:r>
            <a:r>
              <a:rPr lang="ko-KR" altLang="en-US" dirty="0" smtClean="0"/>
              <a:t>현재는 </a:t>
            </a:r>
            <a:r>
              <a:rPr lang="ko-KR" altLang="en-US" dirty="0" err="1" smtClean="0"/>
              <a:t>핀테크</a:t>
            </a:r>
            <a:r>
              <a:rPr lang="ko-KR" altLang="en-US" dirty="0" smtClean="0"/>
              <a:t> 관련 회사에서 개발 및 유지보수를 담당하고 있습니다</a:t>
            </a:r>
            <a:r>
              <a:rPr lang="en-US" altLang="ko-KR" dirty="0" smtClean="0"/>
              <a:t>. 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옆에는 간략히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이메일주고</a:t>
            </a:r>
            <a:r>
              <a:rPr lang="en-US" altLang="ko-KR" baseline="0" dirty="0" smtClean="0"/>
              <a:t>, </a:t>
            </a:r>
            <a:r>
              <a:rPr lang="ko-KR" altLang="en-US" baseline="0" dirty="0" err="1" smtClean="0"/>
              <a:t>깃허브</a:t>
            </a:r>
            <a:r>
              <a:rPr lang="ko-KR" altLang="en-US" baseline="0" dirty="0" smtClean="0"/>
              <a:t> 저장소  </a:t>
            </a:r>
            <a:r>
              <a:rPr lang="en-US" altLang="ko-KR" baseline="0" dirty="0" err="1" smtClean="0"/>
              <a:t>url</a:t>
            </a:r>
            <a:r>
              <a:rPr lang="ko-KR" altLang="en-US" baseline="0" dirty="0" smtClean="0"/>
              <a:t>이 있고요</a:t>
            </a:r>
            <a:r>
              <a:rPr lang="en-US" altLang="ko-KR" baseline="0" dirty="0" smtClean="0"/>
              <a:t>.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397846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8" name="Shape 2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목차 들어가겠습니다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첫번째로</a:t>
            </a:r>
            <a:r>
              <a:rPr lang="ko-KR" altLang="en-US" dirty="0" smtClean="0"/>
              <a:t> 간략히 전체 책과 저자 소개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수와 수치 표기법 개념 그리고 이 수와 수치표기법의 개념들이 컴퓨터에서 어떻게 사용이 되는지 순서로 발표 진행하겠습니다</a:t>
            </a:r>
            <a:r>
              <a:rPr lang="en-US" altLang="ko-KR" baseline="0" dirty="0" smtClean="0"/>
              <a:t>. 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00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8" name="Shape 3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ko-KR" altLang="en-US" baseline="0" dirty="0" err="1" smtClean="0"/>
              <a:t>오라클의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오픈소스를</a:t>
            </a:r>
            <a:r>
              <a:rPr lang="ko-KR" altLang="en-US" baseline="0" dirty="0" smtClean="0"/>
              <a:t> 대하는 자세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r>
              <a:rPr lang="ko-KR" altLang="en-US" baseline="0" dirty="0" smtClean="0"/>
              <a:t>소형 가전에 들어가는 자바를 </a:t>
            </a:r>
            <a:r>
              <a:rPr lang="ko-KR" altLang="en-US" baseline="0" dirty="0" err="1" smtClean="0"/>
              <a:t>임베디드</a:t>
            </a:r>
            <a:r>
              <a:rPr lang="ko-KR" altLang="en-US" baseline="0" dirty="0" smtClean="0"/>
              <a:t> 자바들은 이미 자바로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r>
              <a:rPr lang="ko-KR" altLang="en-US" baseline="0" dirty="0" smtClean="0"/>
              <a:t>공식홈페이지에 </a:t>
            </a:r>
            <a:r>
              <a:rPr lang="en-US" altLang="ko-KR" baseline="0" dirty="0" smtClean="0"/>
              <a:t>SE</a:t>
            </a:r>
            <a:r>
              <a:rPr lang="ko-KR" altLang="en-US" baseline="0" dirty="0" smtClean="0"/>
              <a:t>와 </a:t>
            </a:r>
            <a:r>
              <a:rPr lang="en-US" altLang="ko-KR" baseline="0" dirty="0" smtClean="0"/>
              <a:t>Advance SE</a:t>
            </a:r>
          </a:p>
          <a:p>
            <a:pPr marL="285750" indent="-285750">
              <a:buFontTx/>
              <a:buChar char="-"/>
            </a:pPr>
            <a:r>
              <a:rPr lang="ko-KR" altLang="en-US" baseline="0" dirty="0" err="1" smtClean="0"/>
              <a:t>구글과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오라클의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안드로이드를</a:t>
            </a:r>
            <a:r>
              <a:rPr lang="ko-KR" altLang="en-US" baseline="0" dirty="0" smtClean="0"/>
              <a:t> 둘러싼 대립 관계</a:t>
            </a:r>
            <a:endParaRPr lang="en-US" altLang="ko-KR" baseline="0" dirty="0" smtClean="0"/>
          </a:p>
          <a:p>
            <a:pPr marL="0" indent="0">
              <a:buFontTx/>
              <a:buNone/>
            </a:pPr>
            <a:r>
              <a:rPr lang="en-US" altLang="ko-KR" dirty="0" smtClean="0"/>
              <a:t>(2010</a:t>
            </a:r>
            <a:r>
              <a:rPr lang="ko-KR" altLang="en-US" dirty="0" smtClean="0"/>
              <a:t>년 </a:t>
            </a:r>
            <a:r>
              <a:rPr lang="ko-KR" altLang="en-US" dirty="0" err="1" smtClean="0"/>
              <a:t>오라클은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구글에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API 37</a:t>
            </a:r>
            <a:r>
              <a:rPr lang="ko-KR" altLang="en-US" dirty="0" smtClean="0"/>
              <a:t>종의 구조</a:t>
            </a:r>
            <a:r>
              <a:rPr lang="en-US" altLang="ko-KR" dirty="0" smtClean="0"/>
              <a:t>/</a:t>
            </a:r>
            <a:r>
              <a:rPr lang="ko-KR" altLang="en-US" dirty="0" smtClean="0"/>
              <a:t>순서</a:t>
            </a:r>
            <a:r>
              <a:rPr lang="en-US" altLang="ko-KR" dirty="0" smtClean="0"/>
              <a:t>/</a:t>
            </a:r>
            <a:r>
              <a:rPr lang="ko-KR" altLang="en-US" dirty="0" smtClean="0"/>
              <a:t>조직을 </a:t>
            </a:r>
            <a:r>
              <a:rPr lang="ko-KR" altLang="en-US" dirty="0" err="1" smtClean="0"/>
              <a:t>배꼈다고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안드로이드에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조</a:t>
            </a:r>
            <a:r>
              <a:rPr lang="en-US" altLang="ko-KR" dirty="0" smtClean="0"/>
              <a:t>~11</a:t>
            </a:r>
            <a:r>
              <a:rPr lang="ko-KR" altLang="en-US" dirty="0" smtClean="0"/>
              <a:t>조에 달하는 설계 소송을 제기했고 몇 번 법원을 </a:t>
            </a:r>
            <a:r>
              <a:rPr lang="ko-KR" altLang="en-US" dirty="0" err="1" smtClean="0"/>
              <a:t>왔다갔다</a:t>
            </a:r>
            <a:r>
              <a:rPr lang="ko-KR" altLang="en-US" dirty="0" smtClean="0"/>
              <a:t> 하고 올해 양 측의 다툼은 </a:t>
            </a:r>
            <a:r>
              <a:rPr lang="en-US" altLang="ko-KR" dirty="0" smtClean="0"/>
              <a:t>7</a:t>
            </a:r>
            <a:r>
              <a:rPr lang="ko-KR" altLang="en-US" dirty="0" smtClean="0"/>
              <a:t>년째를 맞이</a:t>
            </a:r>
            <a:r>
              <a:rPr lang="en-US" altLang="ko-KR" dirty="0" smtClean="0"/>
              <a:t>)</a:t>
            </a:r>
          </a:p>
          <a:p>
            <a:pPr marL="0" indent="0">
              <a:buFontTx/>
              <a:buNone/>
            </a:pPr>
            <a:r>
              <a:rPr lang="en-US" altLang="ko-KR" dirty="0" smtClean="0"/>
              <a:t>- </a:t>
            </a:r>
            <a:r>
              <a:rPr lang="ko-KR" altLang="en-US" dirty="0" smtClean="0"/>
              <a:t>이미 움직임은 오래 전부터</a:t>
            </a:r>
            <a:r>
              <a:rPr lang="en-US" altLang="ko-KR" dirty="0" smtClean="0"/>
              <a:t>..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-    </a:t>
            </a:r>
            <a:r>
              <a:rPr lang="ko-KR" altLang="en-US" dirty="0" smtClean="0"/>
              <a:t>이미 </a:t>
            </a:r>
            <a:r>
              <a:rPr lang="ko-KR" altLang="en-US" dirty="0" err="1" smtClean="0"/>
              <a:t>구글의</a:t>
            </a:r>
            <a:r>
              <a:rPr lang="ko-KR" altLang="en-US" dirty="0" smtClean="0"/>
              <a:t> 마음은 </a:t>
            </a:r>
            <a:r>
              <a:rPr lang="ko-KR" altLang="en-US" dirty="0" err="1" smtClean="0"/>
              <a:t>오라클</a:t>
            </a:r>
            <a:r>
              <a:rPr lang="ko-KR" altLang="en-US" dirty="0" smtClean="0"/>
              <a:t> 자바에서 떠났죠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Nuga</a:t>
            </a:r>
            <a:r>
              <a:rPr lang="ko-KR" altLang="en-US" dirty="0" smtClean="0"/>
              <a:t>버전부터는 </a:t>
            </a:r>
            <a:r>
              <a:rPr lang="ko-KR" altLang="en-US" dirty="0" err="1" smtClean="0"/>
              <a:t>오픈자바</a:t>
            </a:r>
            <a:r>
              <a:rPr lang="ko-KR" altLang="en-US" baseline="0" dirty="0" smtClean="0"/>
              <a:t> 사용</a:t>
            </a:r>
            <a:endParaRPr lang="en-US" altLang="ko-KR" baseline="0" dirty="0" smtClean="0"/>
          </a:p>
          <a:p>
            <a:pPr marL="0" indent="0">
              <a:buFontTx/>
              <a:buNone/>
            </a:pPr>
            <a:r>
              <a:rPr lang="en-US" dirty="0" smtClean="0"/>
              <a:t>- </a:t>
            </a:r>
            <a:r>
              <a:rPr lang="ko-KR" altLang="en-US" dirty="0" smtClean="0"/>
              <a:t>   만약 </a:t>
            </a:r>
            <a:r>
              <a:rPr lang="ko-KR" altLang="en-US" dirty="0" err="1" smtClean="0"/>
              <a:t>구글과의</a:t>
            </a:r>
            <a:r>
              <a:rPr lang="ko-KR" altLang="en-US" dirty="0" smtClean="0"/>
              <a:t> 전쟁에서 승리하게 된다고 하면</a:t>
            </a:r>
            <a:r>
              <a:rPr lang="en-US" altLang="ko-KR" dirty="0" smtClean="0"/>
              <a:t>,</a:t>
            </a:r>
            <a:r>
              <a:rPr lang="ko-KR" altLang="en-US" baseline="0" dirty="0" smtClean="0"/>
              <a:t> 우리나라에서 사용하고 있는 전자정부프레임워크도 지금처럼 그렇게 사용할 수 있을까</a:t>
            </a:r>
            <a:r>
              <a:rPr lang="en-US" altLang="ko-KR" baseline="0" dirty="0" smtClean="0"/>
              <a:t>?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방법은 다르지만 모두 백</a:t>
            </a:r>
            <a:r>
              <a:rPr lang="en-US" altLang="ko-KR" dirty="0" smtClean="0"/>
              <a:t>, 100,</a:t>
            </a:r>
            <a:r>
              <a:rPr lang="en-US" altLang="ko-KR" baseline="0" dirty="0" smtClean="0"/>
              <a:t> 16</a:t>
            </a:r>
            <a:r>
              <a:rPr lang="ko-KR" altLang="en-US" baseline="0" dirty="0" smtClean="0"/>
              <a:t>진수의 </a:t>
            </a:r>
            <a:r>
              <a:rPr lang="en-US" altLang="ko-KR" baseline="0" dirty="0" smtClean="0"/>
              <a:t>64</a:t>
            </a:r>
            <a:r>
              <a:rPr lang="ko-KR" altLang="en-US" baseline="0" dirty="0" smtClean="0"/>
              <a:t>라고 얘기하면 모두 다른 말로 표현을 했지만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같은 양을 떠올릴 수 </a:t>
            </a:r>
            <a:r>
              <a:rPr lang="ko-KR" altLang="en-US" baseline="0" dirty="0" err="1" smtClean="0"/>
              <a:t>있는거죠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한마디로 </a:t>
            </a:r>
            <a:r>
              <a:rPr lang="en-US" altLang="ko-KR" baseline="0" dirty="0" smtClean="0"/>
              <a:t>[</a:t>
            </a:r>
            <a:r>
              <a:rPr lang="ko-KR" altLang="en-US" baseline="0" dirty="0" err="1" smtClean="0"/>
              <a:t>주먹쥐며</a:t>
            </a:r>
            <a:r>
              <a:rPr lang="en-US" altLang="ko-KR" baseline="0" dirty="0" smtClean="0"/>
              <a:t>-</a:t>
            </a:r>
            <a:r>
              <a:rPr lang="ko-KR" altLang="en-US" baseline="0" dirty="0" smtClean="0"/>
              <a:t>이렇게 사람이 있으면 한쪽에서 한쪽으로</a:t>
            </a:r>
            <a:r>
              <a:rPr lang="en-US" altLang="ko-KR" baseline="0" dirty="0" smtClean="0"/>
              <a:t>]</a:t>
            </a:r>
            <a:r>
              <a:rPr lang="ko-KR" altLang="en-US" baseline="0" dirty="0" smtClean="0"/>
              <a:t>양의 개념을 전달하는 수단입니다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얘가 생각하고 있는 크기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양 자체가 수이고요</a:t>
            </a:r>
            <a:r>
              <a:rPr lang="en-US" altLang="ko-KR" baseline="0" dirty="0" smtClean="0"/>
              <a:t>.</a:t>
            </a:r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한 타이밍 쉬고</a:t>
            </a:r>
            <a:r>
              <a:rPr lang="en-US" altLang="ko-KR" dirty="0" smtClean="0"/>
              <a:t>]</a:t>
            </a:r>
          </a:p>
          <a:p>
            <a:r>
              <a:rPr lang="ko-KR" altLang="en-US" dirty="0" smtClean="0"/>
              <a:t>산가지 표기법이라고 들어보셨나요</a:t>
            </a:r>
            <a:endParaRPr lang="en-US" altLang="ko-KR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846503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++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자바는 돈이 </a:t>
            </a:r>
            <a:r>
              <a:rPr lang="ko-KR" altLang="en-US" baseline="0" dirty="0" err="1" smtClean="0"/>
              <a:t>안된다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오라클도</a:t>
            </a:r>
            <a:r>
              <a:rPr lang="ko-KR" altLang="en-US" baseline="0" dirty="0" smtClean="0"/>
              <a:t> 이미 </a:t>
            </a:r>
            <a:r>
              <a:rPr lang="en-US" altLang="ko-KR" baseline="0" dirty="0" smtClean="0"/>
              <a:t>JAVA</a:t>
            </a:r>
            <a:r>
              <a:rPr lang="ko-KR" altLang="en-US" baseline="0" dirty="0" smtClean="0"/>
              <a:t> 관련 사업부에 속한 인원들을 </a:t>
            </a:r>
            <a:r>
              <a:rPr lang="en-US" altLang="ko-KR" baseline="0" dirty="0" smtClean="0"/>
              <a:t>2015</a:t>
            </a:r>
            <a:r>
              <a:rPr lang="ko-KR" altLang="en-US" baseline="0" dirty="0" smtClean="0"/>
              <a:t>년</a:t>
            </a:r>
            <a:r>
              <a:rPr lang="en-US" altLang="ko-KR" baseline="0" dirty="0" smtClean="0"/>
              <a:t>~</a:t>
            </a:r>
            <a:r>
              <a:rPr lang="ko-KR" altLang="en-US" baseline="0" dirty="0" smtClean="0"/>
              <a:t> 해고하기 시작</a:t>
            </a:r>
            <a:endParaRPr lang="en-US" altLang="ko-KR" baseline="0" dirty="0" smtClean="0"/>
          </a:p>
          <a:p>
            <a:r>
              <a:rPr lang="en-US" altLang="ko-KR" baseline="0" dirty="0" smtClean="0"/>
              <a:t>++ </a:t>
            </a:r>
            <a:r>
              <a:rPr lang="ko-KR" altLang="en-US" baseline="0" dirty="0" smtClean="0"/>
              <a:t>전세계 대기업 고객을 가장 많이 보유하고 있는 </a:t>
            </a:r>
            <a:r>
              <a:rPr lang="en-US" altLang="ko-KR" baseline="0" dirty="0" smtClean="0"/>
              <a:t>IT</a:t>
            </a:r>
            <a:r>
              <a:rPr lang="ko-KR" altLang="en-US" baseline="0" dirty="0" smtClean="0"/>
              <a:t>분석기관 </a:t>
            </a:r>
            <a:r>
              <a:rPr lang="en-US" altLang="ko-KR" baseline="0" dirty="0" smtClean="0"/>
              <a:t>Gartner</a:t>
            </a:r>
            <a:r>
              <a:rPr lang="ko-KR" altLang="en-US" baseline="0" dirty="0" smtClean="0"/>
              <a:t>에서 작년 말에 자바는 더 이상 시대에 뒤떨어져서 더 사용하지 말아야 한다는 분석보고서를 내놓는 바람에 큰 논란이 되기도 했음</a:t>
            </a:r>
            <a:r>
              <a:rPr lang="en-US" altLang="ko-KR" baseline="0" dirty="0" smtClean="0"/>
              <a:t>. </a:t>
            </a:r>
          </a:p>
          <a:p>
            <a:r>
              <a:rPr lang="en-US" altLang="ko-KR" dirty="0" smtClean="0"/>
              <a:t>JAVA </a:t>
            </a:r>
            <a:r>
              <a:rPr lang="ko-KR" altLang="en-US" dirty="0" smtClean="0"/>
              <a:t>같은 프레임워크는 시대에 뒤떨어진 패러다임을 고수하고 있어 근대 </a:t>
            </a:r>
            <a:r>
              <a:rPr lang="ko-KR" altLang="en-US" dirty="0" err="1" smtClean="0"/>
              <a:t>웹개발환경에</a:t>
            </a:r>
            <a:r>
              <a:rPr lang="ko-KR" altLang="en-US" dirty="0" smtClean="0"/>
              <a:t> 맞지 않는다는 것이 보고서의 내용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이런 상황에서 </a:t>
            </a:r>
            <a:r>
              <a:rPr lang="ko-KR" altLang="en-US" dirty="0" err="1" smtClean="0"/>
              <a:t>오라클이</a:t>
            </a:r>
            <a:r>
              <a:rPr lang="ko-KR" altLang="en-US" dirty="0" smtClean="0"/>
              <a:t> 자바에 대한 것은 의욕적이지 </a:t>
            </a:r>
            <a:r>
              <a:rPr lang="ko-KR" altLang="en-US" dirty="0" err="1" smtClean="0"/>
              <a:t>못한것은</a:t>
            </a:r>
            <a:r>
              <a:rPr lang="ko-KR" altLang="en-US" dirty="0" smtClean="0"/>
              <a:t> 당연한 결과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846503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++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자바는 돈이 </a:t>
            </a:r>
            <a:r>
              <a:rPr lang="ko-KR" altLang="en-US" baseline="0" dirty="0" err="1" smtClean="0"/>
              <a:t>안된다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오라클도</a:t>
            </a:r>
            <a:r>
              <a:rPr lang="ko-KR" altLang="en-US" baseline="0" dirty="0" smtClean="0"/>
              <a:t> 이미 </a:t>
            </a:r>
            <a:r>
              <a:rPr lang="en-US" altLang="ko-KR" baseline="0" dirty="0" smtClean="0"/>
              <a:t>JAVA</a:t>
            </a:r>
            <a:r>
              <a:rPr lang="ko-KR" altLang="en-US" baseline="0" dirty="0" smtClean="0"/>
              <a:t> 관련 사업부에 속한 인원들을 </a:t>
            </a:r>
            <a:r>
              <a:rPr lang="en-US" altLang="ko-KR" baseline="0" dirty="0" smtClean="0"/>
              <a:t>2015</a:t>
            </a:r>
            <a:r>
              <a:rPr lang="ko-KR" altLang="en-US" baseline="0" dirty="0" smtClean="0"/>
              <a:t>년</a:t>
            </a:r>
            <a:r>
              <a:rPr lang="en-US" altLang="ko-KR" baseline="0" dirty="0" smtClean="0"/>
              <a:t>~</a:t>
            </a:r>
            <a:r>
              <a:rPr lang="ko-KR" altLang="en-US" baseline="0" dirty="0" smtClean="0"/>
              <a:t> 해고하기 시작</a:t>
            </a:r>
            <a:endParaRPr lang="en-US" altLang="ko-KR" baseline="0" dirty="0" smtClean="0"/>
          </a:p>
          <a:p>
            <a:r>
              <a:rPr lang="en-US" altLang="ko-KR" baseline="0" dirty="0" smtClean="0"/>
              <a:t>++ </a:t>
            </a:r>
            <a:r>
              <a:rPr lang="ko-KR" altLang="en-US" baseline="0" dirty="0" smtClean="0"/>
              <a:t>전세계 대기업 고객을 가장 많이 보유하고 있는 </a:t>
            </a:r>
            <a:r>
              <a:rPr lang="en-US" altLang="ko-KR" baseline="0" dirty="0" smtClean="0"/>
              <a:t>IT</a:t>
            </a:r>
            <a:r>
              <a:rPr lang="ko-KR" altLang="en-US" baseline="0" dirty="0" smtClean="0"/>
              <a:t>분석기관 </a:t>
            </a:r>
            <a:r>
              <a:rPr lang="en-US" altLang="ko-KR" baseline="0" dirty="0" smtClean="0"/>
              <a:t>Gartner</a:t>
            </a:r>
            <a:r>
              <a:rPr lang="ko-KR" altLang="en-US" baseline="0" dirty="0" smtClean="0"/>
              <a:t>에서 작년 말에 자바는 더 이상 시대에 뒤떨어져서 더 사용하지 말아야 한다는 분석보고서를 내놓는 바람에 큰 논란이 되기도 했음</a:t>
            </a:r>
            <a:r>
              <a:rPr lang="en-US" altLang="ko-KR" baseline="0" dirty="0" smtClean="0"/>
              <a:t>. </a:t>
            </a:r>
          </a:p>
          <a:p>
            <a:r>
              <a:rPr lang="en-US" altLang="ko-KR" dirty="0" smtClean="0"/>
              <a:t>JAVA </a:t>
            </a:r>
            <a:r>
              <a:rPr lang="ko-KR" altLang="en-US" dirty="0" smtClean="0"/>
              <a:t>같은 프레임워크는 시대에 뒤떨어진 패러다임을 고수하고 있어 근대 </a:t>
            </a:r>
            <a:r>
              <a:rPr lang="ko-KR" altLang="en-US" dirty="0" err="1" smtClean="0"/>
              <a:t>웹개발환경에</a:t>
            </a:r>
            <a:r>
              <a:rPr lang="ko-KR" altLang="en-US" dirty="0" smtClean="0"/>
              <a:t> 맞지 않는다는 것이 보고서의 내용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이런 상황에서 </a:t>
            </a:r>
            <a:r>
              <a:rPr lang="ko-KR" altLang="en-US" dirty="0" err="1" smtClean="0"/>
              <a:t>오라클이</a:t>
            </a:r>
            <a:r>
              <a:rPr lang="ko-KR" altLang="en-US" dirty="0" smtClean="0"/>
              <a:t> 자바에 대한 것은 의욕적이지 </a:t>
            </a:r>
            <a:r>
              <a:rPr lang="ko-KR" altLang="en-US" dirty="0" err="1" smtClean="0"/>
              <a:t>못한것은</a:t>
            </a:r>
            <a:r>
              <a:rPr lang="ko-KR" altLang="en-US" dirty="0" smtClean="0"/>
              <a:t> </a:t>
            </a:r>
            <a:r>
              <a:rPr lang="ko-KR" altLang="en-US" smtClean="0"/>
              <a:t>당연한 결과</a:t>
            </a:r>
            <a:endParaRPr lang="en-US" altLang="ko-KR" smtClean="0"/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846503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ko-KR" altLang="en-US" baseline="0" dirty="0" smtClean="0"/>
              <a:t>기술도 물론 중요하지만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점점 더 빠르게 변화해가는 </a:t>
            </a:r>
            <a:r>
              <a:rPr lang="en-US" altLang="ko-KR" baseline="0" dirty="0" smtClean="0"/>
              <a:t>IT</a:t>
            </a:r>
            <a:r>
              <a:rPr lang="ko-KR" altLang="en-US" baseline="0" dirty="0" smtClean="0"/>
              <a:t>업계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r>
              <a:rPr lang="ko-KR" altLang="en-US" baseline="0" dirty="0" smtClean="0"/>
              <a:t>그와는 별개로 움직이는 한국의 </a:t>
            </a:r>
            <a:r>
              <a:rPr lang="en-US" altLang="ko-KR" baseline="0" dirty="0" smtClean="0"/>
              <a:t>IT</a:t>
            </a:r>
            <a:r>
              <a:rPr lang="ko-KR" altLang="en-US" baseline="0" dirty="0" smtClean="0"/>
              <a:t>시장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r>
              <a:rPr lang="ko-KR" altLang="en-US" baseline="0" dirty="0" smtClean="0"/>
              <a:t>기민하게 대응하지 않으면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지금 시중 은행과 카카오 뱅크 마냥 개발자들 역시 낙동강 </a:t>
            </a:r>
            <a:r>
              <a:rPr lang="ko-KR" altLang="en-US" baseline="0" dirty="0" err="1" smtClean="0"/>
              <a:t>오리알</a:t>
            </a:r>
            <a:r>
              <a:rPr lang="ko-KR" altLang="en-US" baseline="0" dirty="0" smtClean="0"/>
              <a:t> 신세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r>
              <a:rPr lang="en-US" altLang="ko-KR" baseline="0" dirty="0" err="1" smtClean="0"/>
              <a:t>Javarian</a:t>
            </a:r>
            <a:r>
              <a:rPr lang="ko-KR" altLang="en-US" baseline="0" dirty="0" smtClean="0"/>
              <a:t>이라는 단어</a:t>
            </a:r>
            <a:endParaRPr lang="en-US" altLang="ko-KR" baseline="0" dirty="0" smtClean="0"/>
          </a:p>
        </p:txBody>
      </p:sp>
    </p:spTree>
    <p:extLst>
      <p:ext uri="{BB962C8B-B14F-4D97-AF65-F5344CB8AC3E}">
        <p14:creationId xmlns:p14="http://schemas.microsoft.com/office/powerpoint/2010/main" val="846503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00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ko-KR" altLang="en-US" baseline="0" dirty="0" smtClean="0"/>
              <a:t>기술도 물론 중요하지만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점점 더 빠르게 변화해가는 </a:t>
            </a:r>
            <a:r>
              <a:rPr lang="en-US" altLang="ko-KR" baseline="0" dirty="0" smtClean="0"/>
              <a:t>IT</a:t>
            </a:r>
            <a:r>
              <a:rPr lang="ko-KR" altLang="en-US" baseline="0" dirty="0" smtClean="0"/>
              <a:t>업계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r>
              <a:rPr lang="ko-KR" altLang="en-US" baseline="0" dirty="0" smtClean="0"/>
              <a:t>그와는 별개로 움직이는 한국의 </a:t>
            </a:r>
            <a:r>
              <a:rPr lang="en-US" altLang="ko-KR" baseline="0" dirty="0" smtClean="0"/>
              <a:t>IT</a:t>
            </a:r>
            <a:r>
              <a:rPr lang="ko-KR" altLang="en-US" baseline="0" dirty="0" smtClean="0"/>
              <a:t>시장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r>
              <a:rPr lang="ko-KR" altLang="en-US" baseline="0" dirty="0" smtClean="0"/>
              <a:t>기민하게 대응하지 않으면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지금 시중 은행과 카카오 뱅크 마냥 개발자들 역시 낙동강 </a:t>
            </a:r>
            <a:r>
              <a:rPr lang="ko-KR" altLang="en-US" baseline="0" dirty="0" err="1" smtClean="0"/>
              <a:t>오리알</a:t>
            </a:r>
            <a:r>
              <a:rPr lang="ko-KR" altLang="en-US" baseline="0" dirty="0" smtClean="0"/>
              <a:t> 신세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r>
              <a:rPr lang="en-US" altLang="ko-KR" baseline="0" dirty="0" err="1" smtClean="0"/>
              <a:t>Javarian</a:t>
            </a:r>
            <a:r>
              <a:rPr lang="ko-KR" altLang="en-US" baseline="0" dirty="0" smtClean="0"/>
              <a:t>이라는 단어</a:t>
            </a:r>
            <a:endParaRPr lang="en-US" altLang="ko-KR" baseline="0" dirty="0" smtClean="0"/>
          </a:p>
        </p:txBody>
      </p:sp>
    </p:spTree>
    <p:extLst>
      <p:ext uri="{BB962C8B-B14F-4D97-AF65-F5344CB8AC3E}">
        <p14:creationId xmlns:p14="http://schemas.microsoft.com/office/powerpoint/2010/main" val="846503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ko-KR" altLang="en-US" baseline="0" dirty="0" smtClean="0"/>
              <a:t>기술도 물론 중요하지만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점점 더 빠르게 변화해가는 </a:t>
            </a:r>
            <a:r>
              <a:rPr lang="en-US" altLang="ko-KR" baseline="0" dirty="0" smtClean="0"/>
              <a:t>IT</a:t>
            </a:r>
            <a:r>
              <a:rPr lang="ko-KR" altLang="en-US" baseline="0" dirty="0" smtClean="0"/>
              <a:t>업계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r>
              <a:rPr lang="ko-KR" altLang="en-US" baseline="0" dirty="0" smtClean="0"/>
              <a:t>그와는 별개로 움직이는 한국의 </a:t>
            </a:r>
            <a:r>
              <a:rPr lang="en-US" altLang="ko-KR" baseline="0" dirty="0" smtClean="0"/>
              <a:t>IT</a:t>
            </a:r>
            <a:r>
              <a:rPr lang="ko-KR" altLang="en-US" baseline="0" dirty="0" smtClean="0"/>
              <a:t>시장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r>
              <a:rPr lang="ko-KR" altLang="en-US" baseline="0" dirty="0" smtClean="0"/>
              <a:t>기민하게 대응하지 않으면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지금 시중 은행과 카카오 뱅크 마냥 개발자들 역시 낙동강 </a:t>
            </a:r>
            <a:r>
              <a:rPr lang="ko-KR" altLang="en-US" baseline="0" dirty="0" err="1" smtClean="0"/>
              <a:t>오리알</a:t>
            </a:r>
            <a:r>
              <a:rPr lang="ko-KR" altLang="en-US" baseline="0" dirty="0" smtClean="0"/>
              <a:t> 신세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r>
              <a:rPr lang="en-US" altLang="ko-KR" baseline="0" dirty="0" err="1" smtClean="0"/>
              <a:t>Javarian</a:t>
            </a:r>
            <a:r>
              <a:rPr lang="ko-KR" altLang="en-US" baseline="0" dirty="0" smtClean="0"/>
              <a:t>이라는 단어</a:t>
            </a:r>
            <a:endParaRPr lang="en-US" altLang="ko-KR" baseline="0" dirty="0" smtClean="0"/>
          </a:p>
        </p:txBody>
      </p:sp>
    </p:spTree>
    <p:extLst>
      <p:ext uri="{BB962C8B-B14F-4D97-AF65-F5344CB8AC3E}">
        <p14:creationId xmlns:p14="http://schemas.microsoft.com/office/powerpoint/2010/main" val="846503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00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baseline="0" dirty="0" smtClean="0"/>
              <a:t>정말 공식 홈페이지에서 하는 말들이 맞을지 한 번 확인해 볼까요 </a:t>
            </a:r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방법은 다르지만 모두 백</a:t>
            </a:r>
            <a:r>
              <a:rPr lang="en-US" altLang="ko-KR" dirty="0" smtClean="0"/>
              <a:t>, 100,</a:t>
            </a:r>
            <a:r>
              <a:rPr lang="en-US" altLang="ko-KR" baseline="0" dirty="0" smtClean="0"/>
              <a:t> 16</a:t>
            </a:r>
            <a:r>
              <a:rPr lang="ko-KR" altLang="en-US" baseline="0" dirty="0" smtClean="0"/>
              <a:t>진수의 </a:t>
            </a:r>
            <a:r>
              <a:rPr lang="en-US" altLang="ko-KR" baseline="0" dirty="0" smtClean="0"/>
              <a:t>64</a:t>
            </a:r>
            <a:r>
              <a:rPr lang="ko-KR" altLang="en-US" baseline="0" dirty="0" smtClean="0"/>
              <a:t>라고 얘기하면 모두 다른 말로 표현을 했지만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같은 양을 떠올릴 수 </a:t>
            </a:r>
            <a:r>
              <a:rPr lang="ko-KR" altLang="en-US" baseline="0" dirty="0" err="1" smtClean="0"/>
              <a:t>있는거죠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한마디로 </a:t>
            </a:r>
            <a:r>
              <a:rPr lang="en-US" altLang="ko-KR" baseline="0" dirty="0" smtClean="0"/>
              <a:t>[</a:t>
            </a:r>
            <a:r>
              <a:rPr lang="ko-KR" altLang="en-US" baseline="0" dirty="0" err="1" smtClean="0"/>
              <a:t>주먹쥐며</a:t>
            </a:r>
            <a:r>
              <a:rPr lang="en-US" altLang="ko-KR" baseline="0" dirty="0" smtClean="0"/>
              <a:t>-</a:t>
            </a:r>
            <a:r>
              <a:rPr lang="ko-KR" altLang="en-US" baseline="0" dirty="0" smtClean="0"/>
              <a:t>이렇게 사람이 있으면 한쪽에서 한쪽으로</a:t>
            </a:r>
            <a:r>
              <a:rPr lang="en-US" altLang="ko-KR" baseline="0" dirty="0" smtClean="0"/>
              <a:t>]</a:t>
            </a:r>
            <a:r>
              <a:rPr lang="ko-KR" altLang="en-US" baseline="0" dirty="0" smtClean="0"/>
              <a:t>양의 개념을 전달하는 수단입니다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얘가 생각하고 있는 크기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양 자체가 수이고요</a:t>
            </a:r>
            <a:r>
              <a:rPr lang="en-US" altLang="ko-KR" baseline="0" dirty="0" smtClean="0"/>
              <a:t>.</a:t>
            </a:r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한 타이밍 쉬고</a:t>
            </a:r>
            <a:r>
              <a:rPr lang="en-US" altLang="ko-KR" dirty="0" smtClean="0"/>
              <a:t>]</a:t>
            </a:r>
          </a:p>
          <a:p>
            <a:r>
              <a:rPr lang="ko-KR" altLang="en-US" dirty="0" smtClean="0"/>
              <a:t>산가지 표기법이라고 들어보셨나요</a:t>
            </a:r>
            <a:endParaRPr lang="en-US" altLang="ko-KR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846503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ko-KR" baseline="0" dirty="0" smtClean="0"/>
              <a:t>Objective-c</a:t>
            </a:r>
            <a:r>
              <a:rPr lang="ko-KR" altLang="en-US" baseline="0" dirty="0" smtClean="0"/>
              <a:t>와 </a:t>
            </a:r>
            <a:r>
              <a:rPr lang="en-US" altLang="ko-KR" baseline="0" dirty="0" smtClean="0"/>
              <a:t>Swift</a:t>
            </a:r>
            <a:r>
              <a:rPr lang="ko-KR" altLang="en-US" baseline="0" dirty="0" smtClean="0"/>
              <a:t>를 비교하지 않을 수 없는 것 처럼 </a:t>
            </a:r>
            <a:r>
              <a:rPr lang="ko-KR" altLang="en-US" baseline="0" dirty="0" err="1" smtClean="0"/>
              <a:t>코틀린과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스위프트</a:t>
            </a:r>
            <a:r>
              <a:rPr lang="ko-KR" altLang="en-US" baseline="0" dirty="0" smtClean="0"/>
              <a:t> 역시 비교하지 않을 수 없다</a:t>
            </a:r>
            <a:r>
              <a:rPr lang="en-US" altLang="ko-KR" baseline="0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baseline="0" dirty="0" err="1" smtClean="0"/>
              <a:t>코틀린과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스위프트</a:t>
            </a:r>
            <a:r>
              <a:rPr lang="ko-KR" altLang="en-US" baseline="0" dirty="0" smtClean="0"/>
              <a:t> 문법이 </a:t>
            </a:r>
            <a:r>
              <a:rPr lang="en-US" altLang="ko-KR" baseline="0" dirty="0" smtClean="0"/>
              <a:t>90%</a:t>
            </a:r>
            <a:r>
              <a:rPr lang="ko-KR" altLang="en-US" baseline="0" dirty="0" smtClean="0"/>
              <a:t>이상 비슷한데 </a:t>
            </a:r>
            <a:r>
              <a:rPr lang="en-US" altLang="ko-KR" baseline="0" dirty="0" smtClean="0"/>
              <a:t>2014</a:t>
            </a:r>
            <a:r>
              <a:rPr lang="ko-KR" altLang="en-US" baseline="0" dirty="0" smtClean="0"/>
              <a:t>년 개발 된 </a:t>
            </a:r>
            <a:r>
              <a:rPr lang="ko-KR" altLang="en-US" baseline="0" dirty="0" err="1" smtClean="0"/>
              <a:t>스위프트가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코틀린을</a:t>
            </a:r>
            <a:r>
              <a:rPr lang="ko-KR" altLang="en-US" baseline="0" dirty="0" smtClean="0"/>
              <a:t> 많이 참고하면서 개발</a:t>
            </a:r>
            <a:endParaRPr lang="en-US" altLang="ko-KR" baseline="0" dirty="0" smtClean="0"/>
          </a:p>
          <a:p>
            <a:pPr marL="285750" indent="-285750">
              <a:buFontTx/>
              <a:buChar char="-"/>
            </a:pPr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001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baseline="0" dirty="0" smtClean="0"/>
              <a:t>Null</a:t>
            </a:r>
            <a:r>
              <a:rPr lang="ko-KR" altLang="en-US" baseline="0" dirty="0" smtClean="0"/>
              <a:t>을 만든 사람이 하는 얘기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본인의 가장 큰 실수가 </a:t>
            </a:r>
            <a:r>
              <a:rPr lang="en-US" altLang="ko-KR" baseline="0" dirty="0" smtClean="0"/>
              <a:t>null</a:t>
            </a:r>
            <a:r>
              <a:rPr lang="ko-KR" altLang="en-US" baseline="0" dirty="0" smtClean="0"/>
              <a:t>을 만든 것이다</a:t>
            </a:r>
            <a:r>
              <a:rPr lang="en-US" altLang="ko-KR" baseline="0" dirty="0" smtClean="0"/>
              <a:t>. </a:t>
            </a:r>
          </a:p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425" y="3947938"/>
            <a:ext cx="9144001" cy="470102"/>
          </a:xfrm>
          <a:prstGeom prst="rect">
            <a:avLst/>
          </a:prstGeom>
        </p:spPr>
        <p:txBody>
          <a:bodyPr lIns="91423" tIns="91423" rIns="91423" bIns="91423" anchor="ctr">
            <a:normAutofit/>
          </a:bodyPr>
          <a:lstStyle>
            <a:lvl1pPr algn="r">
              <a:defRPr sz="1600" b="1">
                <a:solidFill>
                  <a:srgbClr val="3F3F3F"/>
                </a:solidFill>
              </a:defRPr>
            </a:lvl1pPr>
            <a:lvl2pPr algn="r">
              <a:defRPr sz="1600" b="1">
                <a:solidFill>
                  <a:srgbClr val="3F3F3F"/>
                </a:solidFill>
              </a:defRPr>
            </a:lvl2pPr>
            <a:lvl3pPr algn="r">
              <a:defRPr sz="1600" b="1">
                <a:solidFill>
                  <a:srgbClr val="3F3F3F"/>
                </a:solidFill>
              </a:defRPr>
            </a:lvl3pPr>
            <a:lvl4pPr algn="r">
              <a:defRPr sz="1600" b="1">
                <a:solidFill>
                  <a:srgbClr val="3F3F3F"/>
                </a:solidFill>
              </a:defRPr>
            </a:lvl4pPr>
            <a:lvl5pPr algn="r">
              <a:defRPr sz="1600" b="1">
                <a:solidFill>
                  <a:srgbClr val="3F3F3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5" name="제목 텍스트"/>
          <p:cNvSpPr txBox="1">
            <a:spLocks noGrp="1"/>
          </p:cNvSpPr>
          <p:nvPr>
            <p:ph type="title"/>
          </p:nvPr>
        </p:nvSpPr>
        <p:spPr>
          <a:xfrm>
            <a:off x="0" y="3419492"/>
            <a:ext cx="9144000" cy="533309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제목 텍스트</a:t>
            </a:r>
          </a:p>
        </p:txBody>
      </p:sp>
      <p:pic>
        <p:nvPicPr>
          <p:cNvPr id="16" name="Shape 9" descr="Shap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27980" y="543612"/>
            <a:ext cx="1740111" cy="2592287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6"/>
          <p:cNvSpPr/>
          <p:nvPr/>
        </p:nvSpPr>
        <p:spPr>
          <a:xfrm>
            <a:off x="2699789" y="1851667"/>
            <a:ext cx="6444212" cy="1440163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3" name="Shape 17"/>
          <p:cNvSpPr/>
          <p:nvPr/>
        </p:nvSpPr>
        <p:spPr>
          <a:xfrm>
            <a:off x="-2" y="0"/>
            <a:ext cx="1619675" cy="5143499"/>
          </a:xfrm>
          <a:prstGeom prst="rect">
            <a:avLst/>
          </a:prstGeom>
          <a:gradFill>
            <a:gsLst>
              <a:gs pos="0">
                <a:srgbClr val="EAEAEA"/>
              </a:gs>
              <a:gs pos="42000">
                <a:srgbClr val="EEEEEE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4" name="Shape 18"/>
          <p:cNvSpPr/>
          <p:nvPr/>
        </p:nvSpPr>
        <p:spPr>
          <a:xfrm>
            <a:off x="711744" y="4952172"/>
            <a:ext cx="8432257" cy="2"/>
          </a:xfrm>
          <a:prstGeom prst="line">
            <a:avLst/>
          </a:prstGeom>
          <a:ln w="12700">
            <a:solidFill>
              <a:srgbClr val="0DD2D9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5" name="Shape 19" descr="Shap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8018" y="3332172"/>
            <a:ext cx="1087453" cy="1620002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Shape 20"/>
          <p:cNvSpPr/>
          <p:nvPr/>
        </p:nvSpPr>
        <p:spPr>
          <a:xfrm>
            <a:off x="0" y="195485"/>
            <a:ext cx="9143998" cy="2"/>
          </a:xfrm>
          <a:prstGeom prst="line">
            <a:avLst/>
          </a:prstGeom>
          <a:ln w="12700">
            <a:solidFill>
              <a:srgbClr val="0DD2D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22"/>
          <p:cNvSpPr/>
          <p:nvPr/>
        </p:nvSpPr>
        <p:spPr>
          <a:xfrm>
            <a:off x="0" y="3003550"/>
            <a:ext cx="9144001" cy="2139950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5" name="Shape 23"/>
          <p:cNvSpPr>
            <a:spLocks noGrp="1"/>
          </p:cNvSpPr>
          <p:nvPr>
            <p:ph type="pic" sz="quarter" idx="13"/>
          </p:nvPr>
        </p:nvSpPr>
        <p:spPr>
          <a:xfrm>
            <a:off x="755575" y="2157550"/>
            <a:ext cx="1692001" cy="1692002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6" name="제목 텍스트"/>
          <p:cNvSpPr txBox="1">
            <a:spLocks noGrp="1"/>
          </p:cNvSpPr>
          <p:nvPr>
            <p:ph type="title"/>
          </p:nvPr>
        </p:nvSpPr>
        <p:spPr>
          <a:xfrm>
            <a:off x="0" y="254335"/>
            <a:ext cx="9144000" cy="776401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4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26"/>
          <p:cNvSpPr/>
          <p:nvPr/>
        </p:nvSpPr>
        <p:spPr>
          <a:xfrm>
            <a:off x="-2" y="-2"/>
            <a:ext cx="9108508" cy="864003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5" name="제목 텍스트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pic>
        <p:nvPicPr>
          <p:cNvPr id="56" name="Shape 28" descr="Shape 2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22681" y="105780"/>
            <a:ext cx="477241" cy="710959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30"/>
          <p:cNvSpPr>
            <a:spLocks noGrp="1"/>
          </p:cNvSpPr>
          <p:nvPr>
            <p:ph type="pic" sz="quarter" idx="13"/>
          </p:nvPr>
        </p:nvSpPr>
        <p:spPr>
          <a:xfrm>
            <a:off x="3776326" y="1262115"/>
            <a:ext cx="1584177" cy="1980003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5" name="Shape 31"/>
          <p:cNvSpPr/>
          <p:nvPr/>
        </p:nvSpPr>
        <p:spPr>
          <a:xfrm>
            <a:off x="-2" y="0"/>
            <a:ext cx="9108508" cy="827999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6" name="제목 텍스트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67" name="Shape 33"/>
          <p:cNvSpPr>
            <a:spLocks noGrp="1"/>
          </p:cNvSpPr>
          <p:nvPr>
            <p:ph type="pic" sz="quarter" idx="14"/>
          </p:nvPr>
        </p:nvSpPr>
        <p:spPr>
          <a:xfrm>
            <a:off x="2179883" y="1352116"/>
            <a:ext cx="1440160" cy="1800001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8" name="Shape 34"/>
          <p:cNvSpPr>
            <a:spLocks noGrp="1"/>
          </p:cNvSpPr>
          <p:nvPr>
            <p:ph type="pic" sz="quarter" idx="15"/>
          </p:nvPr>
        </p:nvSpPr>
        <p:spPr>
          <a:xfrm>
            <a:off x="723433" y="1437713"/>
            <a:ext cx="1296145" cy="1620000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9" name="Shape 35"/>
          <p:cNvSpPr>
            <a:spLocks noGrp="1"/>
          </p:cNvSpPr>
          <p:nvPr>
            <p:ph type="pic" sz="quarter" idx="16"/>
          </p:nvPr>
        </p:nvSpPr>
        <p:spPr>
          <a:xfrm>
            <a:off x="5516783" y="1352116"/>
            <a:ext cx="1440160" cy="1800001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0" name="Shape 36"/>
          <p:cNvSpPr>
            <a:spLocks noGrp="1"/>
          </p:cNvSpPr>
          <p:nvPr>
            <p:ph type="pic" sz="quarter" idx="17"/>
          </p:nvPr>
        </p:nvSpPr>
        <p:spPr>
          <a:xfrm>
            <a:off x="7113223" y="1442119"/>
            <a:ext cx="1296146" cy="1620000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pic>
        <p:nvPicPr>
          <p:cNvPr id="71" name="Shape 37" descr="Shape 3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22681" y="105780"/>
            <a:ext cx="477241" cy="710959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01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4" name="Shape 102"/>
          <p:cNvSpPr/>
          <p:nvPr/>
        </p:nvSpPr>
        <p:spPr>
          <a:xfrm>
            <a:off x="1046841" y="807552"/>
            <a:ext cx="7050318" cy="3528393"/>
          </a:xfrm>
          <a:prstGeom prst="rect">
            <a:avLst/>
          </a:prstGeom>
          <a:ln w="3175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5" name="Shape 103"/>
          <p:cNvSpPr/>
          <p:nvPr/>
        </p:nvSpPr>
        <p:spPr>
          <a:xfrm>
            <a:off x="1403646" y="1131588"/>
            <a:ext cx="6336707" cy="2880323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6" name="제목 텍스트"/>
          <p:cNvSpPr txBox="1">
            <a:spLocks noGrp="1"/>
          </p:cNvSpPr>
          <p:nvPr>
            <p:ph type="title"/>
          </p:nvPr>
        </p:nvSpPr>
        <p:spPr>
          <a:xfrm>
            <a:off x="1043608" y="2924942"/>
            <a:ext cx="7056784" cy="533309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제목 텍스트</a:t>
            </a:r>
          </a:p>
        </p:txBody>
      </p:sp>
      <p:pic>
        <p:nvPicPr>
          <p:cNvPr id="187" name="Shape 105" descr="Shape 10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56912" y="1318423"/>
            <a:ext cx="985236" cy="1467730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제목 텍스트"/>
          <p:cNvSpPr txBox="1">
            <a:spLocks noGrp="1"/>
          </p:cNvSpPr>
          <p:nvPr>
            <p:ph type="title"/>
          </p:nvPr>
        </p:nvSpPr>
        <p:spPr>
          <a:xfrm>
            <a:off x="9252" y="-1316682"/>
            <a:ext cx="9144000" cy="776400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2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"/>
          <p:cNvSpPr/>
          <p:nvPr/>
        </p:nvSpPr>
        <p:spPr>
          <a:xfrm>
            <a:off x="-2" y="0"/>
            <a:ext cx="1619675" cy="5143499"/>
          </a:xfrm>
          <a:prstGeom prst="rect">
            <a:avLst/>
          </a:prstGeom>
          <a:gradFill>
            <a:gsLst>
              <a:gs pos="0">
                <a:srgbClr val="EAEAEA"/>
              </a:gs>
              <a:gs pos="42000">
                <a:srgbClr val="EEEEEE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3" name="Shape 13" descr="Shape 13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68018" y="3332172"/>
            <a:ext cx="1087453" cy="162000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4"/>
          <p:cNvSpPr/>
          <p:nvPr/>
        </p:nvSpPr>
        <p:spPr>
          <a:xfrm>
            <a:off x="711744" y="4952172"/>
            <a:ext cx="8432257" cy="2"/>
          </a:xfrm>
          <a:prstGeom prst="line">
            <a:avLst/>
          </a:prstGeom>
          <a:ln w="12700">
            <a:solidFill>
              <a:srgbClr val="0DD2D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" name="제목 텍스트"/>
          <p:cNvSpPr txBox="1">
            <a:spLocks noGrp="1"/>
          </p:cNvSpPr>
          <p:nvPr>
            <p:ph type="title"/>
          </p:nvPr>
        </p:nvSpPr>
        <p:spPr>
          <a:xfrm>
            <a:off x="1584000" y="25734"/>
            <a:ext cx="7560000" cy="77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3" tIns="91423" rIns="91423" bIns="91423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6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279546" y="4635136"/>
            <a:ext cx="273654" cy="26425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lnSpc>
                <a:spcPct val="100000"/>
              </a:lnSpc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64" r:id="rId8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122"/>
          <p:cNvSpPr txBox="1">
            <a:spLocks noGrp="1"/>
          </p:cNvSpPr>
          <p:nvPr>
            <p:ph type="ctrTitle"/>
          </p:nvPr>
        </p:nvSpPr>
        <p:spPr>
          <a:xfrm>
            <a:off x="7919865" y="4620731"/>
            <a:ext cx="1224135" cy="522769"/>
          </a:xfrm>
          <a:prstGeom prst="rect">
            <a:avLst/>
          </a:prstGeom>
        </p:spPr>
        <p:txBody>
          <a:bodyPr lIns="45699" tIns="45699" rIns="45699" bIns="45699">
            <a:noAutofit/>
          </a:bodyPr>
          <a:lstStyle/>
          <a:p>
            <a:pPr>
              <a:defRPr sz="5700">
                <a:latin typeface="Ubuntu"/>
                <a:ea typeface="Ubuntu"/>
                <a:cs typeface="Ubuntu"/>
                <a:sym typeface="Ubuntu"/>
              </a:defRPr>
            </a:pPr>
            <a:r>
              <a:rPr lang="en-US" sz="2000" dirty="0" err="1" smtClean="0">
                <a:solidFill>
                  <a:schemeClr val="tx1"/>
                </a:solidFill>
                <a:latin typeface="Ubuntu"/>
                <a:ea typeface="나눔바른고딕" pitchFamily="50" charset="-127"/>
              </a:rPr>
              <a:t>Kotlin</a:t>
            </a:r>
            <a:endParaRPr sz="2000" dirty="0">
              <a:solidFill>
                <a:schemeClr val="tx1"/>
              </a:solidFill>
              <a:latin typeface="Ubuntu"/>
              <a:ea typeface="나눔바른고딕" pitchFamily="50" charset="-127"/>
            </a:endParaRPr>
          </a:p>
        </p:txBody>
      </p:sp>
      <p:sp>
        <p:nvSpPr>
          <p:cNvPr id="4" name="Shape 122"/>
          <p:cNvSpPr txBox="1">
            <a:spLocks/>
          </p:cNvSpPr>
          <p:nvPr/>
        </p:nvSpPr>
        <p:spPr>
          <a:xfrm>
            <a:off x="2051720" y="3075806"/>
            <a:ext cx="5112568" cy="864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699" tIns="45699" rIns="45699" bIns="4569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u="none" strike="noStrike" cap="none" spc="0" baseline="0">
                <a:ln>
                  <a:noFill/>
                </a:ln>
                <a:solidFill>
                  <a:srgbClr val="3F3F3F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 u="none" strike="noStrike" cap="none" spc="0" baseline="0">
                <a:ln>
                  <a:noFill/>
                </a:ln>
                <a:solidFill>
                  <a:srgbClr val="535353"/>
                </a:solidFill>
                <a:uFillTx/>
                <a:latin typeface="나눔바른고딕"/>
                <a:ea typeface="나눔바른고딕"/>
                <a:cs typeface="나눔바른고딕"/>
                <a:sym typeface="나눔바른고딕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 u="none" strike="noStrike" cap="none" spc="0" baseline="0">
                <a:ln>
                  <a:noFill/>
                </a:ln>
                <a:solidFill>
                  <a:srgbClr val="535353"/>
                </a:solidFill>
                <a:uFillTx/>
                <a:latin typeface="나눔바른고딕"/>
                <a:ea typeface="나눔바른고딕"/>
                <a:cs typeface="나눔바른고딕"/>
                <a:sym typeface="나눔바른고딕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 u="none" strike="noStrike" cap="none" spc="0" baseline="0">
                <a:ln>
                  <a:noFill/>
                </a:ln>
                <a:solidFill>
                  <a:srgbClr val="535353"/>
                </a:solidFill>
                <a:uFillTx/>
                <a:latin typeface="나눔바른고딕"/>
                <a:ea typeface="나눔바른고딕"/>
                <a:cs typeface="나눔바른고딕"/>
                <a:sym typeface="나눔바른고딕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 u="none" strike="noStrike" cap="none" spc="0" baseline="0">
                <a:ln>
                  <a:noFill/>
                </a:ln>
                <a:solidFill>
                  <a:srgbClr val="535353"/>
                </a:solidFill>
                <a:uFillTx/>
                <a:latin typeface="나눔바른고딕"/>
                <a:ea typeface="나눔바른고딕"/>
                <a:cs typeface="나눔바른고딕"/>
                <a:sym typeface="나눔바른고딕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 u="none" strike="noStrike" cap="none" spc="0" baseline="0">
                <a:ln>
                  <a:noFill/>
                </a:ln>
                <a:solidFill>
                  <a:srgbClr val="535353"/>
                </a:solidFill>
                <a:uFillTx/>
                <a:latin typeface="나눔바른고딕"/>
                <a:ea typeface="나눔바른고딕"/>
                <a:cs typeface="나눔바른고딕"/>
                <a:sym typeface="나눔바른고딕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 u="none" strike="noStrike" cap="none" spc="0" baseline="0">
                <a:ln>
                  <a:noFill/>
                </a:ln>
                <a:solidFill>
                  <a:srgbClr val="535353"/>
                </a:solidFill>
                <a:uFillTx/>
                <a:latin typeface="나눔바른고딕"/>
                <a:ea typeface="나눔바른고딕"/>
                <a:cs typeface="나눔바른고딕"/>
                <a:sym typeface="나눔바른고딕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 u="none" strike="noStrike" cap="none" spc="0" baseline="0">
                <a:ln>
                  <a:noFill/>
                </a:ln>
                <a:solidFill>
                  <a:srgbClr val="535353"/>
                </a:solidFill>
                <a:uFillTx/>
                <a:latin typeface="나눔바른고딕"/>
                <a:ea typeface="나눔바른고딕"/>
                <a:cs typeface="나눔바른고딕"/>
                <a:sym typeface="나눔바른고딕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 u="none" strike="noStrike" cap="none" spc="0" baseline="0">
                <a:ln>
                  <a:noFill/>
                </a:ln>
                <a:solidFill>
                  <a:srgbClr val="535353"/>
                </a:solidFill>
                <a:uFillTx/>
                <a:latin typeface="나눔바른고딕"/>
                <a:ea typeface="나눔바른고딕"/>
                <a:cs typeface="나눔바른고딕"/>
                <a:sym typeface="나눔바른고딕"/>
              </a:defRPr>
            </a:lvl9pPr>
          </a:lstStyle>
          <a:p>
            <a:pPr>
              <a:defRPr sz="5700">
                <a:latin typeface="Ubuntu"/>
                <a:ea typeface="Ubuntu"/>
                <a:cs typeface="Ubuntu"/>
                <a:sym typeface="Ubuntu"/>
              </a:defRPr>
            </a:pPr>
            <a:r>
              <a:rPr lang="en-US" altLang="ko-KR" sz="6000" dirty="0" smtClean="0">
                <a:latin typeface="Ubuntu"/>
                <a:ea typeface="나눔바른고딕" pitchFamily="50" charset="-127"/>
              </a:rPr>
              <a:t>The </a:t>
            </a:r>
            <a:r>
              <a:rPr lang="en-US" altLang="ko-KR" sz="6000" dirty="0" smtClean="0">
                <a:solidFill>
                  <a:srgbClr val="0DD2D9"/>
                </a:solidFill>
                <a:latin typeface="Ubuntu"/>
                <a:ea typeface="나눔바른고딕" pitchFamily="50" charset="-127"/>
              </a:rPr>
              <a:t>Reason</a:t>
            </a:r>
            <a:endParaRPr lang="en-US" sz="500" dirty="0">
              <a:solidFill>
                <a:srgbClr val="0DD2D9"/>
              </a:solidFill>
              <a:latin typeface="Ubuntu"/>
              <a:ea typeface="나눔바른고딕" pitchFamily="50" charset="-127"/>
              <a:cs typeface="Ubuntu"/>
              <a:sym typeface="Ubuntu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Shape 195"/>
          <p:cNvGrpSpPr/>
          <p:nvPr/>
        </p:nvGrpSpPr>
        <p:grpSpPr>
          <a:xfrm>
            <a:off x="827584" y="2288071"/>
            <a:ext cx="1692001" cy="1692002"/>
            <a:chOff x="0" y="0"/>
            <a:chExt cx="1692000" cy="1692000"/>
          </a:xfrm>
        </p:grpSpPr>
        <p:sp>
          <p:nvSpPr>
            <p:cNvPr id="247" name="도형"/>
            <p:cNvSpPr/>
            <p:nvPr/>
          </p:nvSpPr>
          <p:spPr>
            <a:xfrm>
              <a:off x="0" y="0"/>
              <a:ext cx="1692002" cy="1692002"/>
            </a:xfrm>
            <a:prstGeom prst="ellipse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248" name="image6.jpeg" descr="image6.jpeg"/>
            <p:cNvPicPr>
              <a:picLocks noChangeAspect="1"/>
            </p:cNvPicPr>
            <p:nvPr/>
          </p:nvPicPr>
          <p:blipFill>
            <a:blip r:embed="rId3">
              <a:extLst/>
            </a:blip>
            <a:srcRect/>
            <a:stretch>
              <a:fillRect/>
            </a:stretch>
          </p:blipFill>
          <p:spPr>
            <a:xfrm>
              <a:off x="1" y="1"/>
              <a:ext cx="1691878" cy="1691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cubicBezTo>
                    <a:pt x="4837" y="0"/>
                    <a:pt x="0" y="4837"/>
                    <a:pt x="0" y="10803"/>
                  </a:cubicBezTo>
                  <a:cubicBezTo>
                    <a:pt x="0" y="16768"/>
                    <a:pt x="4837" y="21600"/>
                    <a:pt x="10803" y="21600"/>
                  </a:cubicBezTo>
                  <a:cubicBezTo>
                    <a:pt x="16768" y="21600"/>
                    <a:pt x="21600" y="16768"/>
                    <a:pt x="21600" y="10803"/>
                  </a:cubicBezTo>
                  <a:cubicBezTo>
                    <a:pt x="21600" y="4837"/>
                    <a:pt x="16768" y="0"/>
                    <a:pt x="10803" y="0"/>
                  </a:cubicBezTo>
                  <a:close/>
                </a:path>
              </a:pathLst>
            </a:custGeom>
            <a:ln w="50800" cap="flat">
              <a:solidFill>
                <a:srgbClr val="0DD2D9"/>
              </a:solidFill>
              <a:prstDash val="solid"/>
              <a:round/>
            </a:ln>
            <a:effectLst/>
          </p:spPr>
        </p:pic>
      </p:grpSp>
      <p:sp>
        <p:nvSpPr>
          <p:cNvPr id="250" name="Shape 173"/>
          <p:cNvSpPr/>
          <p:nvPr/>
        </p:nvSpPr>
        <p:spPr>
          <a:xfrm>
            <a:off x="7645762" y="2607535"/>
            <a:ext cx="792029" cy="792029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1" name="Shape 174"/>
          <p:cNvSpPr/>
          <p:nvPr/>
        </p:nvSpPr>
        <p:spPr>
          <a:xfrm>
            <a:off x="3483500" y="2607535"/>
            <a:ext cx="792029" cy="792029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2" name="Shape 175"/>
          <p:cNvSpPr/>
          <p:nvPr/>
        </p:nvSpPr>
        <p:spPr>
          <a:xfrm>
            <a:off x="4860699" y="2607535"/>
            <a:ext cx="792029" cy="792029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3" name="Shape 176"/>
          <p:cNvSpPr/>
          <p:nvPr/>
        </p:nvSpPr>
        <p:spPr>
          <a:xfrm>
            <a:off x="6237899" y="2607535"/>
            <a:ext cx="792029" cy="792029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4" name="Shape 177"/>
          <p:cNvSpPr/>
          <p:nvPr/>
        </p:nvSpPr>
        <p:spPr>
          <a:xfrm>
            <a:off x="7830332" y="2790338"/>
            <a:ext cx="422888" cy="426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9" y="7105"/>
                </a:moveTo>
                <a:cubicBezTo>
                  <a:pt x="9648" y="6547"/>
                  <a:pt x="7488" y="7784"/>
                  <a:pt x="6925" y="9868"/>
                </a:cubicBezTo>
                <a:cubicBezTo>
                  <a:pt x="6362" y="11952"/>
                  <a:pt x="7609" y="14094"/>
                  <a:pt x="9710" y="14652"/>
                </a:cubicBezTo>
                <a:cubicBezTo>
                  <a:pt x="11812" y="15211"/>
                  <a:pt x="13972" y="13974"/>
                  <a:pt x="14535" y="11890"/>
                </a:cubicBezTo>
                <a:cubicBezTo>
                  <a:pt x="15098" y="9806"/>
                  <a:pt x="13851" y="7664"/>
                  <a:pt x="11749" y="7105"/>
                </a:cubicBezTo>
                <a:close/>
                <a:moveTo>
                  <a:pt x="12450" y="4511"/>
                </a:moveTo>
                <a:cubicBezTo>
                  <a:pt x="15997" y="5453"/>
                  <a:pt x="18101" y="9068"/>
                  <a:pt x="17151" y="12585"/>
                </a:cubicBezTo>
                <a:cubicBezTo>
                  <a:pt x="16201" y="16102"/>
                  <a:pt x="12556" y="18189"/>
                  <a:pt x="9009" y="17247"/>
                </a:cubicBezTo>
                <a:cubicBezTo>
                  <a:pt x="5463" y="16304"/>
                  <a:pt x="3358" y="12689"/>
                  <a:pt x="4309" y="9173"/>
                </a:cubicBezTo>
                <a:cubicBezTo>
                  <a:pt x="5259" y="5656"/>
                  <a:pt x="8904" y="3569"/>
                  <a:pt x="12450" y="4511"/>
                </a:cubicBezTo>
                <a:close/>
                <a:moveTo>
                  <a:pt x="12705" y="3567"/>
                </a:moveTo>
                <a:cubicBezTo>
                  <a:pt x="8634" y="2485"/>
                  <a:pt x="4448" y="4882"/>
                  <a:pt x="3357" y="8920"/>
                </a:cubicBezTo>
                <a:cubicBezTo>
                  <a:pt x="2266" y="12958"/>
                  <a:pt x="4683" y="17108"/>
                  <a:pt x="8754" y="18190"/>
                </a:cubicBezTo>
                <a:cubicBezTo>
                  <a:pt x="12826" y="19272"/>
                  <a:pt x="17011" y="16876"/>
                  <a:pt x="18102" y="12838"/>
                </a:cubicBezTo>
                <a:cubicBezTo>
                  <a:pt x="19193" y="8800"/>
                  <a:pt x="16777" y="4649"/>
                  <a:pt x="12705" y="3567"/>
                </a:cubicBezTo>
                <a:close/>
                <a:moveTo>
                  <a:pt x="21600" y="5115"/>
                </a:moveTo>
                <a:lnTo>
                  <a:pt x="21567" y="5235"/>
                </a:lnTo>
                <a:lnTo>
                  <a:pt x="21534" y="5185"/>
                </a:lnTo>
                <a:close/>
                <a:moveTo>
                  <a:pt x="15142" y="843"/>
                </a:moveTo>
                <a:lnTo>
                  <a:pt x="15096" y="3523"/>
                </a:lnTo>
                <a:lnTo>
                  <a:pt x="15013" y="3501"/>
                </a:lnTo>
                <a:cubicBezTo>
                  <a:pt x="15689" y="3878"/>
                  <a:pt x="16301" y="4341"/>
                  <a:pt x="16818" y="4890"/>
                </a:cubicBezTo>
                <a:lnTo>
                  <a:pt x="19223" y="4297"/>
                </a:lnTo>
                <a:lnTo>
                  <a:pt x="20765" y="7173"/>
                </a:lnTo>
                <a:lnTo>
                  <a:pt x="19051" y="8706"/>
                </a:lnTo>
                <a:cubicBezTo>
                  <a:pt x="19266" y="9482"/>
                  <a:pt x="19367" y="10294"/>
                  <a:pt x="19331" y="11121"/>
                </a:cubicBezTo>
                <a:lnTo>
                  <a:pt x="21472" y="12300"/>
                </a:lnTo>
                <a:lnTo>
                  <a:pt x="20622" y="15446"/>
                </a:lnTo>
                <a:lnTo>
                  <a:pt x="18024" y="15403"/>
                </a:lnTo>
                <a:cubicBezTo>
                  <a:pt x="17695" y="15947"/>
                  <a:pt x="17297" y="16438"/>
                  <a:pt x="16851" y="16876"/>
                </a:cubicBezTo>
                <a:lnTo>
                  <a:pt x="17705" y="19085"/>
                </a:lnTo>
                <a:lnTo>
                  <a:pt x="15014" y="20953"/>
                </a:lnTo>
                <a:lnTo>
                  <a:pt x="12973" y="19196"/>
                </a:lnTo>
                <a:lnTo>
                  <a:pt x="13222" y="19023"/>
                </a:lnTo>
                <a:cubicBezTo>
                  <a:pt x="12440" y="19274"/>
                  <a:pt x="11613" y="19395"/>
                  <a:pt x="10770" y="19390"/>
                </a:cubicBezTo>
                <a:lnTo>
                  <a:pt x="9533" y="21600"/>
                </a:lnTo>
                <a:lnTo>
                  <a:pt x="6360" y="20757"/>
                </a:lnTo>
                <a:lnTo>
                  <a:pt x="6403" y="18230"/>
                </a:lnTo>
                <a:cubicBezTo>
                  <a:pt x="5731" y="17850"/>
                  <a:pt x="5124" y="17385"/>
                  <a:pt x="4611" y="16835"/>
                </a:cubicBezTo>
                <a:lnTo>
                  <a:pt x="4652" y="16923"/>
                </a:lnTo>
                <a:lnTo>
                  <a:pt x="1998" y="17433"/>
                </a:lnTo>
                <a:lnTo>
                  <a:pt x="610" y="14480"/>
                </a:lnTo>
                <a:lnTo>
                  <a:pt x="2405" y="13037"/>
                </a:lnTo>
                <a:cubicBezTo>
                  <a:pt x="2213" y="12341"/>
                  <a:pt x="2113" y="11615"/>
                  <a:pt x="2113" y="10877"/>
                </a:cubicBezTo>
                <a:lnTo>
                  <a:pt x="0" y="9714"/>
                </a:lnTo>
                <a:lnTo>
                  <a:pt x="850" y="6567"/>
                </a:lnTo>
                <a:lnTo>
                  <a:pt x="3271" y="6608"/>
                </a:lnTo>
                <a:cubicBezTo>
                  <a:pt x="3600" y="6033"/>
                  <a:pt x="3997" y="5509"/>
                  <a:pt x="4445" y="5040"/>
                </a:cubicBezTo>
                <a:lnTo>
                  <a:pt x="3634" y="2559"/>
                </a:lnTo>
                <a:lnTo>
                  <a:pt x="6420" y="833"/>
                </a:lnTo>
                <a:lnTo>
                  <a:pt x="8365" y="2693"/>
                </a:lnTo>
                <a:lnTo>
                  <a:pt x="8346" y="2705"/>
                </a:lnTo>
                <a:cubicBezTo>
                  <a:pt x="9110" y="2467"/>
                  <a:pt x="9918" y="2356"/>
                  <a:pt x="10740" y="2365"/>
                </a:cubicBezTo>
                <a:lnTo>
                  <a:pt x="10657" y="2343"/>
                </a:lnTo>
                <a:lnTo>
                  <a:pt x="11969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5" name="Shape 178"/>
          <p:cNvSpPr/>
          <p:nvPr/>
        </p:nvSpPr>
        <p:spPr>
          <a:xfrm>
            <a:off x="6412019" y="2873025"/>
            <a:ext cx="443788" cy="261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79" y="0"/>
                </a:moveTo>
                <a:cubicBezTo>
                  <a:pt x="10381" y="0"/>
                  <a:pt x="11710" y="1263"/>
                  <a:pt x="12452" y="3279"/>
                </a:cubicBezTo>
                <a:cubicBezTo>
                  <a:pt x="12920" y="2554"/>
                  <a:pt x="13545" y="2158"/>
                  <a:pt x="14226" y="2158"/>
                </a:cubicBezTo>
                <a:cubicBezTo>
                  <a:pt x="15703" y="2158"/>
                  <a:pt x="16923" y="4026"/>
                  <a:pt x="17062" y="6461"/>
                </a:cubicBezTo>
                <a:cubicBezTo>
                  <a:pt x="17088" y="6435"/>
                  <a:pt x="17114" y="6434"/>
                  <a:pt x="17140" y="6434"/>
                </a:cubicBezTo>
                <a:cubicBezTo>
                  <a:pt x="19603" y="6434"/>
                  <a:pt x="21600" y="9829"/>
                  <a:pt x="21600" y="14017"/>
                </a:cubicBezTo>
                <a:cubicBezTo>
                  <a:pt x="21600" y="17971"/>
                  <a:pt x="19820" y="21218"/>
                  <a:pt x="17547" y="21565"/>
                </a:cubicBezTo>
                <a:lnTo>
                  <a:pt x="17547" y="21600"/>
                </a:lnTo>
                <a:lnTo>
                  <a:pt x="4978" y="21600"/>
                </a:lnTo>
                <a:lnTo>
                  <a:pt x="4978" y="21543"/>
                </a:lnTo>
                <a:cubicBezTo>
                  <a:pt x="4808" y="21583"/>
                  <a:pt x="4635" y="21600"/>
                  <a:pt x="4460" y="21600"/>
                </a:cubicBezTo>
                <a:cubicBezTo>
                  <a:pt x="1997" y="21600"/>
                  <a:pt x="0" y="18205"/>
                  <a:pt x="0" y="14017"/>
                </a:cubicBezTo>
                <a:cubicBezTo>
                  <a:pt x="0" y="9829"/>
                  <a:pt x="1997" y="6434"/>
                  <a:pt x="4460" y="6434"/>
                </a:cubicBezTo>
                <a:lnTo>
                  <a:pt x="4551" y="6466"/>
                </a:lnTo>
                <a:cubicBezTo>
                  <a:pt x="4791" y="2797"/>
                  <a:pt x="6643" y="0"/>
                  <a:pt x="887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6" name="Shape 179"/>
          <p:cNvSpPr/>
          <p:nvPr/>
        </p:nvSpPr>
        <p:spPr>
          <a:xfrm rot="2700000">
            <a:off x="5105741" y="2732888"/>
            <a:ext cx="301941" cy="5413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12296" y="26"/>
                  <a:pt x="13869" y="651"/>
                  <a:pt x="14004" y="1665"/>
                </a:cubicBezTo>
                <a:cubicBezTo>
                  <a:pt x="14352" y="2941"/>
                  <a:pt x="12417" y="3255"/>
                  <a:pt x="12966" y="4789"/>
                </a:cubicBezTo>
                <a:lnTo>
                  <a:pt x="21600" y="4789"/>
                </a:lnTo>
                <a:lnTo>
                  <a:pt x="21600" y="9598"/>
                </a:lnTo>
                <a:cubicBezTo>
                  <a:pt x="18932" y="9873"/>
                  <a:pt x="18357" y="8821"/>
                  <a:pt x="16095" y="9012"/>
                </a:cubicBezTo>
                <a:cubicBezTo>
                  <a:pt x="14277" y="9088"/>
                  <a:pt x="13156" y="9965"/>
                  <a:pt x="13110" y="10796"/>
                </a:cubicBezTo>
                <a:cubicBezTo>
                  <a:pt x="13141" y="11525"/>
                  <a:pt x="14300" y="12602"/>
                  <a:pt x="16464" y="12611"/>
                </a:cubicBezTo>
                <a:cubicBezTo>
                  <a:pt x="19082" y="12461"/>
                  <a:pt x="18698" y="11744"/>
                  <a:pt x="21600" y="11809"/>
                </a:cubicBezTo>
                <a:lnTo>
                  <a:pt x="21600" y="16837"/>
                </a:lnTo>
                <a:lnTo>
                  <a:pt x="12611" y="16837"/>
                </a:lnTo>
                <a:cubicBezTo>
                  <a:pt x="12479" y="18485"/>
                  <a:pt x="13776" y="18260"/>
                  <a:pt x="14046" y="19729"/>
                </a:cubicBezTo>
                <a:cubicBezTo>
                  <a:pt x="14031" y="20937"/>
                  <a:pt x="12100" y="21583"/>
                  <a:pt x="10793" y="21600"/>
                </a:cubicBezTo>
                <a:cubicBezTo>
                  <a:pt x="9304" y="21574"/>
                  <a:pt x="7731" y="20949"/>
                  <a:pt x="7595" y="19935"/>
                </a:cubicBezTo>
                <a:cubicBezTo>
                  <a:pt x="7250" y="18666"/>
                  <a:pt x="9161" y="18348"/>
                  <a:pt x="8639" y="16837"/>
                </a:cubicBezTo>
                <a:lnTo>
                  <a:pt x="0" y="16837"/>
                </a:lnTo>
                <a:lnTo>
                  <a:pt x="0" y="11894"/>
                </a:lnTo>
                <a:cubicBezTo>
                  <a:pt x="2766" y="11581"/>
                  <a:pt x="3326" y="12666"/>
                  <a:pt x="5619" y="12471"/>
                </a:cubicBezTo>
                <a:cubicBezTo>
                  <a:pt x="7437" y="12396"/>
                  <a:pt x="8558" y="11519"/>
                  <a:pt x="8604" y="10688"/>
                </a:cubicBezTo>
                <a:cubicBezTo>
                  <a:pt x="8574" y="9959"/>
                  <a:pt x="7415" y="8882"/>
                  <a:pt x="5251" y="8873"/>
                </a:cubicBezTo>
                <a:cubicBezTo>
                  <a:pt x="2598" y="9025"/>
                  <a:pt x="3027" y="9758"/>
                  <a:pt x="0" y="9673"/>
                </a:cubicBezTo>
                <a:lnTo>
                  <a:pt x="0" y="4789"/>
                </a:lnTo>
                <a:lnTo>
                  <a:pt x="8988" y="4789"/>
                </a:lnTo>
                <a:cubicBezTo>
                  <a:pt x="9135" y="3112"/>
                  <a:pt x="7825" y="3347"/>
                  <a:pt x="7553" y="1870"/>
                </a:cubicBezTo>
                <a:cubicBezTo>
                  <a:pt x="7569" y="663"/>
                  <a:pt x="9500" y="17"/>
                  <a:pt x="10807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7" name="Shape 180"/>
          <p:cNvSpPr/>
          <p:nvPr/>
        </p:nvSpPr>
        <p:spPr>
          <a:xfrm>
            <a:off x="3689506" y="2825679"/>
            <a:ext cx="380017" cy="355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4" extrusionOk="0">
                <a:moveTo>
                  <a:pt x="10511" y="19780"/>
                </a:moveTo>
                <a:cubicBezTo>
                  <a:pt x="10511" y="19785"/>
                  <a:pt x="11089" y="19883"/>
                  <a:pt x="11089" y="19780"/>
                </a:cubicBezTo>
                <a:lnTo>
                  <a:pt x="11089" y="19768"/>
                </a:lnTo>
                <a:cubicBezTo>
                  <a:pt x="14567" y="18552"/>
                  <a:pt x="16297" y="17804"/>
                  <a:pt x="19942" y="19293"/>
                </a:cubicBezTo>
                <a:lnTo>
                  <a:pt x="20006" y="3752"/>
                </a:lnTo>
                <a:lnTo>
                  <a:pt x="19034" y="3752"/>
                </a:lnTo>
                <a:cubicBezTo>
                  <a:pt x="19048" y="8369"/>
                  <a:pt x="19062" y="12985"/>
                  <a:pt x="19076" y="17601"/>
                </a:cubicBezTo>
                <a:cubicBezTo>
                  <a:pt x="16559" y="16505"/>
                  <a:pt x="13683" y="17369"/>
                  <a:pt x="11089" y="19689"/>
                </a:cubicBezTo>
                <a:lnTo>
                  <a:pt x="11089" y="2863"/>
                </a:lnTo>
                <a:cubicBezTo>
                  <a:pt x="12643" y="1065"/>
                  <a:pt x="14106" y="15"/>
                  <a:pt x="16040" y="0"/>
                </a:cubicBezTo>
                <a:cubicBezTo>
                  <a:pt x="16920" y="-6"/>
                  <a:pt x="17897" y="201"/>
                  <a:pt x="19024" y="649"/>
                </a:cubicBezTo>
                <a:cubicBezTo>
                  <a:pt x="19027" y="1454"/>
                  <a:pt x="19029" y="2260"/>
                  <a:pt x="19032" y="3065"/>
                </a:cubicBezTo>
                <a:lnTo>
                  <a:pt x="20804" y="3051"/>
                </a:lnTo>
                <a:lnTo>
                  <a:pt x="20804" y="5257"/>
                </a:lnTo>
                <a:lnTo>
                  <a:pt x="21600" y="5257"/>
                </a:lnTo>
                <a:lnTo>
                  <a:pt x="21600" y="21594"/>
                </a:lnTo>
                <a:lnTo>
                  <a:pt x="0" y="21594"/>
                </a:lnTo>
                <a:lnTo>
                  <a:pt x="0" y="5257"/>
                </a:lnTo>
                <a:lnTo>
                  <a:pt x="683" y="5257"/>
                </a:lnTo>
                <a:lnTo>
                  <a:pt x="683" y="3051"/>
                </a:lnTo>
                <a:lnTo>
                  <a:pt x="2568" y="3065"/>
                </a:lnTo>
                <a:cubicBezTo>
                  <a:pt x="2571" y="2260"/>
                  <a:pt x="2573" y="1454"/>
                  <a:pt x="2575" y="649"/>
                </a:cubicBezTo>
                <a:cubicBezTo>
                  <a:pt x="3703" y="201"/>
                  <a:pt x="4680" y="-6"/>
                  <a:pt x="5559" y="0"/>
                </a:cubicBezTo>
                <a:cubicBezTo>
                  <a:pt x="7494" y="15"/>
                  <a:pt x="8957" y="1065"/>
                  <a:pt x="10511" y="2863"/>
                </a:cubicBezTo>
                <a:lnTo>
                  <a:pt x="10511" y="19689"/>
                </a:lnTo>
                <a:cubicBezTo>
                  <a:pt x="7917" y="17369"/>
                  <a:pt x="5041" y="16505"/>
                  <a:pt x="2524" y="17601"/>
                </a:cubicBezTo>
                <a:lnTo>
                  <a:pt x="2566" y="3752"/>
                </a:lnTo>
                <a:lnTo>
                  <a:pt x="1594" y="3752"/>
                </a:lnTo>
                <a:lnTo>
                  <a:pt x="1531" y="19157"/>
                </a:lnTo>
                <a:cubicBezTo>
                  <a:pt x="5155" y="17559"/>
                  <a:pt x="7212" y="18697"/>
                  <a:pt x="10511" y="19768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8" name="Shape 181"/>
          <p:cNvSpPr txBox="1"/>
          <p:nvPr/>
        </p:nvSpPr>
        <p:spPr>
          <a:xfrm>
            <a:off x="3186266" y="1532679"/>
            <a:ext cx="5274166" cy="622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핀테크</a:t>
            </a:r>
            <a:r>
              <a:rPr dirty="0"/>
              <a:t>(Fin-Tech)</a:t>
            </a:r>
            <a:r>
              <a:rPr dirty="0" err="1"/>
              <a:t>기업에서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및 </a:t>
            </a:r>
            <a:r>
              <a:rPr dirty="0" err="1"/>
              <a:t>유지보수</a:t>
            </a:r>
            <a:r>
              <a:rPr dirty="0"/>
              <a:t> </a:t>
            </a:r>
            <a:r>
              <a:rPr dirty="0" err="1"/>
              <a:t>업무를</a:t>
            </a:r>
            <a:r>
              <a:rPr dirty="0"/>
              <a:t> </a:t>
            </a:r>
            <a:r>
              <a:rPr dirty="0" err="1"/>
              <a:t>담당하고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개발자</a:t>
            </a:r>
            <a:r>
              <a:rPr dirty="0"/>
              <a:t> </a:t>
            </a:r>
            <a:r>
              <a:rPr dirty="0" err="1"/>
              <a:t>문성현입니다</a:t>
            </a:r>
            <a:r>
              <a:rPr dirty="0"/>
              <a:t>.</a:t>
            </a:r>
          </a:p>
        </p:txBody>
      </p:sp>
      <p:sp>
        <p:nvSpPr>
          <p:cNvPr id="259" name="Shape 182"/>
          <p:cNvSpPr txBox="1"/>
          <p:nvPr/>
        </p:nvSpPr>
        <p:spPr>
          <a:xfrm>
            <a:off x="1116395" y="1733386"/>
            <a:ext cx="970360" cy="39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문성현</a:t>
            </a:r>
          </a:p>
        </p:txBody>
      </p:sp>
      <p:grpSp>
        <p:nvGrpSpPr>
          <p:cNvPr id="262" name="Shape 183"/>
          <p:cNvGrpSpPr/>
          <p:nvPr/>
        </p:nvGrpSpPr>
        <p:grpSpPr>
          <a:xfrm>
            <a:off x="7438121" y="3687136"/>
            <a:ext cx="1207312" cy="1126372"/>
            <a:chOff x="0" y="0"/>
            <a:chExt cx="1207310" cy="1126371"/>
          </a:xfrm>
        </p:grpSpPr>
        <p:sp>
          <p:nvSpPr>
            <p:cNvPr id="260" name="Shape 184"/>
            <p:cNvSpPr txBox="1"/>
            <p:nvPr/>
          </p:nvSpPr>
          <p:spPr>
            <a:xfrm>
              <a:off x="0" y="214553"/>
              <a:ext cx="1207311" cy="9118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t>gathering1143@gmail.com</a:t>
              </a:r>
            </a:p>
          </p:txBody>
        </p:sp>
        <p:sp>
          <p:nvSpPr>
            <p:cNvPr id="261" name="Shape 185"/>
            <p:cNvSpPr txBox="1"/>
            <p:nvPr/>
          </p:nvSpPr>
          <p:spPr>
            <a:xfrm>
              <a:off x="0" y="0"/>
              <a:ext cx="1207311" cy="3133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E-mail</a:t>
              </a:r>
            </a:p>
          </p:txBody>
        </p:sp>
      </p:grpSp>
      <p:grpSp>
        <p:nvGrpSpPr>
          <p:cNvPr id="265" name="Shape 186"/>
          <p:cNvGrpSpPr/>
          <p:nvPr/>
        </p:nvGrpSpPr>
        <p:grpSpPr>
          <a:xfrm>
            <a:off x="3275855" y="3687136"/>
            <a:ext cx="1207312" cy="1415932"/>
            <a:chOff x="0" y="0"/>
            <a:chExt cx="1207310" cy="1415931"/>
          </a:xfrm>
        </p:grpSpPr>
        <p:sp>
          <p:nvSpPr>
            <p:cNvPr id="263" name="Shape 187"/>
            <p:cNvSpPr txBox="1"/>
            <p:nvPr/>
          </p:nvSpPr>
          <p:spPr>
            <a:xfrm>
              <a:off x="0" y="214553"/>
              <a:ext cx="1207311" cy="1201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pPr>
              <a:r>
                <a:rPr dirty="0"/>
                <a:t>Java,</a:t>
              </a:r>
            </a:p>
            <a:p>
              <a: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pPr>
              <a:r>
                <a:rPr dirty="0" err="1"/>
                <a:t>Javascript</a:t>
              </a:r>
              <a:r>
                <a:rPr dirty="0"/>
                <a:t>, Python, C/C++</a:t>
              </a:r>
            </a:p>
          </p:txBody>
        </p:sp>
        <p:sp>
          <p:nvSpPr>
            <p:cNvPr id="264" name="Shape 188"/>
            <p:cNvSpPr txBox="1"/>
            <p:nvPr/>
          </p:nvSpPr>
          <p:spPr>
            <a:xfrm>
              <a:off x="0" y="0"/>
              <a:ext cx="1207311" cy="3133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Language</a:t>
              </a:r>
            </a:p>
          </p:txBody>
        </p:sp>
      </p:grpSp>
      <p:grpSp>
        <p:nvGrpSpPr>
          <p:cNvPr id="268" name="Shape 189"/>
          <p:cNvGrpSpPr/>
          <p:nvPr/>
        </p:nvGrpSpPr>
        <p:grpSpPr>
          <a:xfrm>
            <a:off x="4653055" y="3687136"/>
            <a:ext cx="1207312" cy="1415932"/>
            <a:chOff x="0" y="0"/>
            <a:chExt cx="1207310" cy="1415931"/>
          </a:xfrm>
        </p:grpSpPr>
        <p:sp>
          <p:nvSpPr>
            <p:cNvPr id="266" name="Shape 190"/>
            <p:cNvSpPr txBox="1"/>
            <p:nvPr/>
          </p:nvSpPr>
          <p:spPr>
            <a:xfrm>
              <a:off x="0" y="214553"/>
              <a:ext cx="1207311" cy="1201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pPr>
              <a:r>
                <a:rPr dirty="0"/>
                <a:t>Capacitive Keyboard, </a:t>
              </a:r>
            </a:p>
            <a:p>
              <a: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pPr>
              <a:r>
                <a:rPr dirty="0"/>
                <a:t>Mechanical Keyboard</a:t>
              </a:r>
            </a:p>
          </p:txBody>
        </p:sp>
        <p:sp>
          <p:nvSpPr>
            <p:cNvPr id="267" name="Shape 191"/>
            <p:cNvSpPr txBox="1"/>
            <p:nvPr/>
          </p:nvSpPr>
          <p:spPr>
            <a:xfrm>
              <a:off x="0" y="0"/>
              <a:ext cx="1207311" cy="3133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Interest</a:t>
              </a:r>
            </a:p>
          </p:txBody>
        </p:sp>
      </p:grpSp>
      <p:grpSp>
        <p:nvGrpSpPr>
          <p:cNvPr id="271" name="Shape 192"/>
          <p:cNvGrpSpPr/>
          <p:nvPr/>
        </p:nvGrpSpPr>
        <p:grpSpPr>
          <a:xfrm>
            <a:off x="6030256" y="3687136"/>
            <a:ext cx="1207311" cy="1705492"/>
            <a:chOff x="0" y="0"/>
            <a:chExt cx="1207310" cy="1705491"/>
          </a:xfrm>
        </p:grpSpPr>
        <p:sp>
          <p:nvSpPr>
            <p:cNvPr id="269" name="Shape 193"/>
            <p:cNvSpPr txBox="1"/>
            <p:nvPr/>
          </p:nvSpPr>
          <p:spPr>
            <a:xfrm>
              <a:off x="0" y="214553"/>
              <a:ext cx="1207311" cy="1490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t>https://github.com/gatherKnowledge</a:t>
              </a:r>
            </a:p>
          </p:txBody>
        </p:sp>
        <p:sp>
          <p:nvSpPr>
            <p:cNvPr id="270" name="Shape 194"/>
            <p:cNvSpPr txBox="1"/>
            <p:nvPr/>
          </p:nvSpPr>
          <p:spPr>
            <a:xfrm>
              <a:off x="0" y="0"/>
              <a:ext cx="1207311" cy="3133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github</a:t>
              </a:r>
            </a:p>
          </p:txBody>
        </p:sp>
      </p:grpSp>
      <p:sp>
        <p:nvSpPr>
          <p:cNvPr id="272" name="Shape 196"/>
          <p:cNvSpPr txBox="1">
            <a:spLocks noGrp="1"/>
          </p:cNvSpPr>
          <p:nvPr>
            <p:ph type="title"/>
          </p:nvPr>
        </p:nvSpPr>
        <p:spPr>
          <a:xfrm>
            <a:off x="635302" y="83023"/>
            <a:ext cx="7892706" cy="776400"/>
          </a:xfrm>
          <a:prstGeom prst="rect">
            <a:avLst/>
          </a:prstGeom>
        </p:spPr>
        <p:txBody>
          <a:bodyPr lIns="45699" tIns="45699" rIns="45699" bIns="45699"/>
          <a:lstStyle>
            <a:lvl1pPr algn="l">
              <a:defRPr>
                <a:solidFill>
                  <a:srgbClr val="535353"/>
                </a:solidFill>
              </a:defRPr>
            </a:lvl1pPr>
          </a:lstStyle>
          <a:p>
            <a:r>
              <a:rPr dirty="0" err="1"/>
              <a:t>발표자</a:t>
            </a:r>
            <a:r>
              <a:rPr dirty="0"/>
              <a:t> </a:t>
            </a:r>
            <a:r>
              <a:rPr dirty="0" err="1"/>
              <a:t>소개</a:t>
            </a:r>
            <a:endParaRPr dirty="0"/>
          </a:p>
        </p:txBody>
      </p:sp>
      <p:sp>
        <p:nvSpPr>
          <p:cNvPr id="273" name="Shape 197"/>
          <p:cNvSpPr txBox="1">
            <a:spLocks noGrp="1"/>
          </p:cNvSpPr>
          <p:nvPr>
            <p:ph type="body" sz="quarter" idx="4294967295"/>
          </p:nvPr>
        </p:nvSpPr>
        <p:spPr>
          <a:xfrm>
            <a:off x="9654" y="812533"/>
            <a:ext cx="9144001" cy="288002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/>
          <a:p>
            <a:pPr algn="ctr">
              <a:defRPr sz="12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143"/>
          <p:cNvSpPr txBox="1">
            <a:spLocks noGrp="1"/>
          </p:cNvSpPr>
          <p:nvPr>
            <p:ph type="title"/>
          </p:nvPr>
        </p:nvSpPr>
        <p:spPr>
          <a:xfrm>
            <a:off x="6516216" y="4155926"/>
            <a:ext cx="3220207" cy="776531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/>
          <a:p>
            <a:r>
              <a:rPr lang="en-US" sz="3600" dirty="0" smtClean="0"/>
              <a:t>The</a:t>
            </a:r>
            <a:r>
              <a:rPr sz="3600" dirty="0" smtClean="0"/>
              <a:t> </a:t>
            </a:r>
            <a:r>
              <a:rPr lang="en-US" sz="3600" dirty="0" smtClean="0">
                <a:solidFill>
                  <a:srgbClr val="0DD2D9"/>
                </a:solidFill>
              </a:rPr>
              <a:t>Reason</a:t>
            </a:r>
            <a:endParaRPr sz="3600" dirty="0">
              <a:solidFill>
                <a:srgbClr val="0DD2D9"/>
              </a:solidFill>
            </a:endParaRPr>
          </a:p>
        </p:txBody>
      </p:sp>
      <p:grpSp>
        <p:nvGrpSpPr>
          <p:cNvPr id="280" name="그룹"/>
          <p:cNvGrpSpPr/>
          <p:nvPr/>
        </p:nvGrpSpPr>
        <p:grpSpPr>
          <a:xfrm>
            <a:off x="2502489" y="1909252"/>
            <a:ext cx="4139021" cy="538043"/>
            <a:chOff x="-1" y="-1"/>
            <a:chExt cx="4139020" cy="538041"/>
          </a:xfrm>
        </p:grpSpPr>
        <p:grpSp>
          <p:nvGrpSpPr>
            <p:cNvPr id="278" name="Shape 148"/>
            <p:cNvGrpSpPr/>
            <p:nvPr/>
          </p:nvGrpSpPr>
          <p:grpSpPr>
            <a:xfrm>
              <a:off x="-1" y="-1"/>
              <a:ext cx="538041" cy="538041"/>
              <a:chOff x="0" y="0"/>
              <a:chExt cx="538039" cy="538039"/>
            </a:xfrm>
          </p:grpSpPr>
          <p:sp>
            <p:nvSpPr>
              <p:cNvPr id="276" name="Shape 149"/>
              <p:cNvSpPr/>
              <p:nvPr/>
            </p:nvSpPr>
            <p:spPr>
              <a:xfrm>
                <a:off x="-1" y="-1"/>
                <a:ext cx="538040" cy="538040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77" name="Shape 150"/>
              <p:cNvSpPr txBox="1"/>
              <p:nvPr/>
            </p:nvSpPr>
            <p:spPr>
              <a:xfrm>
                <a:off x="88997" y="93706"/>
                <a:ext cx="360043" cy="3506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2</a:t>
                </a:r>
              </a:p>
            </p:txBody>
          </p:sp>
        </p:grpSp>
        <p:sp>
          <p:nvSpPr>
            <p:cNvPr id="279" name="Shape 157"/>
            <p:cNvSpPr txBox="1"/>
            <p:nvPr/>
          </p:nvSpPr>
          <p:spPr>
            <a:xfrm>
              <a:off x="639259" y="43781"/>
              <a:ext cx="3499760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rPr lang="ko-KR" altLang="en-US" dirty="0" smtClean="0"/>
                <a:t>떠오르는 </a:t>
              </a:r>
              <a:r>
                <a:rPr lang="ko-KR" altLang="en-US" dirty="0" err="1" smtClean="0"/>
                <a:t>코틀린</a:t>
              </a:r>
              <a:endParaRPr dirty="0"/>
            </a:p>
          </p:txBody>
        </p:sp>
      </p:grpSp>
      <p:grpSp>
        <p:nvGrpSpPr>
          <p:cNvPr id="285" name="그룹"/>
          <p:cNvGrpSpPr/>
          <p:nvPr/>
        </p:nvGrpSpPr>
        <p:grpSpPr>
          <a:xfrm>
            <a:off x="2502489" y="2665829"/>
            <a:ext cx="4139021" cy="538043"/>
            <a:chOff x="-1" y="-1"/>
            <a:chExt cx="4139020" cy="538041"/>
          </a:xfrm>
        </p:grpSpPr>
        <p:grpSp>
          <p:nvGrpSpPr>
            <p:cNvPr id="283" name="Shape 151"/>
            <p:cNvGrpSpPr/>
            <p:nvPr/>
          </p:nvGrpSpPr>
          <p:grpSpPr>
            <a:xfrm>
              <a:off x="-1" y="-1"/>
              <a:ext cx="538041" cy="538041"/>
              <a:chOff x="0" y="0"/>
              <a:chExt cx="538039" cy="538039"/>
            </a:xfrm>
          </p:grpSpPr>
          <p:sp>
            <p:nvSpPr>
              <p:cNvPr id="281" name="Shape 152"/>
              <p:cNvSpPr/>
              <p:nvPr/>
            </p:nvSpPr>
            <p:spPr>
              <a:xfrm>
                <a:off x="-1" y="-1"/>
                <a:ext cx="538040" cy="538040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82" name="Shape 153"/>
              <p:cNvSpPr txBox="1"/>
              <p:nvPr/>
            </p:nvSpPr>
            <p:spPr>
              <a:xfrm>
                <a:off x="88997" y="93707"/>
                <a:ext cx="360043" cy="3506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3</a:t>
                </a:r>
              </a:p>
            </p:txBody>
          </p:sp>
        </p:grpSp>
        <p:sp>
          <p:nvSpPr>
            <p:cNvPr id="284" name="Shape 157"/>
            <p:cNvSpPr txBox="1"/>
            <p:nvPr/>
          </p:nvSpPr>
          <p:spPr>
            <a:xfrm>
              <a:off x="639259" y="43779"/>
              <a:ext cx="3499760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rPr lang="ko-KR" altLang="en-US" dirty="0" err="1" smtClean="0"/>
                <a:t>코틀린</a:t>
              </a:r>
              <a:r>
                <a:rPr lang="ko-KR" altLang="en-US" dirty="0" smtClean="0"/>
                <a:t> </a:t>
              </a:r>
              <a:r>
                <a:rPr lang="en-US" altLang="ko-KR" dirty="0" err="1" smtClean="0"/>
                <a:t>vs</a:t>
              </a:r>
              <a:r>
                <a:rPr lang="en-US" altLang="ko-KR" dirty="0" smtClean="0"/>
                <a:t> </a:t>
              </a:r>
              <a:r>
                <a:rPr lang="ko-KR" altLang="en-US" dirty="0" smtClean="0"/>
                <a:t>자바</a:t>
              </a:r>
              <a:endParaRPr dirty="0"/>
            </a:p>
          </p:txBody>
        </p:sp>
      </p:grpSp>
      <p:grpSp>
        <p:nvGrpSpPr>
          <p:cNvPr id="290" name="그룹"/>
          <p:cNvGrpSpPr/>
          <p:nvPr/>
        </p:nvGrpSpPr>
        <p:grpSpPr>
          <a:xfrm>
            <a:off x="2502489" y="3435106"/>
            <a:ext cx="4139021" cy="538043"/>
            <a:chOff x="-1" y="-1"/>
            <a:chExt cx="4139020" cy="538041"/>
          </a:xfrm>
        </p:grpSpPr>
        <p:grpSp>
          <p:nvGrpSpPr>
            <p:cNvPr id="288" name="Shape 154"/>
            <p:cNvGrpSpPr/>
            <p:nvPr/>
          </p:nvGrpSpPr>
          <p:grpSpPr>
            <a:xfrm>
              <a:off x="-1" y="-1"/>
              <a:ext cx="538041" cy="538041"/>
              <a:chOff x="0" y="0"/>
              <a:chExt cx="538039" cy="538039"/>
            </a:xfrm>
          </p:grpSpPr>
          <p:sp>
            <p:nvSpPr>
              <p:cNvPr id="286" name="Shape 155"/>
              <p:cNvSpPr/>
              <p:nvPr/>
            </p:nvSpPr>
            <p:spPr>
              <a:xfrm>
                <a:off x="-1" y="-1"/>
                <a:ext cx="538040" cy="538040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87" name="Shape 156"/>
              <p:cNvSpPr txBox="1"/>
              <p:nvPr/>
            </p:nvSpPr>
            <p:spPr>
              <a:xfrm>
                <a:off x="88997" y="93707"/>
                <a:ext cx="360043" cy="3506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4</a:t>
                </a:r>
              </a:p>
            </p:txBody>
          </p:sp>
        </p:grpSp>
        <p:sp>
          <p:nvSpPr>
            <p:cNvPr id="289" name="Shape 157"/>
            <p:cNvSpPr txBox="1"/>
            <p:nvPr/>
          </p:nvSpPr>
          <p:spPr>
            <a:xfrm>
              <a:off x="639259" y="43777"/>
              <a:ext cx="3499760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rPr lang="ko-KR" altLang="en-US" dirty="0" smtClean="0"/>
                <a:t>결국에는 </a:t>
              </a:r>
              <a:r>
                <a:rPr lang="ko-KR" altLang="en-US" dirty="0" err="1" smtClean="0"/>
                <a:t>코틀린</a:t>
              </a:r>
              <a:endParaRPr dirty="0"/>
            </a:p>
          </p:txBody>
        </p:sp>
      </p:grpSp>
      <p:grpSp>
        <p:nvGrpSpPr>
          <p:cNvPr id="295" name="그룹"/>
          <p:cNvGrpSpPr/>
          <p:nvPr/>
        </p:nvGrpSpPr>
        <p:grpSpPr>
          <a:xfrm>
            <a:off x="2502489" y="1139976"/>
            <a:ext cx="4139021" cy="538043"/>
            <a:chOff x="-1" y="-1"/>
            <a:chExt cx="4139020" cy="538041"/>
          </a:xfrm>
        </p:grpSpPr>
        <p:grpSp>
          <p:nvGrpSpPr>
            <p:cNvPr id="293" name="Shape 145"/>
            <p:cNvGrpSpPr/>
            <p:nvPr/>
          </p:nvGrpSpPr>
          <p:grpSpPr>
            <a:xfrm>
              <a:off x="-1" y="-1"/>
              <a:ext cx="538041" cy="538041"/>
              <a:chOff x="0" y="0"/>
              <a:chExt cx="538039" cy="538039"/>
            </a:xfrm>
          </p:grpSpPr>
          <p:sp>
            <p:nvSpPr>
              <p:cNvPr id="291" name="Shape 146"/>
              <p:cNvSpPr/>
              <p:nvPr/>
            </p:nvSpPr>
            <p:spPr>
              <a:xfrm>
                <a:off x="-1" y="-1"/>
                <a:ext cx="538040" cy="538040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92" name="Shape 147"/>
              <p:cNvSpPr txBox="1"/>
              <p:nvPr/>
            </p:nvSpPr>
            <p:spPr>
              <a:xfrm>
                <a:off x="88997" y="93706"/>
                <a:ext cx="360043" cy="3506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1</a:t>
                </a:r>
              </a:p>
            </p:txBody>
          </p:sp>
        </p:grpSp>
        <p:sp>
          <p:nvSpPr>
            <p:cNvPr id="294" name="Shape 157"/>
            <p:cNvSpPr txBox="1"/>
            <p:nvPr/>
          </p:nvSpPr>
          <p:spPr>
            <a:xfrm>
              <a:off x="639259" y="43780"/>
              <a:ext cx="3499760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rPr lang="ko-KR" altLang="en-US" dirty="0" err="1" smtClean="0"/>
                <a:t>구글</a:t>
              </a:r>
              <a:r>
                <a:rPr lang="ko-KR" altLang="en-US" dirty="0" smtClean="0"/>
                <a:t> </a:t>
              </a:r>
              <a:r>
                <a:rPr lang="en-US" altLang="ko-KR" dirty="0" err="1" smtClean="0"/>
                <a:t>vs</a:t>
              </a:r>
              <a:r>
                <a:rPr lang="en-US" altLang="ko-KR" dirty="0" smtClean="0"/>
                <a:t> </a:t>
              </a:r>
              <a:r>
                <a:rPr lang="ko-KR" altLang="en-US" dirty="0" err="1"/>
                <a:t>오라클</a:t>
              </a:r>
              <a:endParaRPr dirty="0"/>
            </a:p>
          </p:txBody>
        </p:sp>
      </p:grpSp>
      <p:sp>
        <p:nvSpPr>
          <p:cNvPr id="296" name="Shape 143"/>
          <p:cNvSpPr txBox="1"/>
          <p:nvPr/>
        </p:nvSpPr>
        <p:spPr>
          <a:xfrm>
            <a:off x="1541572" y="248946"/>
            <a:ext cx="7560000" cy="77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100000"/>
              </a:lnSpc>
              <a:defRPr sz="3800">
                <a:solidFill>
                  <a:srgbClr val="535353"/>
                </a:solidFill>
                <a:latin typeface="나눔바른고딕"/>
                <a:ea typeface="나눔바른고딕"/>
                <a:cs typeface="나눔바른고딕"/>
                <a:sym typeface="나눔바른고딕"/>
              </a:defRPr>
            </a:lvl1pPr>
          </a:lstStyle>
          <a:p>
            <a:r>
              <a:t>목차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166"/>
          <p:cNvSpPr txBox="1">
            <a:spLocks noGrp="1"/>
          </p:cNvSpPr>
          <p:nvPr>
            <p:ph type="title" idx="4294967295"/>
          </p:nvPr>
        </p:nvSpPr>
        <p:spPr>
          <a:xfrm>
            <a:off x="3131848" y="2355726"/>
            <a:ext cx="6012003" cy="503702"/>
          </a:xfrm>
          <a:prstGeom prst="rect">
            <a:avLst/>
          </a:prstGeom>
        </p:spPr>
        <p:txBody>
          <a:bodyPr lIns="45699" tIns="45699" rIns="45699" bIns="45699"/>
          <a:lstStyle>
            <a:lvl1pPr defTabSz="731519">
              <a:defRPr sz="2500">
                <a:solidFill>
                  <a:srgbClr val="FFFFFF"/>
                </a:solidFill>
              </a:defRPr>
            </a:lvl1pPr>
          </a:lstStyle>
          <a:p>
            <a:r>
              <a:rPr dirty="0"/>
              <a:t>1. </a:t>
            </a:r>
            <a:r>
              <a:rPr lang="ko-KR" altLang="en-US" dirty="0" err="1" smtClean="0"/>
              <a:t>구글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vs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오라클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130"/>
          <p:cNvSpPr txBox="1">
            <a:spLocks noGrp="1"/>
          </p:cNvSpPr>
          <p:nvPr>
            <p:ph type="title"/>
          </p:nvPr>
        </p:nvSpPr>
        <p:spPr>
          <a:xfrm>
            <a:off x="1418900" y="25734"/>
            <a:ext cx="7560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ko-KR" altLang="en-US" dirty="0" err="1" smtClean="0"/>
              <a:t>구글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vs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오라클</a:t>
            </a:r>
            <a:endParaRPr dirty="0"/>
          </a:p>
        </p:txBody>
      </p:sp>
      <p:sp>
        <p:nvSpPr>
          <p:cNvPr id="304" name="Shape 138"/>
          <p:cNvSpPr txBox="1"/>
          <p:nvPr/>
        </p:nvSpPr>
        <p:spPr>
          <a:xfrm>
            <a:off x="1559866" y="987574"/>
            <a:ext cx="7234657" cy="375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285750" indent="-285750">
              <a:buFontTx/>
              <a:buChar char="-"/>
              <a:defRPr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endParaRPr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79" y="958360"/>
            <a:ext cx="4464956" cy="2389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849667"/>
            <a:ext cx="29146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 descr="vs에 대한 이미지 검색결과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347" y="2845664"/>
            <a:ext cx="1004003" cy="1004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6789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1507824"/>
            <a:ext cx="3343994" cy="775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2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573282" y="1174378"/>
            <a:ext cx="576064" cy="55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!?</a:t>
            </a:r>
            <a:endParaRPr lang="en-US" altLang="ko-KR" sz="28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050" name="Picture 2" descr="표준프레임워크포털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521408"/>
            <a:ext cx="2506749" cy="59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정부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6" descr="정부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8" descr="정부에 대한 이미지 검색결과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10" descr="정부에 대한 이미지 검색결과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60" name="Picture 12" descr="정부에 대한 이미지 검색결과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787774"/>
            <a:ext cx="3163126" cy="170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톱니 모양의 오른쪽 화살표 9"/>
          <p:cNvSpPr/>
          <p:nvPr/>
        </p:nvSpPr>
        <p:spPr>
          <a:xfrm>
            <a:off x="4139952" y="1563638"/>
            <a:ext cx="1368152" cy="595416"/>
          </a:xfrm>
          <a:prstGeom prst="notchedRightArrow">
            <a:avLst/>
          </a:prstGeom>
          <a:solidFill>
            <a:schemeClr val="accent2">
              <a:lumMod val="75000"/>
            </a:schemeClr>
          </a:solidFill>
          <a:ln w="25400" cap="flat">
            <a:solidFill>
              <a:schemeClr val="accent2">
                <a:lumMod val="75000"/>
              </a:schemeClr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600" b="1" i="0" u="none" strike="noStrike" cap="none" spc="0" normalizeH="0" baseline="0">
              <a:ln>
                <a:noFill/>
              </a:ln>
              <a:solidFill>
                <a:srgbClr val="3F3F3F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03450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1507824"/>
            <a:ext cx="3343994" cy="775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2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573282" y="1174378"/>
            <a:ext cx="576064" cy="55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!?</a:t>
            </a:r>
            <a:endParaRPr lang="en-US" altLang="ko-KR" sz="28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050" name="Picture 2" descr="표준프레임워크포털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521408"/>
            <a:ext cx="2506749" cy="59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정부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6" descr="정부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8" descr="정부에 대한 이미지 검색결과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10" descr="정부에 대한 이미지 검색결과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60" name="Picture 12" descr="정부에 대한 이미지 검색결과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787774"/>
            <a:ext cx="3163126" cy="170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톱니 모양의 오른쪽 화살표 9"/>
          <p:cNvSpPr/>
          <p:nvPr/>
        </p:nvSpPr>
        <p:spPr>
          <a:xfrm>
            <a:off x="4139952" y="1563638"/>
            <a:ext cx="1368152" cy="595416"/>
          </a:xfrm>
          <a:prstGeom prst="notchedRightArrow">
            <a:avLst/>
          </a:prstGeom>
          <a:solidFill>
            <a:schemeClr val="accent2">
              <a:lumMod val="75000"/>
            </a:schemeClr>
          </a:solidFill>
          <a:ln w="25400" cap="flat">
            <a:solidFill>
              <a:schemeClr val="accent2">
                <a:lumMod val="75000"/>
              </a:schemeClr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600" b="1" i="0" u="none" strike="noStrike" cap="none" spc="0" normalizeH="0" baseline="0">
              <a:ln>
                <a:noFill/>
              </a:ln>
              <a:solidFill>
                <a:srgbClr val="3F3F3F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486091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3" name="AutoShape 4" descr="정부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6" descr="정부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8" descr="정부에 대한 이미지 검색결과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10" descr="정부에 대한 이미지 검색결과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074" name="Picture 2" descr="https://hackya.com/wp-content/uploads/sites/2/2017/03/java-is-dy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817" y="-380578"/>
            <a:ext cx="9160316" cy="687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2964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320" y="111597"/>
            <a:ext cx="5472608" cy="4977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34540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3" name="AutoShape 4" descr="정부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6" descr="정부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8" descr="정부에 대한 이미지 검색결과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10" descr="정부에 대한 이미지 검색결과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122" name="Picture 2" descr="https://cdn-images-1.medium.com/max/800/0*Hqv9H9TlhXPBiM3v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57" y="1275606"/>
            <a:ext cx="5327760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5868144" y="1275606"/>
            <a:ext cx="3275856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800" dirty="0" smtClean="0">
                <a:solidFill>
                  <a:schemeClr val="tx1">
                    <a:lumMod val="75000"/>
                  </a:schemeClr>
                </a:solidFill>
              </a:rPr>
              <a:t>- </a:t>
            </a:r>
            <a:r>
              <a:rPr lang="en-US" altLang="ko-KR" sz="1800" dirty="0" err="1" smtClean="0">
                <a:solidFill>
                  <a:schemeClr val="tx1">
                    <a:lumMod val="75000"/>
                  </a:schemeClr>
                </a:solidFill>
              </a:rPr>
              <a:t>Kotlin</a:t>
            </a:r>
            <a:r>
              <a:rPr lang="en-US" altLang="ko-KR" sz="1800" dirty="0" smtClean="0">
                <a:solidFill>
                  <a:schemeClr val="tx1">
                    <a:lumMod val="75000"/>
                  </a:schemeClr>
                </a:solidFill>
              </a:rPr>
              <a:t>, Advanced Java</a:t>
            </a:r>
          </a:p>
          <a:p>
            <a:pPr marL="285750" indent="-285750">
              <a:buFontTx/>
              <a:buChar char="-"/>
            </a:pP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기존 자바 개발자들의 낮은 </a:t>
            </a:r>
            <a:r>
              <a:rPr lang="en-US" altLang="ko-KR" sz="1800" dirty="0" err="1" smtClean="0">
                <a:solidFill>
                  <a:schemeClr val="tx1">
                    <a:lumMod val="75000"/>
                  </a:schemeClr>
                </a:solidFill>
              </a:rPr>
              <a:t>Learing</a:t>
            </a:r>
            <a:r>
              <a:rPr lang="en-US" altLang="ko-KR" sz="1800" dirty="0" smtClean="0">
                <a:solidFill>
                  <a:schemeClr val="tx1">
                    <a:lumMod val="75000"/>
                  </a:schemeClr>
                </a:solidFill>
              </a:rPr>
              <a:t> Curve</a:t>
            </a:r>
          </a:p>
          <a:p>
            <a:pPr marL="285750" indent="-285750">
              <a:buFontTx/>
              <a:buChar char="-"/>
            </a:pPr>
            <a:r>
              <a:rPr lang="ko-KR" altLang="en-US" sz="1800" dirty="0" err="1" smtClean="0">
                <a:solidFill>
                  <a:schemeClr val="tx1">
                    <a:lumMod val="75000"/>
                  </a:schemeClr>
                </a:solidFill>
              </a:rPr>
              <a:t>코틀린을</a:t>
            </a: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 사용했을 때 가장 큰 문제 </a:t>
            </a:r>
            <a:r>
              <a:rPr lang="en-US" altLang="ko-KR" sz="1800" dirty="0" smtClean="0">
                <a:solidFill>
                  <a:schemeClr val="tx1">
                    <a:lumMod val="75000"/>
                  </a:schemeClr>
                </a:solidFill>
              </a:rPr>
              <a:t>“</a:t>
            </a: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자바로 되돌아 가고 싶지 않다</a:t>
            </a:r>
            <a:r>
              <a:rPr lang="en-US" altLang="ko-KR" sz="1800" dirty="0" smtClean="0">
                <a:solidFill>
                  <a:schemeClr val="tx1">
                    <a:lumMod val="75000"/>
                  </a:schemeClr>
                </a:solidFill>
              </a:rPr>
              <a:t>”</a:t>
            </a:r>
            <a:endParaRPr lang="en-US" altLang="ko-KR" sz="18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0725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166"/>
          <p:cNvSpPr txBox="1">
            <a:spLocks noGrp="1"/>
          </p:cNvSpPr>
          <p:nvPr>
            <p:ph type="title" idx="4294967295"/>
          </p:nvPr>
        </p:nvSpPr>
        <p:spPr>
          <a:xfrm>
            <a:off x="3131848" y="2355726"/>
            <a:ext cx="6012003" cy="503702"/>
          </a:xfrm>
          <a:prstGeom prst="rect">
            <a:avLst/>
          </a:prstGeom>
        </p:spPr>
        <p:txBody>
          <a:bodyPr lIns="45699" tIns="45699" rIns="45699" bIns="45699"/>
          <a:lstStyle>
            <a:lvl1pPr defTabSz="731519">
              <a:defRPr sz="250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2. </a:t>
            </a:r>
            <a:r>
              <a:rPr lang="ko-KR" altLang="en-US" dirty="0" smtClean="0"/>
              <a:t>떠오르는 </a:t>
            </a:r>
            <a:r>
              <a:rPr lang="ko-KR" altLang="en-US" dirty="0" err="1" smtClean="0"/>
              <a:t>코틀린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063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3" name="AutoShape 4" descr="정부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6" descr="정부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8" descr="정부에 대한 이미지 검색결과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10" descr="정부에 대한 이미지 검색결과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851920" y="3867894"/>
            <a:ext cx="5112568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800" dirty="0" smtClean="0">
                <a:solidFill>
                  <a:schemeClr val="tx1">
                    <a:lumMod val="75000"/>
                  </a:schemeClr>
                </a:solidFill>
              </a:rPr>
              <a:t>2010</a:t>
            </a: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년도 </a:t>
            </a:r>
            <a:r>
              <a:rPr lang="en-US" altLang="ko-KR" sz="1800" dirty="0" err="1" smtClean="0">
                <a:solidFill>
                  <a:schemeClr val="tx1">
                    <a:lumMod val="75000"/>
                  </a:schemeClr>
                </a:solidFill>
              </a:rPr>
              <a:t>JetBrain</a:t>
            </a: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사 개발</a:t>
            </a:r>
            <a:endParaRPr lang="en-US" altLang="ko-KR" sz="1800" dirty="0" smtClean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자바를 대체하기 위해 만들어진 정적인 언어</a:t>
            </a:r>
            <a:endParaRPr lang="en-US" altLang="ko-KR" sz="1800" dirty="0" smtClean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러시아의 </a:t>
            </a:r>
            <a:r>
              <a:rPr lang="ko-KR" altLang="en-US" sz="1800" dirty="0" err="1" smtClean="0">
                <a:solidFill>
                  <a:schemeClr val="tx1">
                    <a:lumMod val="75000"/>
                  </a:schemeClr>
                </a:solidFill>
              </a:rPr>
              <a:t>발트</a:t>
            </a: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 해 핀란드 만의 입구에 위치 </a:t>
            </a:r>
            <a:endParaRPr lang="en-US" altLang="ko-KR" sz="1800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6146" name="Picture 2" descr="Kotlin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987573"/>
            <a:ext cx="6874801" cy="274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0162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4" y="-14114"/>
            <a:ext cx="9144000" cy="6632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0663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3" name="AutoShape 4" descr="정부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6" descr="정부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8" descr="정부에 대한 이미지 검색결과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10" descr="정부에 대한 이미지 검색결과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851920" y="3867894"/>
            <a:ext cx="5112568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800" dirty="0" smtClean="0">
                <a:solidFill>
                  <a:schemeClr val="tx1">
                    <a:lumMod val="75000"/>
                  </a:schemeClr>
                </a:solidFill>
              </a:rPr>
              <a:t>2010</a:t>
            </a: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년도 </a:t>
            </a:r>
            <a:r>
              <a:rPr lang="en-US" altLang="ko-KR" sz="1800" dirty="0" err="1" smtClean="0">
                <a:solidFill>
                  <a:schemeClr val="tx1">
                    <a:lumMod val="75000"/>
                  </a:schemeClr>
                </a:solidFill>
              </a:rPr>
              <a:t>JetBrain</a:t>
            </a: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사 개발</a:t>
            </a:r>
            <a:endParaRPr lang="en-US" altLang="ko-KR" sz="1800" dirty="0" smtClean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자바를 대체하기 위해 만들어진 정적인 언어</a:t>
            </a:r>
            <a:endParaRPr lang="en-US" altLang="ko-KR" sz="1800" dirty="0" smtClean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러시아의 </a:t>
            </a:r>
            <a:r>
              <a:rPr lang="ko-KR" altLang="en-US" sz="1800" dirty="0" err="1" smtClean="0">
                <a:solidFill>
                  <a:schemeClr val="tx1">
                    <a:lumMod val="75000"/>
                  </a:schemeClr>
                </a:solidFill>
              </a:rPr>
              <a:t>발트</a:t>
            </a:r>
            <a:r>
              <a:rPr lang="ko-KR" altLang="en-US" sz="1800" dirty="0" smtClean="0">
                <a:solidFill>
                  <a:schemeClr val="tx1">
                    <a:lumMod val="75000"/>
                  </a:schemeClr>
                </a:solidFill>
              </a:rPr>
              <a:t> 해 핀란드 만의 입구에 위치 </a:t>
            </a:r>
            <a:endParaRPr lang="en-US" altLang="ko-KR" sz="1800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6146" name="Picture 2" descr="Kotlin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987573"/>
            <a:ext cx="6874801" cy="274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96336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166"/>
          <p:cNvSpPr txBox="1">
            <a:spLocks noGrp="1"/>
          </p:cNvSpPr>
          <p:nvPr>
            <p:ph type="title" idx="4294967295"/>
          </p:nvPr>
        </p:nvSpPr>
        <p:spPr>
          <a:xfrm>
            <a:off x="3131848" y="2355726"/>
            <a:ext cx="6012003" cy="503702"/>
          </a:xfrm>
          <a:prstGeom prst="rect">
            <a:avLst/>
          </a:prstGeom>
        </p:spPr>
        <p:txBody>
          <a:bodyPr lIns="45699" tIns="45699" rIns="45699" bIns="45699"/>
          <a:lstStyle>
            <a:lvl1pPr defTabSz="731519">
              <a:defRPr sz="250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3.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vs</a:t>
            </a:r>
            <a:r>
              <a:rPr lang="en-US" altLang="ko-KR" dirty="0" smtClean="0"/>
              <a:t> </a:t>
            </a:r>
            <a:r>
              <a:rPr lang="ko-KR" altLang="en-US" dirty="0" smtClean="0"/>
              <a:t>자바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22194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87574"/>
            <a:ext cx="560070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78314" y="3003798"/>
            <a:ext cx="8650276" cy="1865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JVM</a:t>
            </a:r>
            <a:r>
              <a:rPr lang="ko-KR" altLang="en-US" dirty="0" smtClean="0"/>
              <a:t>환경에서 동작</a:t>
            </a:r>
            <a:endParaRPr lang="en-US" altLang="ko-KR" dirty="0" smtClean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err="1" smtClean="0"/>
              <a:t>안드로이드에서</a:t>
            </a:r>
            <a:r>
              <a:rPr lang="ko-KR" altLang="en-US" dirty="0" smtClean="0"/>
              <a:t> 정식 지원</a:t>
            </a:r>
            <a:endParaRPr lang="en-US" altLang="ko-KR" dirty="0" smtClean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자바스크립트 파일 변환 가능</a:t>
            </a:r>
            <a:endParaRPr lang="en-US" altLang="ko-KR" dirty="0" smtClean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err="1" smtClean="0"/>
              <a:t>네이티브라고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썼긴</a:t>
            </a:r>
            <a:r>
              <a:rPr lang="ko-KR" altLang="en-US" dirty="0" smtClean="0"/>
              <a:t> 했지만 정말 하고 싶던 말은</a:t>
            </a:r>
            <a:r>
              <a:rPr lang="en-US" altLang="ko-KR" dirty="0" smtClean="0"/>
              <a:t>?</a:t>
            </a:r>
            <a:endParaRPr lang="en-US" altLang="ko-K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/>
              <a:t> </a:t>
            </a:r>
            <a:r>
              <a:rPr lang="ko-KR" altLang="en-US" dirty="0" smtClean="0"/>
              <a:t>개발 툴 지원 </a:t>
            </a:r>
            <a:endParaRPr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31590"/>
            <a:ext cx="6542131" cy="23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3651870"/>
            <a:ext cx="8650276" cy="137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세계적인 </a:t>
            </a:r>
            <a:r>
              <a:rPr lang="en-US" altLang="ko-KR" dirty="0" smtClean="0"/>
              <a:t>IDE</a:t>
            </a:r>
            <a:r>
              <a:rPr lang="ko-KR" altLang="en-US" dirty="0" smtClean="0"/>
              <a:t>개발 회사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기존 개발 툴로 지원이 </a:t>
            </a:r>
            <a:r>
              <a:rPr lang="ko-KR" altLang="en-US" dirty="0" err="1" smtClean="0"/>
              <a:t>안되는</a:t>
            </a:r>
            <a:r>
              <a:rPr lang="ko-KR" altLang="en-US" dirty="0" smtClean="0"/>
              <a:t> 툴들이 없다</a:t>
            </a:r>
            <a:r>
              <a:rPr lang="en-US" altLang="ko-KR" dirty="0" smtClean="0"/>
              <a:t>.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기존 툴뿐만 아니라 </a:t>
            </a:r>
            <a:r>
              <a:rPr lang="en-US" altLang="ko-KR" dirty="0" err="1" smtClean="0"/>
              <a:t>StandAlone</a:t>
            </a:r>
            <a:r>
              <a:rPr lang="ko-KR" altLang="en-US" dirty="0" smtClean="0"/>
              <a:t>으로도 동작 가능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7846398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313" name="수란 막연하고 추상적이며 개념적인 내용인 동시에 양을 나타내는…"/>
          <p:cNvSpPr txBox="1"/>
          <p:nvPr/>
        </p:nvSpPr>
        <p:spPr>
          <a:xfrm>
            <a:off x="246862" y="1084580"/>
            <a:ext cx="8650276" cy="363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2.1 </a:t>
            </a:r>
            <a:r>
              <a:rPr lang="en-US" dirty="0" err="1"/>
              <a:t>AppCode</a:t>
            </a:r>
            <a:endParaRPr lang="en-US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2.2 </a:t>
            </a:r>
            <a:r>
              <a:rPr lang="en-US" dirty="0" err="1"/>
              <a:t>CLion</a:t>
            </a:r>
            <a:endParaRPr lang="en-US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2.3 </a:t>
            </a:r>
            <a:r>
              <a:rPr lang="en-US" dirty="0" err="1"/>
              <a:t>DataGrip</a:t>
            </a:r>
            <a:endParaRPr lang="en-US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2.4 </a:t>
            </a:r>
            <a:r>
              <a:rPr lang="en-US" dirty="0" err="1"/>
              <a:t>Gogland</a:t>
            </a:r>
            <a:endParaRPr lang="en-US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2.5 Hub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2.6 </a:t>
            </a:r>
            <a:r>
              <a:rPr lang="en-US" dirty="0" err="1"/>
              <a:t>IntelliJ</a:t>
            </a:r>
            <a:r>
              <a:rPr lang="en-US" dirty="0"/>
              <a:t> IDEA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2.7 </a:t>
            </a:r>
            <a:r>
              <a:rPr lang="en-US" dirty="0" err="1"/>
              <a:t>Kotlin</a:t>
            </a:r>
            <a:endParaRPr lang="en-US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4067944" y="915566"/>
            <a:ext cx="4572000" cy="49675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2.8 MPS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2.9 </a:t>
            </a:r>
            <a:r>
              <a:rPr lang="en-US" altLang="ko-KR" dirty="0" err="1"/>
              <a:t>PhpStorm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2.10 </a:t>
            </a:r>
            <a:r>
              <a:rPr lang="en-US" altLang="ko-KR" dirty="0" err="1"/>
              <a:t>PyCharm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2.11 </a:t>
            </a:r>
            <a:r>
              <a:rPr lang="en-US" altLang="ko-KR" dirty="0" err="1"/>
              <a:t>ReSharper</a:t>
            </a:r>
            <a:r>
              <a:rPr lang="en-US" altLang="ko-KR" dirty="0"/>
              <a:t> Ultimate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2.12 Rider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2.13 </a:t>
            </a:r>
            <a:r>
              <a:rPr lang="en-US" altLang="ko-KR" dirty="0" err="1"/>
              <a:t>RubyMine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2.14 </a:t>
            </a:r>
            <a:r>
              <a:rPr lang="en-US" altLang="ko-KR" dirty="0" err="1"/>
              <a:t>TeamCity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2.15 Toolbox App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2.16 </a:t>
            </a:r>
            <a:r>
              <a:rPr lang="en-US" altLang="ko-KR" dirty="0" err="1"/>
              <a:t>Upsource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2.17 </a:t>
            </a:r>
            <a:r>
              <a:rPr lang="en-US" altLang="ko-KR" dirty="0" err="1"/>
              <a:t>WebStorm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2.18 </a:t>
            </a:r>
            <a:r>
              <a:rPr lang="en-US" altLang="ko-KR" dirty="0" err="1"/>
              <a:t>YouTrack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791562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4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978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이 대결 구도는 현재 애플의 개발언어인 </a:t>
            </a:r>
            <a:r>
              <a:rPr lang="en-US" altLang="ko-KR" dirty="0" smtClean="0"/>
              <a:t>SWIFT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Objective-C</a:t>
            </a:r>
            <a:r>
              <a:rPr lang="ko-KR" altLang="en-US" dirty="0" smtClean="0"/>
              <a:t>를 비교하는 것과 같은 </a:t>
            </a:r>
            <a:r>
              <a:rPr lang="ko-KR" altLang="en-US" dirty="0" smtClean="0"/>
              <a:t>구도</a:t>
            </a:r>
            <a:endParaRPr lang="en-US" altLang="ko-KR" dirty="0" smtClean="0"/>
          </a:p>
        </p:txBody>
      </p:sp>
      <p:sp>
        <p:nvSpPr>
          <p:cNvPr id="5" name="수란 막연하고 추상적이며 개념적인 내용인 동시에 양을 나타내는…"/>
          <p:cNvSpPr txBox="1"/>
          <p:nvPr/>
        </p:nvSpPr>
        <p:spPr>
          <a:xfrm>
            <a:off x="259650" y="2038307"/>
            <a:ext cx="8650276" cy="683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sz="3200" dirty="0" err="1" smtClean="0"/>
              <a:t>코틀린과</a:t>
            </a:r>
            <a:r>
              <a:rPr lang="ko-KR" altLang="en-US" sz="3200" dirty="0" smtClean="0"/>
              <a:t> 자바 문법 비교</a:t>
            </a:r>
            <a:endParaRPr lang="en-US" altLang="ko-KR" sz="3200" dirty="0" smtClean="0"/>
          </a:p>
        </p:txBody>
      </p:sp>
    </p:spTree>
    <p:extLst>
      <p:ext uri="{BB962C8B-B14F-4D97-AF65-F5344CB8AC3E}">
        <p14:creationId xmlns:p14="http://schemas.microsoft.com/office/powerpoint/2010/main" val="10410677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978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현실적인 자바와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코드 비교</a:t>
            </a:r>
            <a:endParaRPr lang="en-US" altLang="ko-KR" dirty="0" smtClean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endParaRPr lang="en-US" altLang="ko-KR" dirty="0"/>
          </a:p>
        </p:txBody>
      </p:sp>
      <p:sp>
        <p:nvSpPr>
          <p:cNvPr id="7" name="수란 막연하고 추상적이며 개념적인 내용인 동시에 양을 나타내는…"/>
          <p:cNvSpPr txBox="1"/>
          <p:nvPr/>
        </p:nvSpPr>
        <p:spPr>
          <a:xfrm>
            <a:off x="397024" y="1211982"/>
            <a:ext cx="8650276" cy="517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7204991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166"/>
          <p:cNvSpPr txBox="1">
            <a:spLocks noGrp="1"/>
          </p:cNvSpPr>
          <p:nvPr>
            <p:ph type="title" idx="4294967295"/>
          </p:nvPr>
        </p:nvSpPr>
        <p:spPr>
          <a:xfrm>
            <a:off x="3131848" y="2355726"/>
            <a:ext cx="6012003" cy="503702"/>
          </a:xfrm>
          <a:prstGeom prst="rect">
            <a:avLst/>
          </a:prstGeom>
        </p:spPr>
        <p:txBody>
          <a:bodyPr lIns="45699" tIns="45699" rIns="45699" bIns="45699"/>
          <a:lstStyle>
            <a:lvl1pPr defTabSz="731519">
              <a:defRPr sz="250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4. </a:t>
            </a:r>
            <a:r>
              <a:rPr lang="ko-KR" altLang="en-US" dirty="0" smtClean="0"/>
              <a:t>결국에는 </a:t>
            </a:r>
            <a:r>
              <a:rPr lang="ko-KR" altLang="en-US" dirty="0" err="1" smtClean="0"/>
              <a:t>코틀린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02339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49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552" y="843558"/>
            <a:ext cx="10153650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41245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소개를 마치며</a:t>
            </a:r>
            <a:r>
              <a:rPr lang="en-US" altLang="ko-KR" dirty="0" smtClean="0"/>
              <a:t>...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323528" y="1337250"/>
            <a:ext cx="8650276" cy="517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1141245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Shape 821"/>
          <p:cNvSpPr txBox="1">
            <a:spLocks noGrp="1"/>
          </p:cNvSpPr>
          <p:nvPr>
            <p:ph type="title"/>
          </p:nvPr>
        </p:nvSpPr>
        <p:spPr>
          <a:xfrm>
            <a:off x="1043607" y="2924942"/>
            <a:ext cx="7056785" cy="533309"/>
          </a:xfrm>
          <a:prstGeom prst="rect">
            <a:avLst/>
          </a:prstGeom>
        </p:spPr>
        <p:txBody>
          <a:bodyPr lIns="45699" tIns="45699" rIns="45699" bIns="45699"/>
          <a:lstStyle>
            <a:lvl1pPr defTabSz="795527">
              <a:defRPr sz="2700"/>
            </a:lvl1pPr>
          </a:lstStyle>
          <a:p>
            <a: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853452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978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Null Safety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기본적으로 </a:t>
            </a:r>
            <a:r>
              <a:rPr lang="en-US" altLang="ko-KR" dirty="0" smtClean="0"/>
              <a:t>non-</a:t>
            </a:r>
            <a:r>
              <a:rPr lang="en-US" altLang="ko-KR" dirty="0" err="1" smtClean="0"/>
              <a:t>nullable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323528" y="2205986"/>
            <a:ext cx="45720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if (</a:t>
            </a:r>
            <a:r>
              <a:rPr lang="en-US" altLang="ko-KR" dirty="0" err="1"/>
              <a:t>nullable</a:t>
            </a:r>
            <a:r>
              <a:rPr lang="en-US" altLang="ko-KR" dirty="0"/>
              <a:t> != null) </a:t>
            </a:r>
            <a:r>
              <a:rPr lang="en-US" altLang="ko-KR" dirty="0" err="1"/>
              <a:t>nullable.doStuff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nullable</a:t>
            </a:r>
            <a:r>
              <a:rPr lang="en-US" altLang="ko-KR" dirty="0"/>
              <a:t>?.</a:t>
            </a:r>
            <a:r>
              <a:rPr lang="en-US" altLang="ko-KR" dirty="0" err="1"/>
              <a:t>doStuff</a:t>
            </a:r>
            <a:r>
              <a:rPr lang="en-US" altLang="ko-KR" dirty="0"/>
              <a:t>() //safe call</a:t>
            </a:r>
            <a:endParaRPr lang="ko-KR" altLang="en-US" dirty="0"/>
          </a:p>
        </p:txBody>
      </p:sp>
      <p:sp>
        <p:nvSpPr>
          <p:cNvPr id="6" name="수란 막연하고 추상적이며 개념적인 내용인 동시에 양을 나타내는…"/>
          <p:cNvSpPr txBox="1"/>
          <p:nvPr/>
        </p:nvSpPr>
        <p:spPr>
          <a:xfrm>
            <a:off x="397024" y="2891786"/>
            <a:ext cx="8650276" cy="978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Null</a:t>
            </a:r>
            <a:r>
              <a:rPr lang="ko-KR" altLang="en-US" dirty="0" smtClean="0"/>
              <a:t>값이 필요한 경우가 얼마나 있을까 생각해 볼 만한 대목</a:t>
            </a:r>
            <a:endParaRPr lang="en-US" altLang="ko-KR" dirty="0" smtClean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err="1" smtClean="0"/>
              <a:t>Nullable.doStuff</a:t>
            </a:r>
            <a:r>
              <a:rPr lang="en-US" altLang="ko-KR" dirty="0" smtClean="0"/>
              <a:t>()</a:t>
            </a:r>
            <a:r>
              <a:rPr lang="ko-KR" altLang="en-US" dirty="0" smtClean="0"/>
              <a:t>해서 </a:t>
            </a:r>
            <a:r>
              <a:rPr lang="en-US" altLang="ko-KR" dirty="0" err="1" smtClean="0"/>
              <a:t>nullPointException</a:t>
            </a:r>
            <a:r>
              <a:rPr lang="ko-KR" altLang="en-US" dirty="0" smtClean="0"/>
              <a:t>발생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051742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2308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Extension Functions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클래스에 상속하거나 </a:t>
            </a:r>
            <a:r>
              <a:rPr lang="ko-KR" altLang="en-US" dirty="0" err="1" smtClean="0">
                <a:solidFill>
                  <a:srgbClr val="FF0000"/>
                </a:solidFill>
              </a:rPr>
              <a:t>데코레이션</a:t>
            </a:r>
            <a:r>
              <a:rPr lang="ko-KR" altLang="en-US" dirty="0" smtClean="0">
                <a:solidFill>
                  <a:srgbClr val="FF0000"/>
                </a:solidFill>
              </a:rPr>
              <a:t> 패턴</a:t>
            </a:r>
            <a:r>
              <a:rPr lang="ko-KR" altLang="en-US" dirty="0" smtClean="0"/>
              <a:t>을 사용하지 않고도 행동 추가 가능</a:t>
            </a:r>
            <a:endParaRPr lang="en-US" altLang="ko-KR" dirty="0" smtClean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마치 원래 클래스의 기능인 것 </a:t>
            </a:r>
            <a:r>
              <a:rPr lang="ko-KR" altLang="en-US" dirty="0" err="1" smtClean="0"/>
              <a:t>처럼</a:t>
            </a:r>
            <a:endParaRPr lang="en-US" altLang="ko-KR" dirty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23528" y="3003798"/>
            <a:ext cx="4572000" cy="9787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fun </a:t>
            </a:r>
            <a:r>
              <a:rPr lang="en-US" altLang="ko-KR" dirty="0" err="1"/>
              <a:t>String.makePretty</a:t>
            </a:r>
            <a:r>
              <a:rPr lang="en-US" altLang="ko-KR" dirty="0"/>
              <a:t>(): String {</a:t>
            </a:r>
          </a:p>
          <a:p>
            <a:r>
              <a:rPr lang="en-US" altLang="ko-KR" dirty="0"/>
              <a:t>    //… make the string pretty and return it</a:t>
            </a:r>
          </a:p>
          <a:p>
            <a:r>
              <a:rPr lang="en-US" altLang="ko-KR" dirty="0"/>
              <a:t>}</a:t>
            </a:r>
          </a:p>
        </p:txBody>
      </p:sp>
      <p:sp>
        <p:nvSpPr>
          <p:cNvPr id="5" name="수란 막연하고 추상적이며 개념적인 내용인 동시에 양을 나타내는…"/>
          <p:cNvSpPr txBox="1"/>
          <p:nvPr/>
        </p:nvSpPr>
        <p:spPr>
          <a:xfrm>
            <a:off x="314896" y="3983395"/>
            <a:ext cx="8650276" cy="49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추상 클래스를 이용해서 상속받는 스타일 사용이 필요 없음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4616062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978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Higher-order functions and lambdas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이해 필요</a:t>
            </a:r>
            <a:r>
              <a:rPr lang="en-US" altLang="ko-KR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20450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1865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Data Classes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자바 어플리케이션 개발 중 가장 지루하지만 없으면 </a:t>
            </a:r>
            <a:r>
              <a:rPr lang="ko-KR" altLang="en-US" dirty="0" err="1" smtClean="0"/>
              <a:t>안되는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Getter, Setter </a:t>
            </a:r>
            <a:r>
              <a:rPr lang="ko-KR" altLang="en-US" dirty="0" smtClean="0"/>
              <a:t>생성 작업</a:t>
            </a:r>
            <a:r>
              <a:rPr lang="en-US" altLang="ko-KR" dirty="0" smtClean="0"/>
              <a:t>, compiler</a:t>
            </a:r>
            <a:r>
              <a:rPr lang="ko-KR" altLang="en-US" dirty="0" smtClean="0"/>
              <a:t>가 </a:t>
            </a:r>
            <a:r>
              <a:rPr lang="en-US" altLang="ko-KR" dirty="0" err="1" smtClean="0"/>
              <a:t>toString</a:t>
            </a:r>
            <a:r>
              <a:rPr lang="en-US" altLang="ko-KR" dirty="0" smtClean="0"/>
              <a:t>(), copy()</a:t>
            </a:r>
            <a:r>
              <a:rPr lang="ko-KR" altLang="en-US" dirty="0" smtClean="0"/>
              <a:t>함수까지 자동으로 만들어준다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8415835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3194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err="1" smtClean="0"/>
              <a:t>Immutablility</a:t>
            </a:r>
            <a:r>
              <a:rPr lang="en-US" altLang="ko-KR" dirty="0" smtClean="0"/>
              <a:t> 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err="1" smtClean="0"/>
              <a:t>코틀린에서의</a:t>
            </a:r>
            <a:r>
              <a:rPr lang="ko-KR" altLang="en-US" dirty="0" smtClean="0"/>
              <a:t> 변수 생성은 </a:t>
            </a:r>
            <a:r>
              <a:rPr lang="en-US" altLang="ko-KR" dirty="0" err="1" smtClean="0"/>
              <a:t>var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val</a:t>
            </a:r>
            <a:r>
              <a:rPr lang="ko-KR" altLang="en-US" dirty="0" smtClean="0"/>
              <a:t>로 설정을 하는데 </a:t>
            </a:r>
            <a:endParaRPr lang="en-US" altLang="ko-KR" dirty="0" smtClean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전자의 경우는 변경 가능한 변수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후자의 경우 변경 불가능한 변수</a:t>
            </a:r>
            <a:endParaRPr lang="en-US" altLang="ko-KR" dirty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비슷하게 </a:t>
            </a:r>
            <a:r>
              <a:rPr lang="en-US" altLang="ko-KR" dirty="0" smtClean="0"/>
              <a:t>final </a:t>
            </a:r>
            <a:r>
              <a:rPr lang="ko-KR" altLang="en-US" dirty="0" smtClean="0"/>
              <a:t>키워드가 있는데 </a:t>
            </a:r>
            <a:r>
              <a:rPr lang="en-US" altLang="ko-KR" dirty="0" err="1" smtClean="0"/>
              <a:t>var</a:t>
            </a:r>
            <a:r>
              <a:rPr lang="ko-KR" altLang="en-US" dirty="0" smtClean="0"/>
              <a:t>로 생성하면 </a:t>
            </a:r>
            <a:r>
              <a:rPr lang="en-US" altLang="ko-KR" dirty="0" err="1" smtClean="0"/>
              <a:t>getter,setter</a:t>
            </a:r>
            <a:endParaRPr lang="en-US" altLang="ko-KR" dirty="0" smtClean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Val</a:t>
            </a:r>
            <a:r>
              <a:rPr lang="ko-KR" altLang="en-US" dirty="0" smtClean="0"/>
              <a:t>로 생성하면 </a:t>
            </a:r>
            <a:r>
              <a:rPr lang="en-US" altLang="ko-KR" dirty="0" smtClean="0"/>
              <a:t>getter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private </a:t>
            </a:r>
            <a:r>
              <a:rPr lang="en-US" altLang="ko-KR" dirty="0" err="1" smtClean="0"/>
              <a:t>settter</a:t>
            </a:r>
            <a:r>
              <a:rPr lang="ko-KR" altLang="en-US" dirty="0" smtClean="0"/>
              <a:t>로 생성돼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생성자에서</a:t>
            </a:r>
            <a:r>
              <a:rPr lang="ko-KR" altLang="en-US" dirty="0" smtClean="0"/>
              <a:t> 할당되어야 한다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0429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142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Type Aliases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몇 가지 키 입력을 저장하고 코드를 읽기 편하게 한다</a:t>
            </a:r>
            <a:r>
              <a:rPr lang="en-US" altLang="ko-KR" dirty="0" smtClean="0"/>
              <a:t>.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C</a:t>
            </a:r>
            <a:r>
              <a:rPr lang="ko-KR" altLang="en-US" dirty="0" smtClean="0"/>
              <a:t>의 매크로 같은 기능</a:t>
            </a:r>
            <a:r>
              <a:rPr lang="en-US" altLang="ko-KR" dirty="0" smtClean="0"/>
              <a:t>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23528" y="2570863"/>
            <a:ext cx="45720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err="1"/>
              <a:t>typealias</a:t>
            </a:r>
            <a:r>
              <a:rPr lang="en-US" altLang="ko-KR" dirty="0"/>
              <a:t> </a:t>
            </a:r>
            <a:r>
              <a:rPr lang="en-US" altLang="ko-KR" dirty="0" err="1"/>
              <a:t>MapOfLists</a:t>
            </a:r>
            <a:r>
              <a:rPr lang="en-US" altLang="ko-KR" dirty="0"/>
              <a:t> = Map&lt;String, List&gt;</a:t>
            </a:r>
          </a:p>
          <a:p>
            <a:r>
              <a:rPr lang="en-US" altLang="ko-KR" dirty="0"/>
              <a:t>​</a:t>
            </a:r>
          </a:p>
          <a:p>
            <a:r>
              <a:rPr lang="en-US" altLang="ko-KR" dirty="0"/>
              <a:t>fun </a:t>
            </a:r>
            <a:r>
              <a:rPr lang="en-US" altLang="ko-KR" dirty="0" err="1"/>
              <a:t>useMap</a:t>
            </a:r>
            <a:r>
              <a:rPr lang="en-US" altLang="ko-KR" dirty="0"/>
              <a:t>(map: </a:t>
            </a:r>
            <a:r>
              <a:rPr lang="en-US" altLang="ko-KR" dirty="0" err="1"/>
              <a:t>MapOfList</a:t>
            </a:r>
            <a:r>
              <a:rPr lang="en-US" altLang="ko-KR" dirty="0"/>
              <a:t>) {</a:t>
            </a:r>
          </a:p>
          <a:p>
            <a:r>
              <a:rPr lang="en-US" altLang="ko-KR" dirty="0"/>
              <a:t>  //...</a:t>
            </a:r>
          </a:p>
          <a:p>
            <a:r>
              <a:rPr lang="en-US" altLang="ko-KR" dirty="0"/>
              <a:t>}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141245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978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매 </a:t>
            </a:r>
            <a:r>
              <a:rPr lang="ko-KR" altLang="en-US" dirty="0" err="1" smtClean="0"/>
              <a:t>릴리즈마다</a:t>
            </a:r>
            <a:r>
              <a:rPr lang="ko-KR" altLang="en-US" dirty="0" smtClean="0"/>
              <a:t> 장벽을 개선하기 위해서라지만 패키지의 사이즈가 커지고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때문에 </a:t>
            </a:r>
            <a:r>
              <a:rPr lang="ko-KR" altLang="en-US" dirty="0" err="1" smtClean="0"/>
              <a:t>빌드</a:t>
            </a:r>
            <a:r>
              <a:rPr lang="ko-KR" altLang="en-US" dirty="0" smtClean="0"/>
              <a:t> 타임이 늘고 있다</a:t>
            </a:r>
            <a:r>
              <a:rPr lang="en-US" altLang="ko-KR" smtClean="0"/>
              <a:t>. 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1141245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tents Slide Master">
  <a:themeElements>
    <a:clrScheme name="Contents Slide Master">
      <a:dk1>
        <a:srgbClr val="3F3F3F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ontents Slide Master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ontents Slide 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ontents Slide Master">
  <a:themeElements>
    <a:clrScheme name="Contents Slide Mast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ontents Slide Master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ontents Slide 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1144</Words>
  <Application>Microsoft Office PowerPoint</Application>
  <PresentationFormat>화면 슬라이드 쇼(16:9)</PresentationFormat>
  <Paragraphs>163</Paragraphs>
  <Slides>31</Slides>
  <Notes>28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2" baseType="lpstr">
      <vt:lpstr>Contents Slide Master</vt:lpstr>
      <vt:lpstr>Kotlin</vt:lpstr>
      <vt:lpstr>발표자 소개</vt:lpstr>
      <vt:lpstr>The Reason</vt:lpstr>
      <vt:lpstr>1. 구글 vs 오라클</vt:lpstr>
      <vt:lpstr>구글 vs 오라클</vt:lpstr>
      <vt:lpstr> 수와 수치 표기법</vt:lpstr>
      <vt:lpstr> 수와 수치 표기법</vt:lpstr>
      <vt:lpstr> 수와 수치 표기법</vt:lpstr>
      <vt:lpstr>PowerPoint 프레젠테이션</vt:lpstr>
      <vt:lpstr> 수와 수치 표기법</vt:lpstr>
      <vt:lpstr>2. 떠오르는 코틀린</vt:lpstr>
      <vt:lpstr> 수와 수치 표기법</vt:lpstr>
      <vt:lpstr>PowerPoint 프레젠테이션</vt:lpstr>
      <vt:lpstr> 수와 수치 표기법</vt:lpstr>
      <vt:lpstr>3. 코틀린 vs 자바 </vt:lpstr>
      <vt:lpstr> 수와 수치 표기법</vt:lpstr>
      <vt:lpstr> 개발 툴 지원 </vt:lpstr>
      <vt:lpstr> 수와 수치 표기법</vt:lpstr>
      <vt:lpstr> 코틀린 VS 자바</vt:lpstr>
      <vt:lpstr> 코틀린 VS 자바</vt:lpstr>
      <vt:lpstr>4. 결국에는 코틀린</vt:lpstr>
      <vt:lpstr> 코틀린 VS 자바</vt:lpstr>
      <vt:lpstr> 코틀린 소개를 마치며...</vt:lpstr>
      <vt:lpstr>Thank you</vt:lpstr>
      <vt:lpstr> 코틀린 VS 자바</vt:lpstr>
      <vt:lpstr> 코틀린 VS 자바</vt:lpstr>
      <vt:lpstr> 코틀린 VS 자바</vt:lpstr>
      <vt:lpstr> 코틀린 VS 자바</vt:lpstr>
      <vt:lpstr> 코틀린 VS 자바</vt:lpstr>
      <vt:lpstr> 코틀린 VS 자바</vt:lpstr>
      <vt:lpstr> 코틀린 VS 자바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Code Understanding the Machine</dc:title>
  <dc:creator>CZ-shmun-N1</dc:creator>
  <cp:lastModifiedBy>Windows 사용자</cp:lastModifiedBy>
  <cp:revision>74</cp:revision>
  <dcterms:modified xsi:type="dcterms:W3CDTF">2017-10-24T08:06:27Z</dcterms:modified>
</cp:coreProperties>
</file>