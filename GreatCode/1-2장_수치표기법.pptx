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3" r:id="rId26"/>
    <p:sldId id="281" r:id="rId27"/>
    <p:sldId id="282" r:id="rId28"/>
    <p:sldId id="284" r:id="rId29"/>
    <p:sldId id="285" r:id="rId30"/>
    <p:sldId id="286" r:id="rId31"/>
    <p:sldId id="287" r:id="rId32"/>
    <p:sldId id="288" r:id="rId33"/>
    <p:sldId id="329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30" r:id="rId45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1" i="0" u="none" strike="noStrike" cap="none" spc="0" normalizeH="0" baseline="0">
        <a:ln>
          <a:noFill/>
        </a:ln>
        <a:solidFill>
          <a:srgbClr val="3F3F3F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3F3F3F"/>
        </a:fontRef>
        <a:srgbClr val="3F3F3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F3F3F"/>
        </a:fontRef>
        <a:srgbClr val="3F3F3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F3F3F"/>
              </a:solidFill>
              <a:prstDash val="solid"/>
              <a:round/>
            </a:ln>
          </a:top>
          <a:bottom>
            <a:ln w="25400" cap="flat">
              <a:solidFill>
                <a:srgbClr val="3F3F3F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F3F3F"/>
              </a:solidFill>
              <a:prstDash val="solid"/>
              <a:round/>
            </a:ln>
          </a:top>
          <a:bottom>
            <a:ln w="25400" cap="flat">
              <a:solidFill>
                <a:srgbClr val="3F3F3F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849" autoAdjust="0"/>
  </p:normalViewPr>
  <p:slideViewPr>
    <p:cSldViewPr>
      <p:cViewPr>
        <p:scale>
          <a:sx n="75" d="100"/>
          <a:sy n="75" d="100"/>
        </p:scale>
        <p:origin x="-2436" y="-7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40" name="Shape 24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351729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>
        <a:latin typeface="+mn-lt"/>
        <a:ea typeface="+mn-ea"/>
        <a:cs typeface="+mn-cs"/>
        <a:sym typeface="Helvetica Neue"/>
      </a:defRPr>
    </a:lvl1pPr>
    <a:lvl2pPr indent="228600" latinLnBrk="0">
      <a:defRPr>
        <a:latin typeface="+mn-lt"/>
        <a:ea typeface="+mn-ea"/>
        <a:cs typeface="+mn-cs"/>
        <a:sym typeface="Helvetica Neue"/>
      </a:defRPr>
    </a:lvl2pPr>
    <a:lvl3pPr indent="457200" latinLnBrk="0">
      <a:defRPr>
        <a:latin typeface="+mn-lt"/>
        <a:ea typeface="+mn-ea"/>
        <a:cs typeface="+mn-cs"/>
        <a:sym typeface="Helvetica Neue"/>
      </a:defRPr>
    </a:lvl3pPr>
    <a:lvl4pPr indent="685800" latinLnBrk="0">
      <a:defRPr>
        <a:latin typeface="+mn-lt"/>
        <a:ea typeface="+mn-ea"/>
        <a:cs typeface="+mn-cs"/>
        <a:sym typeface="Helvetica Neue"/>
      </a:defRPr>
    </a:lvl4pPr>
    <a:lvl5pPr indent="914400" latinLnBrk="0">
      <a:defRPr>
        <a:latin typeface="+mn-lt"/>
        <a:ea typeface="+mn-ea"/>
        <a:cs typeface="+mn-cs"/>
        <a:sym typeface="Helvetica Neue"/>
      </a:defRPr>
    </a:lvl5pPr>
    <a:lvl6pPr indent="1143000" latinLnBrk="0">
      <a:defRPr>
        <a:latin typeface="+mn-lt"/>
        <a:ea typeface="+mn-ea"/>
        <a:cs typeface="+mn-cs"/>
        <a:sym typeface="Helvetica Neue"/>
      </a:defRPr>
    </a:lvl6pPr>
    <a:lvl7pPr indent="1371600" latinLnBrk="0">
      <a:defRPr>
        <a:latin typeface="+mn-lt"/>
        <a:ea typeface="+mn-ea"/>
        <a:cs typeface="+mn-cs"/>
        <a:sym typeface="Helvetica Neue"/>
      </a:defRPr>
    </a:lvl7pPr>
    <a:lvl8pPr indent="1600200" latinLnBrk="0">
      <a:defRPr>
        <a:latin typeface="+mn-lt"/>
        <a:ea typeface="+mn-ea"/>
        <a:cs typeface="+mn-cs"/>
        <a:sym typeface="Helvetica Neue"/>
      </a:defRPr>
    </a:lvl8pPr>
    <a:lvl9pPr indent="1828800" latinLnBrk="0">
      <a:defRPr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45" name="Shape 24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 smtClean="0"/>
              <a:t>발표</a:t>
            </a:r>
            <a:r>
              <a:rPr dirty="0" smtClean="0"/>
              <a:t> </a:t>
            </a:r>
            <a:r>
              <a:rPr dirty="0" err="1"/>
              <a:t>시작하겠습니다</a:t>
            </a:r>
            <a:r>
              <a:rPr dirty="0" smtClean="0"/>
              <a:t>.</a:t>
            </a:r>
            <a:r>
              <a:rPr lang="en-US" dirty="0" smtClean="0"/>
              <a:t> </a:t>
            </a:r>
            <a:r>
              <a:rPr lang="ko-KR" altLang="en-US" dirty="0" smtClean="0"/>
              <a:t>제가 오늘부터 발표하게 될 내용은 </a:t>
            </a:r>
            <a:r>
              <a:rPr lang="ko-KR" altLang="en-US" dirty="0" err="1" smtClean="0"/>
              <a:t>렌달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하이드</a:t>
            </a:r>
            <a:r>
              <a:rPr lang="ko-KR" altLang="en-US" dirty="0" smtClean="0"/>
              <a:t> 저자의 </a:t>
            </a:r>
            <a:r>
              <a:rPr lang="en-US" altLang="ko-KR" dirty="0" err="1" smtClean="0"/>
              <a:t>GreatCode</a:t>
            </a:r>
            <a:r>
              <a:rPr lang="ko-KR" altLang="en-US" dirty="0" smtClean="0"/>
              <a:t> 라는 책을 주제로 발표하게 됐습니다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우선 제 소개이고요</a:t>
            </a:r>
            <a:r>
              <a:rPr lang="en-US" altLang="ko-KR" dirty="0" smtClean="0"/>
              <a:t>. </a:t>
            </a:r>
            <a:endParaRPr lang="en-US" altLang="ko-KR" dirty="0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smtClean="0"/>
              <a:t>우선 제 소개이고요</a:t>
            </a:r>
            <a:r>
              <a:rPr lang="en-US" altLang="ko-KR" dirty="0" smtClean="0"/>
              <a:t>. </a:t>
            </a:r>
            <a:r>
              <a:rPr lang="ko-KR" altLang="en-US" dirty="0" smtClean="0"/>
              <a:t>제 소개를 간략히 하자면 </a:t>
            </a:r>
            <a:r>
              <a:rPr lang="en-US" altLang="ko-KR" dirty="0" smtClean="0"/>
              <a:t>2015</a:t>
            </a:r>
            <a:r>
              <a:rPr lang="ko-KR" altLang="en-US" dirty="0" smtClean="0"/>
              <a:t>년부터 자바 웹 개발로 </a:t>
            </a:r>
            <a:r>
              <a:rPr lang="ko-KR" altLang="en-US" dirty="0" err="1" smtClean="0"/>
              <a:t>개발일을</a:t>
            </a:r>
            <a:r>
              <a:rPr lang="ko-KR" altLang="en-US" dirty="0" smtClean="0"/>
              <a:t> 시작했고</a:t>
            </a:r>
            <a:r>
              <a:rPr lang="en-US" altLang="ko-KR" dirty="0" smtClean="0"/>
              <a:t>,</a:t>
            </a:r>
            <a:r>
              <a:rPr lang="ko-KR" altLang="en-US" baseline="0" dirty="0" smtClean="0"/>
              <a:t> </a:t>
            </a:r>
            <a:r>
              <a:rPr lang="ko-KR" altLang="en-US" dirty="0" smtClean="0"/>
              <a:t>현재는 </a:t>
            </a:r>
            <a:r>
              <a:rPr lang="ko-KR" altLang="en-US" dirty="0" err="1" smtClean="0"/>
              <a:t>핀테크</a:t>
            </a:r>
            <a:r>
              <a:rPr lang="ko-KR" altLang="en-US" dirty="0" smtClean="0"/>
              <a:t> 관련 회사에서 개발 및 유지보수를 담당하고 있습니다</a:t>
            </a:r>
            <a:r>
              <a:rPr lang="en-US" altLang="ko-KR" dirty="0" smtClean="0"/>
              <a:t>. </a:t>
            </a:r>
          </a:p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smtClean="0"/>
              <a:t>옆에는 간략히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이메일주고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깃허브</a:t>
            </a:r>
            <a:r>
              <a:rPr lang="ko-KR" altLang="en-US" baseline="0" dirty="0" smtClean="0"/>
              <a:t> 저장소  </a:t>
            </a:r>
            <a:r>
              <a:rPr lang="en-US" altLang="ko-KR" baseline="0" dirty="0" err="1" smtClean="0"/>
              <a:t>url</a:t>
            </a:r>
            <a:r>
              <a:rPr lang="ko-KR" altLang="en-US" baseline="0" dirty="0" smtClean="0"/>
              <a:t>이 있고요</a:t>
            </a:r>
            <a:r>
              <a:rPr lang="en-US" altLang="ko-KR" baseline="0" dirty="0" smtClean="0"/>
              <a:t>.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3978467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297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98" name="Shape 2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 smtClean="0"/>
              <a:t>목차 들어가겠습니다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첫번째로</a:t>
            </a:r>
            <a:r>
              <a:rPr lang="ko-KR" altLang="en-US" dirty="0" smtClean="0"/>
              <a:t> 간략히 전체 책과 저자 소개</a:t>
            </a:r>
            <a:r>
              <a:rPr lang="en-US" altLang="ko-KR" dirty="0" smtClean="0"/>
              <a:t>,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수와 수치 표기법 개념 그리고 이 수와 수치표기법의 개념들이 컴퓨터에서 어떻게 사용이 되는지 순서로 발표 진행하겠습니다</a:t>
            </a:r>
            <a:r>
              <a:rPr lang="en-US" altLang="ko-KR" baseline="0" dirty="0" smtClean="0"/>
              <a:t>. </a:t>
            </a:r>
            <a:endParaRPr lang="en-US" dirty="0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30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08" name="Shape 30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 smtClean="0"/>
              <a:t>자</a:t>
            </a:r>
            <a:r>
              <a:rPr lang="en-US" altLang="ko-KR" dirty="0" smtClean="0"/>
              <a:t>!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저자 및 책 소개 입니다</a:t>
            </a:r>
            <a:r>
              <a:rPr lang="en-US" altLang="ko-KR" baseline="0" dirty="0" smtClean="0"/>
              <a:t>. </a:t>
            </a:r>
            <a:r>
              <a:rPr lang="en-US" altLang="ko-KR" dirty="0" err="1" smtClean="0"/>
              <a:t>Great</a:t>
            </a:r>
            <a:r>
              <a:rPr lang="en-US" altLang="ko-KR" baseline="0" dirty="0" err="1" smtClean="0"/>
              <a:t>Code</a:t>
            </a:r>
            <a:r>
              <a:rPr lang="ko-KR" altLang="en-US" baseline="0" dirty="0" smtClean="0"/>
              <a:t>의 </a:t>
            </a:r>
            <a:r>
              <a:rPr dirty="0" err="1" smtClean="0"/>
              <a:t>원제</a:t>
            </a:r>
            <a:r>
              <a:rPr lang="ko-KR" altLang="en-US" dirty="0" smtClean="0"/>
              <a:t>는</a:t>
            </a:r>
            <a:r>
              <a:rPr dirty="0" smtClean="0"/>
              <a:t> </a:t>
            </a:r>
            <a:r>
              <a:rPr dirty="0"/>
              <a:t>Write Great </a:t>
            </a:r>
            <a:r>
              <a:rPr dirty="0" err="1"/>
              <a:t>Code</a:t>
            </a:r>
            <a:r>
              <a:rPr dirty="0" err="1" smtClean="0"/>
              <a:t>로</a:t>
            </a:r>
            <a:r>
              <a:rPr lang="en-US" dirty="0" smtClean="0"/>
              <a:t> 4</a:t>
            </a:r>
            <a:r>
              <a:rPr lang="ko-KR" altLang="en-US" dirty="0" smtClean="0"/>
              <a:t>권 시리즈로 쓰이려던 책이고</a:t>
            </a:r>
            <a:r>
              <a:rPr lang="en-US" altLang="ko-KR" dirty="0" smtClean="0"/>
              <a:t>,</a:t>
            </a:r>
            <a:r>
              <a:rPr dirty="0" smtClean="0"/>
              <a:t> </a:t>
            </a:r>
            <a:r>
              <a:rPr dirty="0"/>
              <a:t>1권은 understanding the machine, </a:t>
            </a:r>
            <a:r>
              <a:rPr dirty="0" err="1"/>
              <a:t>하드웨어</a:t>
            </a:r>
            <a:r>
              <a:rPr dirty="0"/>
              <a:t> </a:t>
            </a:r>
            <a:r>
              <a:rPr dirty="0" err="1"/>
              <a:t>레벨에서의</a:t>
            </a:r>
            <a:r>
              <a:rPr dirty="0"/>
              <a:t> </a:t>
            </a:r>
            <a:r>
              <a:rPr dirty="0" err="1"/>
              <a:t>동작을</a:t>
            </a:r>
            <a:r>
              <a:rPr dirty="0"/>
              <a:t> </a:t>
            </a:r>
            <a:r>
              <a:rPr dirty="0" err="1"/>
              <a:t>시작으로</a:t>
            </a:r>
            <a:r>
              <a:rPr dirty="0"/>
              <a:t> 2권 Thinking Low-level, Writing High-level </a:t>
            </a:r>
            <a:r>
              <a:rPr dirty="0" err="1"/>
              <a:t>컴파일러</a:t>
            </a:r>
            <a:r>
              <a:rPr dirty="0"/>
              <a:t> </a:t>
            </a:r>
            <a:r>
              <a:rPr dirty="0" err="1"/>
              <a:t>레벨</a:t>
            </a:r>
            <a:r>
              <a:rPr dirty="0"/>
              <a:t> 3권 Engineering software, 4권 Testing, Debugging and </a:t>
            </a:r>
            <a:r>
              <a:rPr dirty="0" err="1"/>
              <a:t>Assurance로</a:t>
            </a:r>
            <a:r>
              <a:rPr dirty="0"/>
              <a:t> </a:t>
            </a:r>
            <a:r>
              <a:rPr dirty="0" err="1"/>
              <a:t>구성해</a:t>
            </a:r>
            <a:r>
              <a:rPr dirty="0"/>
              <a:t> </a:t>
            </a:r>
            <a:r>
              <a:rPr dirty="0" err="1"/>
              <a:t>하드웨어에서부터</a:t>
            </a:r>
            <a:r>
              <a:rPr dirty="0"/>
              <a:t> 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테스트까지</a:t>
            </a:r>
            <a:r>
              <a:rPr dirty="0"/>
              <a:t> 전 </a:t>
            </a:r>
            <a:r>
              <a:rPr dirty="0" err="1"/>
              <a:t>레이어에</a:t>
            </a:r>
            <a:r>
              <a:rPr dirty="0"/>
              <a:t> </a:t>
            </a:r>
            <a:r>
              <a:rPr dirty="0" err="1"/>
              <a:t>걸쳐서</a:t>
            </a:r>
            <a:r>
              <a:rPr dirty="0"/>
              <a:t> </a:t>
            </a:r>
            <a:r>
              <a:rPr dirty="0" err="1"/>
              <a:t>설명하려고</a:t>
            </a:r>
            <a:r>
              <a:rPr dirty="0"/>
              <a:t> </a:t>
            </a:r>
            <a:r>
              <a:rPr dirty="0" err="1"/>
              <a:t>했던</a:t>
            </a:r>
            <a:r>
              <a:rPr dirty="0"/>
              <a:t> </a:t>
            </a:r>
            <a:r>
              <a:rPr dirty="0" err="1"/>
              <a:t>책인데</a:t>
            </a:r>
            <a:r>
              <a:rPr dirty="0"/>
              <a:t>.. </a:t>
            </a:r>
            <a:r>
              <a:rPr lang="ko-KR" altLang="en-US" dirty="0" smtClean="0"/>
              <a:t>인기가 없었는지 아니면 저자가 힘에 부쳐서 인지 </a:t>
            </a:r>
            <a:r>
              <a:rPr dirty="0" err="1" smtClean="0"/>
              <a:t>우리가</a:t>
            </a:r>
            <a:r>
              <a:rPr dirty="0" smtClean="0"/>
              <a:t> </a:t>
            </a:r>
            <a:r>
              <a:rPr dirty="0" err="1"/>
              <a:t>알고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1권 2권을 </a:t>
            </a:r>
            <a:r>
              <a:rPr dirty="0" err="1"/>
              <a:t>제외한</a:t>
            </a:r>
            <a:r>
              <a:rPr dirty="0"/>
              <a:t> </a:t>
            </a:r>
            <a:r>
              <a:rPr dirty="0" err="1"/>
              <a:t>나머지</a:t>
            </a:r>
            <a:r>
              <a:rPr dirty="0"/>
              <a:t> 3,4권은 </a:t>
            </a:r>
            <a:r>
              <a:rPr dirty="0" err="1"/>
              <a:t>출간되지</a:t>
            </a:r>
            <a:r>
              <a:rPr dirty="0"/>
              <a:t> </a:t>
            </a:r>
            <a:r>
              <a:rPr dirty="0" err="1"/>
              <a:t>않았습니다</a:t>
            </a:r>
            <a:r>
              <a:rPr dirty="0"/>
              <a:t>. </a:t>
            </a:r>
            <a:endParaRPr lang="en-US" dirty="0" smtClean="0"/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책의</a:t>
            </a:r>
            <a:r>
              <a:rPr dirty="0"/>
              <a:t> </a:t>
            </a:r>
            <a:r>
              <a:rPr dirty="0" err="1"/>
              <a:t>특징이라고</a:t>
            </a:r>
            <a:r>
              <a:rPr dirty="0"/>
              <a:t> </a:t>
            </a:r>
            <a:r>
              <a:rPr dirty="0" err="1"/>
              <a:t>하면</a:t>
            </a:r>
            <a:r>
              <a:rPr dirty="0"/>
              <a:t> </a:t>
            </a:r>
            <a:r>
              <a:rPr lang="ko-KR" altLang="en-US" dirty="0" smtClean="0"/>
              <a:t>제목은 위대한 코드를 </a:t>
            </a:r>
            <a:r>
              <a:rPr lang="ko-KR" altLang="en-US" dirty="0" err="1" smtClean="0"/>
              <a:t>써라지만</a:t>
            </a:r>
            <a:r>
              <a:rPr lang="ko-KR" altLang="en-US" dirty="0" smtClean="0"/>
              <a:t> </a:t>
            </a:r>
            <a:r>
              <a:rPr dirty="0" smtClean="0"/>
              <a:t>특</a:t>
            </a:r>
            <a:r>
              <a:rPr lang="ko-KR" altLang="en-US" dirty="0" err="1" smtClean="0"/>
              <a:t>별히</a:t>
            </a:r>
            <a:r>
              <a:rPr dirty="0" smtClean="0"/>
              <a:t> </a:t>
            </a:r>
            <a:r>
              <a:rPr dirty="0" err="1"/>
              <a:t>프로그래밍적인</a:t>
            </a:r>
            <a:r>
              <a:rPr dirty="0"/>
              <a:t>  </a:t>
            </a:r>
            <a:r>
              <a:rPr dirty="0" err="1"/>
              <a:t>대부분의</a:t>
            </a:r>
            <a:r>
              <a:rPr dirty="0"/>
              <a:t> </a:t>
            </a:r>
            <a:r>
              <a:rPr dirty="0" err="1"/>
              <a:t>설명들이</a:t>
            </a:r>
            <a:r>
              <a:rPr dirty="0"/>
              <a:t> </a:t>
            </a:r>
            <a:r>
              <a:rPr dirty="0" err="1"/>
              <a:t>예제와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제공되지</a:t>
            </a:r>
            <a:r>
              <a:rPr dirty="0"/>
              <a:t> </a:t>
            </a:r>
            <a:r>
              <a:rPr dirty="0" err="1"/>
              <a:t>않습니다</a:t>
            </a:r>
            <a:r>
              <a:rPr dirty="0"/>
              <a:t>. </a:t>
            </a:r>
            <a:r>
              <a:rPr dirty="0" err="1" smtClean="0"/>
              <a:t>아예</a:t>
            </a:r>
            <a:r>
              <a:rPr dirty="0" smtClean="0"/>
              <a:t> </a:t>
            </a:r>
            <a:r>
              <a:rPr dirty="0" err="1"/>
              <a:t>코드레벨이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부분은</a:t>
            </a:r>
            <a:r>
              <a:rPr dirty="0"/>
              <a:t> </a:t>
            </a:r>
            <a:r>
              <a:rPr dirty="0" err="1"/>
              <a:t>단순한</a:t>
            </a:r>
            <a:r>
              <a:rPr dirty="0"/>
              <a:t> </a:t>
            </a:r>
            <a:r>
              <a:rPr dirty="0" err="1"/>
              <a:t>알고리즘</a:t>
            </a:r>
            <a:r>
              <a:rPr dirty="0"/>
              <a:t> </a:t>
            </a:r>
            <a:r>
              <a:rPr dirty="0" err="1"/>
              <a:t>설명으로</a:t>
            </a:r>
            <a:r>
              <a:rPr dirty="0"/>
              <a:t> </a:t>
            </a:r>
            <a:r>
              <a:rPr dirty="0" err="1" smtClean="0"/>
              <a:t>대체</a:t>
            </a:r>
            <a:r>
              <a:rPr lang="ko-KR" altLang="en-US" dirty="0" err="1" smtClean="0"/>
              <a:t>한것이</a:t>
            </a:r>
            <a:r>
              <a:rPr lang="ko-KR" altLang="en-US" dirty="0" smtClean="0"/>
              <a:t> 특징입니다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그리고 소주제의 </a:t>
            </a:r>
            <a:r>
              <a:rPr lang="ko-KR" altLang="en-US" dirty="0" err="1" smtClean="0"/>
              <a:t>마지막부분은</a:t>
            </a:r>
            <a:r>
              <a:rPr lang="ko-KR" altLang="en-US" dirty="0" smtClean="0"/>
              <a:t> 더 알아보고 싶으면 </a:t>
            </a:r>
            <a:r>
              <a:rPr lang="ko-KR" altLang="en-US" dirty="0" err="1" smtClean="0"/>
              <a:t>무엇무엇을</a:t>
            </a:r>
            <a:r>
              <a:rPr lang="ko-KR" altLang="en-US" dirty="0" smtClean="0"/>
              <a:t> 참조해라</a:t>
            </a:r>
            <a:r>
              <a:rPr lang="en-US" altLang="ko-KR" dirty="0" smtClean="0"/>
              <a:t>. </a:t>
            </a:r>
            <a:r>
              <a:rPr lang="ko-KR" altLang="en-US" dirty="0" smtClean="0"/>
              <a:t>같이 관심이 있는 사람들에 대해 특별히 배려한 모습입니다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근데 그 참조하라는 부분이 </a:t>
            </a:r>
            <a:r>
              <a:rPr lang="ko-KR" altLang="en-US" baseline="0" dirty="0" err="1" smtClean="0"/>
              <a:t>랜달하이드의</a:t>
            </a:r>
            <a:r>
              <a:rPr lang="ko-KR" altLang="en-US" baseline="0" dirty="0" smtClean="0"/>
              <a:t> 다른 책</a:t>
            </a:r>
            <a:r>
              <a:rPr lang="en-US" altLang="ko-KR" baseline="0" dirty="0" smtClean="0"/>
              <a:t>, The Art of Assembly Language</a:t>
            </a:r>
            <a:r>
              <a:rPr lang="ko-KR" altLang="en-US" baseline="0" dirty="0" smtClean="0"/>
              <a:t>가 대부분이죠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 smtClean="0"/>
          </a:p>
          <a:p>
            <a:r>
              <a:rPr lang="ko-KR" altLang="en-US" dirty="0" smtClean="0"/>
              <a:t>수와 </a:t>
            </a:r>
            <a:r>
              <a:rPr lang="ko-KR" altLang="en-US" dirty="0" err="1" smtClean="0"/>
              <a:t>수체계의</a:t>
            </a:r>
            <a:r>
              <a:rPr lang="ko-KR" altLang="en-US" dirty="0" smtClean="0"/>
              <a:t> 개념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수는 막연하고 추상적이며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또 개념적인 내용인 동시에 양을 나타내는 지적 도구이고 </a:t>
            </a:r>
            <a:r>
              <a:rPr lang="ko-KR" altLang="en-US" dirty="0" err="1" smtClean="0"/>
              <a:t>수체계는</a:t>
            </a:r>
            <a:r>
              <a:rPr lang="ko-KR" altLang="en-US" dirty="0" smtClean="0"/>
              <a:t> 그 개념을 표현하기 위한 도구</a:t>
            </a:r>
            <a:r>
              <a:rPr lang="en-US" altLang="ko-KR" dirty="0" smtClean="0"/>
              <a:t>. 100, 64(16), 0110 0100(2), </a:t>
            </a:r>
            <a:r>
              <a:rPr lang="ko-KR" altLang="en-US" dirty="0" smtClean="0"/>
              <a:t>백 </a:t>
            </a:r>
            <a:r>
              <a:rPr lang="en-US" altLang="ko-KR" dirty="0" smtClean="0"/>
              <a:t>--&gt; </a:t>
            </a:r>
            <a:r>
              <a:rPr lang="ko-KR" altLang="en-US" dirty="0" smtClean="0"/>
              <a:t>나열 된 것들은 모습은 다르지만 모두 같은 양의 개념을 설명한다는 것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이런 수치 표현은 이제 실제 </a:t>
            </a:r>
            <a:r>
              <a:rPr lang="ko-KR" altLang="en-US" dirty="0" err="1" smtClean="0"/>
              <a:t>알고리즘등을</a:t>
            </a:r>
            <a:r>
              <a:rPr lang="ko-KR" altLang="en-US" dirty="0" smtClean="0"/>
              <a:t> 정확하고 효과적으로 동작하기 위해 의존하는데 이론적인 의미의 수와 수치 표기법에 대한 차이를 이해하지 못한다면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알고리즘을 이해하고 사용하고 만드는 데 큰 어려움을 겪게 될 것이다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예를 들어 무인도가서 하루 지나 갈 때마다 바위에다가 체크 하잖아요</a:t>
            </a:r>
            <a:r>
              <a:rPr lang="en-US" altLang="ko-KR" dirty="0" smtClean="0"/>
              <a:t>? </a:t>
            </a:r>
            <a:r>
              <a:rPr lang="ko-KR" altLang="en-US" dirty="0" smtClean="0"/>
              <a:t>이 표기법을 하나씩 체크하는 것을 산가지 표기법이라고 하는데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잔가지 표기법을 이용해서 만드는 알고리즘과 이진법을 이용해서 만드는 알고리즘의 성능은 크게 차이가 날 것이다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그래서 이 수와 수치표기법에 대해 정확히 아는 것은 </a:t>
            </a:r>
            <a:r>
              <a:rPr lang="ko-KR" altLang="en-US" dirty="0" err="1" smtClean="0"/>
              <a:t>여러가지</a:t>
            </a:r>
            <a:r>
              <a:rPr lang="ko-KR" altLang="en-US" dirty="0" smtClean="0"/>
              <a:t> 알고리즘을 쉽게 해결 해 줄 수 있는 해결책이 될 수 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잘 </a:t>
            </a:r>
            <a:r>
              <a:rPr lang="ko-KR" altLang="en-US" dirty="0" err="1" smtClean="0"/>
              <a:t>알고있으면</a:t>
            </a:r>
            <a:r>
              <a:rPr lang="ko-KR" altLang="en-US" dirty="0" smtClean="0"/>
              <a:t> 상황에 맞는 </a:t>
            </a:r>
            <a:r>
              <a:rPr lang="ko-KR" altLang="en-US" dirty="0" err="1" smtClean="0"/>
              <a:t>수체계를</a:t>
            </a:r>
            <a:r>
              <a:rPr lang="ko-KR" altLang="en-US" dirty="0" smtClean="0"/>
              <a:t> 쓸 수 있으니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더 효율적으로 알고리즘을 만들 수 있겠죠</a:t>
            </a:r>
            <a:r>
              <a:rPr lang="en-US" altLang="ko-KR" dirty="0" smtClean="0"/>
              <a:t>? </a:t>
            </a:r>
            <a:r>
              <a:rPr lang="ko-KR" altLang="en-US" dirty="0" smtClean="0"/>
              <a:t>여러분이 지금 공부하고 계시는 자료구조</a:t>
            </a:r>
            <a:r>
              <a:rPr lang="en-US" altLang="ko-KR" dirty="0" smtClean="0"/>
              <a:t>, </a:t>
            </a:r>
            <a:r>
              <a:rPr lang="ko-KR" altLang="en-US" dirty="0" smtClean="0"/>
              <a:t>내가 큐를 써야 하는데 </a:t>
            </a:r>
            <a:r>
              <a:rPr lang="ko-KR" altLang="en-US" dirty="0" err="1" smtClean="0"/>
              <a:t>스택</a:t>
            </a:r>
            <a:r>
              <a:rPr lang="ko-KR" altLang="en-US" dirty="0" smtClean="0"/>
              <a:t> 구조를 사용해서 처리했다고 해봅시다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일일이 집어넣고 뒤집어 </a:t>
            </a:r>
            <a:r>
              <a:rPr lang="ko-KR" altLang="en-US" dirty="0" err="1" smtClean="0"/>
              <a:t>주고하는</a:t>
            </a:r>
            <a:r>
              <a:rPr lang="ko-KR" altLang="en-US" dirty="0" smtClean="0"/>
              <a:t> 일련의 작업을 한 작업으로 처리해야 할 수 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좀 더 크게 나가면 자료구조 역시도 수치표기로 볼 수 있다</a:t>
            </a:r>
            <a:r>
              <a:rPr lang="en-US" altLang="ko-KR" dirty="0" smtClean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198946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방법은 다르지만 모두 백</a:t>
            </a:r>
            <a:r>
              <a:rPr lang="en-US" altLang="ko-KR" dirty="0" smtClean="0"/>
              <a:t>, 100,</a:t>
            </a:r>
            <a:r>
              <a:rPr lang="en-US" altLang="ko-KR" baseline="0" dirty="0" smtClean="0"/>
              <a:t> 16</a:t>
            </a:r>
            <a:r>
              <a:rPr lang="ko-KR" altLang="en-US" baseline="0" dirty="0" smtClean="0"/>
              <a:t>진수의 </a:t>
            </a:r>
            <a:r>
              <a:rPr lang="en-US" altLang="ko-KR" baseline="0" dirty="0" smtClean="0"/>
              <a:t>64</a:t>
            </a:r>
            <a:r>
              <a:rPr lang="ko-KR" altLang="en-US" baseline="0" dirty="0" smtClean="0"/>
              <a:t>라고 얘기하면 모두 다른 말로 표현을 했지만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같은 양을 떠올릴 수 </a:t>
            </a:r>
            <a:r>
              <a:rPr lang="ko-KR" altLang="en-US" baseline="0" dirty="0" err="1" smtClean="0"/>
              <a:t>있는거죠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한마디로 </a:t>
            </a:r>
            <a:r>
              <a:rPr lang="en-US" altLang="ko-KR" baseline="0" dirty="0" smtClean="0"/>
              <a:t>[</a:t>
            </a:r>
            <a:r>
              <a:rPr lang="ko-KR" altLang="en-US" baseline="0" dirty="0" err="1" smtClean="0"/>
              <a:t>주먹쥐며</a:t>
            </a:r>
            <a:r>
              <a:rPr lang="en-US" altLang="ko-KR" baseline="0" dirty="0" smtClean="0"/>
              <a:t>-</a:t>
            </a:r>
            <a:r>
              <a:rPr lang="ko-KR" altLang="en-US" baseline="0" dirty="0" smtClean="0"/>
              <a:t>이렇게 사람이 있으면 한쪽에서 한쪽으로</a:t>
            </a:r>
            <a:r>
              <a:rPr lang="en-US" altLang="ko-KR" baseline="0" dirty="0" smtClean="0"/>
              <a:t>]</a:t>
            </a:r>
            <a:r>
              <a:rPr lang="ko-KR" altLang="en-US" baseline="0" dirty="0" smtClean="0"/>
              <a:t>양의 개념을 전달하는 수단입니다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얘가 생각하고 있는 크기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양 자체가 수이고요</a:t>
            </a:r>
            <a:r>
              <a:rPr lang="en-US" altLang="ko-KR" baseline="0" dirty="0" smtClean="0"/>
              <a:t>.</a:t>
            </a:r>
          </a:p>
          <a:p>
            <a:r>
              <a:rPr lang="en-US" altLang="ko-KR" dirty="0" smtClean="0"/>
              <a:t>[</a:t>
            </a:r>
            <a:r>
              <a:rPr lang="ko-KR" altLang="en-US" dirty="0" smtClean="0"/>
              <a:t>한 타이밍 쉬고</a:t>
            </a:r>
            <a:r>
              <a:rPr lang="en-US" altLang="ko-KR" dirty="0" smtClean="0"/>
              <a:t>]</a:t>
            </a:r>
          </a:p>
          <a:p>
            <a:r>
              <a:rPr lang="ko-KR" altLang="en-US" dirty="0" smtClean="0"/>
              <a:t>산가지 표기법이라고 들어보셨나요</a:t>
            </a:r>
            <a:endParaRPr lang="en-US" altLang="ko-KR" dirty="0" smtClean="0"/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8465030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뭐 어디 외국 영화나 드라마 </a:t>
            </a:r>
            <a:r>
              <a:rPr lang="ko-KR" altLang="en-US" dirty="0" err="1" smtClean="0"/>
              <a:t>같은데서</a:t>
            </a:r>
            <a:r>
              <a:rPr lang="ko-KR" altLang="en-US" dirty="0" smtClean="0"/>
              <a:t> 무인도에 조난 당하면 나무나 바위 같은데다가 하나씩 긋고 </a:t>
            </a:r>
            <a:r>
              <a:rPr lang="en-US" altLang="ko-KR" dirty="0" smtClean="0"/>
              <a:t>5</a:t>
            </a:r>
            <a:r>
              <a:rPr lang="ko-KR" altLang="en-US" dirty="0" smtClean="0"/>
              <a:t>개 되면</a:t>
            </a:r>
            <a:r>
              <a:rPr lang="en-US" altLang="ko-KR" dirty="0" smtClean="0"/>
              <a:t>,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옆에 칸에다가 쭉 그어주고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이렇게 </a:t>
            </a:r>
            <a:r>
              <a:rPr lang="ko-KR" altLang="en-US" baseline="0" dirty="0" err="1" smtClean="0"/>
              <a:t>표기하는게</a:t>
            </a:r>
            <a:r>
              <a:rPr lang="ko-KR" altLang="en-US" baseline="0" dirty="0" smtClean="0"/>
              <a:t> 산가지 표기법인데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3959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27" name="Shape 32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 smtClean="0"/>
              <a:t>근데 우리가</a:t>
            </a:r>
            <a:r>
              <a:rPr lang="en-US" altLang="ko-KR" baseline="0" dirty="0" smtClean="0"/>
              <a:t> </a:t>
            </a:r>
            <a:r>
              <a:rPr lang="ko-KR" altLang="en-US" dirty="0" smtClean="0"/>
              <a:t>저기 하나씩 그어서 표기하는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이 산가지 표기법을 이용해서 </a:t>
            </a:r>
            <a:r>
              <a:rPr lang="ko-KR" altLang="en-US" baseline="0" dirty="0" err="1" smtClean="0"/>
              <a:t>재무재표를</a:t>
            </a:r>
            <a:r>
              <a:rPr lang="ko-KR" altLang="en-US" baseline="0" dirty="0" smtClean="0"/>
              <a:t> 작성하려고 한다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이게 말이 될까요</a:t>
            </a:r>
            <a:r>
              <a:rPr lang="en-US" altLang="ko-KR" baseline="0" dirty="0" smtClean="0"/>
              <a:t>? </a:t>
            </a:r>
            <a:r>
              <a:rPr lang="ko-KR" altLang="en-US" baseline="0" dirty="0" smtClean="0"/>
              <a:t>예 말도 </a:t>
            </a:r>
            <a:r>
              <a:rPr lang="ko-KR" altLang="en-US" baseline="0" dirty="0" err="1" smtClean="0"/>
              <a:t>안되는</a:t>
            </a:r>
            <a:r>
              <a:rPr lang="ko-KR" altLang="en-US" baseline="0" dirty="0" smtClean="0"/>
              <a:t> 얘기죠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우리가 알고리즘을 해결 할 때 </a:t>
            </a:r>
            <a:r>
              <a:rPr dirty="0" err="1" smtClean="0"/>
              <a:t>적절한</a:t>
            </a:r>
            <a:r>
              <a:rPr dirty="0" smtClean="0"/>
              <a:t> </a:t>
            </a:r>
            <a:r>
              <a:rPr lang="ko-KR" altLang="en-US" dirty="0" smtClean="0"/>
              <a:t>자료구조를 </a:t>
            </a:r>
            <a:r>
              <a:rPr dirty="0" err="1" smtClean="0"/>
              <a:t>사용해</a:t>
            </a:r>
            <a:r>
              <a:rPr lang="ko-KR" altLang="en-US" dirty="0" smtClean="0"/>
              <a:t>서 하지 않으면 문제가 오히려 복잡해지기도 하는데 적절히 사용한다면</a:t>
            </a:r>
            <a:r>
              <a:rPr lang="ko-KR" altLang="en-US" baseline="0" dirty="0" smtClean="0"/>
              <a:t> 문제를 쉽게 처리할 수 있잖아요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버퍼를 </a:t>
            </a:r>
            <a:r>
              <a:rPr lang="ko-KR" altLang="en-US" baseline="0" dirty="0" err="1" smtClean="0"/>
              <a:t>만들어야되는데</a:t>
            </a:r>
            <a:r>
              <a:rPr lang="ko-KR" altLang="en-US" baseline="0" dirty="0" smtClean="0"/>
              <a:t> 큐 구조를 이용해야 되는데 </a:t>
            </a:r>
            <a:r>
              <a:rPr lang="ko-KR" altLang="en-US" baseline="0" dirty="0" err="1" smtClean="0"/>
              <a:t>스택</a:t>
            </a:r>
            <a:r>
              <a:rPr lang="ko-KR" altLang="en-US" baseline="0" dirty="0" smtClean="0"/>
              <a:t> 구조로 </a:t>
            </a:r>
            <a:r>
              <a:rPr lang="ko-KR" altLang="en-US" baseline="0" dirty="0" err="1" smtClean="0"/>
              <a:t>만들었다해봐요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만들고</a:t>
            </a:r>
            <a:r>
              <a:rPr lang="en-US" altLang="ko-KR" baseline="0" dirty="0" smtClean="0"/>
              <a:t> reverse</a:t>
            </a:r>
            <a:r>
              <a:rPr lang="ko-KR" altLang="en-US" baseline="0" dirty="0" smtClean="0"/>
              <a:t>해서 뒤집어 주고</a:t>
            </a:r>
            <a:r>
              <a:rPr lang="en-US" altLang="ko-KR" baseline="0" dirty="0" smtClean="0"/>
              <a:t>.. </a:t>
            </a:r>
            <a:r>
              <a:rPr lang="ko-KR" altLang="en-US" baseline="0" dirty="0" smtClean="0"/>
              <a:t>굉장히 복잡해지겠죠</a:t>
            </a:r>
            <a:r>
              <a:rPr lang="en-US" altLang="ko-KR" baseline="0" dirty="0" smtClean="0"/>
              <a:t>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그래서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우리는 이렇게 표현하지 않고 진법 체계를 사용합니다</a:t>
            </a:r>
            <a:r>
              <a:rPr lang="en-US" altLang="ko-KR" baseline="0" dirty="0" smtClean="0"/>
              <a:t>. 0</a:t>
            </a:r>
            <a:r>
              <a:rPr lang="ko-KR" altLang="en-US" baseline="0" dirty="0" smtClean="0"/>
              <a:t>과 </a:t>
            </a:r>
            <a:r>
              <a:rPr lang="en-US" altLang="ko-KR" baseline="0" dirty="0" smtClean="0"/>
              <a:t>1</a:t>
            </a:r>
            <a:r>
              <a:rPr lang="ko-KR" altLang="en-US" baseline="0" dirty="0" smtClean="0"/>
              <a:t>만을 사용하는 </a:t>
            </a:r>
            <a:r>
              <a:rPr lang="en-US" altLang="ko-KR" baseline="0" dirty="0" smtClean="0"/>
              <a:t>2</a:t>
            </a:r>
            <a:r>
              <a:rPr lang="ko-KR" altLang="en-US" baseline="0" dirty="0" smtClean="0"/>
              <a:t>진법</a:t>
            </a:r>
            <a:r>
              <a:rPr lang="en-US" altLang="ko-KR" baseline="0" dirty="0" smtClean="0"/>
              <a:t>, 0,1,2</a:t>
            </a:r>
            <a:r>
              <a:rPr lang="ko-KR" altLang="en-US" baseline="0" dirty="0" smtClean="0"/>
              <a:t>부터 </a:t>
            </a:r>
            <a:r>
              <a:rPr lang="en-US" altLang="ko-KR" baseline="0" dirty="0" smtClean="0"/>
              <a:t>7</a:t>
            </a:r>
            <a:r>
              <a:rPr lang="ko-KR" altLang="en-US" baseline="0" dirty="0" smtClean="0"/>
              <a:t>까지 사용하는 </a:t>
            </a:r>
            <a:r>
              <a:rPr lang="en-US" altLang="ko-KR" baseline="0" dirty="0" smtClean="0"/>
              <a:t>8</a:t>
            </a:r>
            <a:r>
              <a:rPr lang="ko-KR" altLang="en-US" baseline="0" dirty="0" smtClean="0"/>
              <a:t>진법 그리고 </a:t>
            </a:r>
            <a:r>
              <a:rPr lang="en-US" altLang="ko-KR" baseline="0" dirty="0" smtClean="0"/>
              <a:t>16</a:t>
            </a:r>
            <a:r>
              <a:rPr lang="ko-KR" altLang="en-US" baseline="0" dirty="0" smtClean="0"/>
              <a:t>진법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그래서 우리는 </a:t>
            </a:r>
            <a:r>
              <a:rPr lang="en-US" altLang="ko-KR" baseline="0" dirty="0" smtClean="0"/>
              <a:t>0</a:t>
            </a:r>
            <a:r>
              <a:rPr lang="ko-KR" altLang="en-US" baseline="0" dirty="0" smtClean="0"/>
              <a:t>부터 </a:t>
            </a:r>
            <a:r>
              <a:rPr lang="en-US" altLang="ko-KR" baseline="0" dirty="0" smtClean="0"/>
              <a:t>n-1</a:t>
            </a:r>
            <a:r>
              <a:rPr lang="ko-KR" altLang="en-US" baseline="0" dirty="0" smtClean="0"/>
              <a:t>이 </a:t>
            </a:r>
            <a:r>
              <a:rPr lang="en-US" altLang="ko-KR" baseline="0" dirty="0" smtClean="0"/>
              <a:t>n</a:t>
            </a:r>
            <a:r>
              <a:rPr lang="ko-KR" altLang="en-US" baseline="0" dirty="0" smtClean="0"/>
              <a:t>진법이다 라는 </a:t>
            </a:r>
            <a:r>
              <a:rPr lang="ko-KR" altLang="en-US" baseline="0" dirty="0" err="1" smtClean="0"/>
              <a:t>일반식을</a:t>
            </a:r>
            <a:r>
              <a:rPr lang="ko-KR" altLang="en-US" baseline="0" dirty="0" smtClean="0"/>
              <a:t> 만들어 낼 수 있죠</a:t>
            </a:r>
            <a:r>
              <a:rPr lang="en-US" altLang="ko-KR" baseline="0" dirty="0" smtClean="0"/>
              <a:t>.  </a:t>
            </a:r>
          </a:p>
          <a:p>
            <a:endParaRPr lang="en-US" altLang="ko-KR" baseline="0" dirty="0" smtClean="0"/>
          </a:p>
          <a:p>
            <a:r>
              <a:rPr lang="ko-KR" altLang="en-US" baseline="0" dirty="0" smtClean="0"/>
              <a:t>그래서 이 진법이 얼마나 </a:t>
            </a:r>
            <a:r>
              <a:rPr lang="ko-KR" altLang="en-US" baseline="0" dirty="0" err="1" smtClean="0"/>
              <a:t>효율적이냐면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63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보이시나요</a:t>
            </a:r>
            <a:r>
              <a:rPr lang="en-US" altLang="ko-KR" dirty="0" smtClean="0"/>
              <a:t>. </a:t>
            </a:r>
            <a:r>
              <a:rPr lang="ko-KR" altLang="en-US" dirty="0" smtClean="0"/>
              <a:t>불과 </a:t>
            </a:r>
            <a:r>
              <a:rPr lang="ko-KR" altLang="en-US" dirty="0" err="1" smtClean="0"/>
              <a:t>두번째</a:t>
            </a:r>
            <a:r>
              <a:rPr lang="ko-KR" altLang="en-US" dirty="0" smtClean="0"/>
              <a:t> 자리에서</a:t>
            </a:r>
            <a:r>
              <a:rPr lang="ko-KR" altLang="en-US" baseline="0" dirty="0" smtClean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2212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그 값이 가질 </a:t>
            </a:r>
            <a:r>
              <a:rPr lang="ko-KR" altLang="en-US" dirty="0" err="1" smtClean="0"/>
              <a:t>수있는</a:t>
            </a:r>
            <a:r>
              <a:rPr lang="ko-KR" altLang="en-US" dirty="0" smtClean="0"/>
              <a:t> 최대 값을 넘어갔는지 확인하는 코드가 필요합니다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이해를 </a:t>
            </a:r>
            <a:r>
              <a:rPr lang="ko-KR" altLang="en-US" dirty="0" err="1" smtClean="0"/>
              <a:t>돕기위해</a:t>
            </a:r>
            <a:r>
              <a:rPr lang="ko-KR" altLang="en-US" dirty="0" smtClean="0"/>
              <a:t> </a:t>
            </a:r>
            <a:r>
              <a:rPr lang="en-US" altLang="ko-KR" dirty="0" smtClean="0"/>
              <a:t>unsigned</a:t>
            </a:r>
            <a:r>
              <a:rPr lang="ko-KR" altLang="en-US" dirty="0" smtClean="0"/>
              <a:t>형을 </a:t>
            </a:r>
            <a:r>
              <a:rPr lang="ko-KR" altLang="en-US" dirty="0" err="1" smtClean="0"/>
              <a:t>쓰긴했는데</a:t>
            </a:r>
            <a:r>
              <a:rPr lang="ko-KR" altLang="en-US" dirty="0" smtClean="0"/>
              <a:t> 싸인 형을 썼을 때도 크게 다르지는 않습니다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48071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축소의 한</a:t>
            </a:r>
            <a:r>
              <a:rPr lang="ko-KR" altLang="en-US" baseline="0" dirty="0" smtClean="0"/>
              <a:t> 방법으로 볼 수 있는데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축소하려는 값의 </a:t>
            </a:r>
            <a:r>
              <a:rPr lang="ko-KR" altLang="en-US" baseline="0" dirty="0" err="1" smtClean="0"/>
              <a:t>데이터형이</a:t>
            </a:r>
            <a:r>
              <a:rPr lang="ko-KR" altLang="en-US" baseline="0" dirty="0" smtClean="0"/>
              <a:t> 포함할 수 있는 값보다 크면 무조건 그 </a:t>
            </a:r>
            <a:r>
              <a:rPr lang="ko-KR" altLang="en-US" baseline="0" dirty="0" err="1" smtClean="0"/>
              <a:t>데이터형의</a:t>
            </a:r>
            <a:r>
              <a:rPr lang="ko-KR" altLang="en-US" baseline="0" dirty="0" smtClean="0"/>
              <a:t> 최대치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반대로 </a:t>
            </a:r>
            <a:r>
              <a:rPr lang="ko-KR" altLang="en-US" baseline="0" dirty="0" err="1" smtClean="0"/>
              <a:t>데이터형의</a:t>
            </a:r>
            <a:r>
              <a:rPr lang="ko-KR" altLang="en-US" baseline="0" dirty="0" smtClean="0"/>
              <a:t> 최소값 보다 </a:t>
            </a:r>
            <a:r>
              <a:rPr lang="ko-KR" altLang="en-US" baseline="0" dirty="0" err="1" smtClean="0"/>
              <a:t>작게되면</a:t>
            </a:r>
            <a:r>
              <a:rPr lang="ko-KR" altLang="en-US" baseline="0" dirty="0" smtClean="0"/>
              <a:t> 무조건 </a:t>
            </a:r>
            <a:r>
              <a:rPr lang="ko-KR" altLang="en-US" baseline="0" dirty="0" err="1" smtClean="0"/>
              <a:t>데이터형</a:t>
            </a:r>
            <a:r>
              <a:rPr lang="ko-KR" altLang="en-US" baseline="0" dirty="0" smtClean="0"/>
              <a:t> 최소값을 집어 넣는 방법입니다</a:t>
            </a:r>
            <a:r>
              <a:rPr lang="en-US" altLang="ko-KR" baseline="0" dirty="0" smtClean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70104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예를들어</a:t>
            </a:r>
            <a:r>
              <a:rPr lang="ko-KR" altLang="en-US" dirty="0" smtClean="0"/>
              <a:t> </a:t>
            </a:r>
            <a:r>
              <a:rPr lang="en-US" altLang="ko-KR" dirty="0" smtClean="0"/>
              <a:t>integer</a:t>
            </a:r>
            <a:r>
              <a:rPr lang="ko-KR" altLang="en-US" dirty="0" err="1" smtClean="0"/>
              <a:t>형데이터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before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short</a:t>
            </a:r>
            <a:r>
              <a:rPr lang="ko-KR" altLang="en-US" dirty="0" smtClean="0"/>
              <a:t>형 데이터 </a:t>
            </a:r>
            <a:r>
              <a:rPr lang="en-US" altLang="ko-KR" dirty="0" smtClean="0"/>
              <a:t>after</a:t>
            </a:r>
            <a:r>
              <a:rPr lang="ko-KR" altLang="en-US" dirty="0" smtClean="0"/>
              <a:t>가 있다고 할 때 </a:t>
            </a:r>
            <a:r>
              <a:rPr lang="en-US" altLang="ko-KR" dirty="0" smtClean="0"/>
              <a:t>after</a:t>
            </a:r>
            <a:r>
              <a:rPr lang="ko-KR" altLang="en-US" dirty="0" smtClean="0"/>
              <a:t>형에 데이터를 집어넣는 방법이 </a:t>
            </a:r>
            <a:r>
              <a:rPr lang="en-US" altLang="ko-KR" dirty="0" smtClean="0"/>
              <a:t>[</a:t>
            </a:r>
            <a:r>
              <a:rPr lang="ko-KR" altLang="en-US" dirty="0" smtClean="0"/>
              <a:t>짚어주며</a:t>
            </a:r>
            <a:r>
              <a:rPr lang="en-US" altLang="ko-KR" dirty="0" smtClean="0"/>
              <a:t>] </a:t>
            </a:r>
            <a:r>
              <a:rPr lang="ko-KR" altLang="en-US" dirty="0" smtClean="0"/>
              <a:t>최대치를 넘는지 검사하고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넘으면 무조건 </a:t>
            </a:r>
            <a:r>
              <a:rPr lang="en-US" altLang="ko-KR" dirty="0" smtClean="0"/>
              <a:t>after</a:t>
            </a:r>
            <a:r>
              <a:rPr lang="ko-KR" altLang="en-US" dirty="0" smtClean="0"/>
              <a:t>가 가질 수 있는 최대값을 </a:t>
            </a:r>
            <a:r>
              <a:rPr lang="ko-KR" altLang="en-US" dirty="0" err="1" smtClean="0"/>
              <a:t>넣는것이죠</a:t>
            </a:r>
            <a:r>
              <a:rPr lang="en-US" altLang="ko-KR" dirty="0" smtClean="0"/>
              <a:t>.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밑에는 </a:t>
            </a:r>
            <a:r>
              <a:rPr lang="en-US" altLang="ko-KR" baseline="0" dirty="0" smtClean="0"/>
              <a:t>after = before</a:t>
            </a:r>
            <a:r>
              <a:rPr lang="ko-KR" altLang="en-US" baseline="0" dirty="0" smtClean="0"/>
              <a:t>이라는 코드가 생략돼 있겠죠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그래서 이런 포화는 어디에 </a:t>
            </a:r>
            <a:r>
              <a:rPr lang="ko-KR" altLang="en-US" baseline="0" dirty="0" err="1" smtClean="0"/>
              <a:t>사용되냐면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영상쪽이나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음향쪽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이런쪽에서</a:t>
            </a:r>
            <a:r>
              <a:rPr lang="ko-KR" altLang="en-US" baseline="0" dirty="0" smtClean="0"/>
              <a:t> 사용된다고 합니다</a:t>
            </a:r>
            <a:r>
              <a:rPr lang="en-US" altLang="ko-KR" baseline="0" dirty="0" smtClean="0"/>
              <a:t>. </a:t>
            </a:r>
          </a:p>
          <a:p>
            <a:r>
              <a:rPr lang="en-US" altLang="ko-KR" baseline="0" dirty="0" smtClean="0"/>
              <a:t>## </a:t>
            </a:r>
            <a:r>
              <a:rPr lang="ko-KR" altLang="en-US" baseline="0" dirty="0" smtClean="0"/>
              <a:t>물 아이디어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93775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11298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4827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대부분의 컴퓨터들이 처리할 수 있는 데이터 최소단위가 바이트 단위인데</a:t>
            </a:r>
            <a:r>
              <a:rPr lang="en-US" altLang="ko-KR" dirty="0" smtClean="0"/>
              <a:t>,</a:t>
            </a:r>
            <a:r>
              <a:rPr lang="en-US" altLang="ko-KR" baseline="0" dirty="0" smtClean="0"/>
              <a:t> BCD</a:t>
            </a:r>
            <a:r>
              <a:rPr lang="ko-KR" altLang="en-US" baseline="0" dirty="0" smtClean="0"/>
              <a:t>코드에서는 </a:t>
            </a:r>
            <a:r>
              <a:rPr lang="en-US" altLang="ko-KR" baseline="0" dirty="0" smtClean="0"/>
              <a:t>4</a:t>
            </a:r>
            <a:r>
              <a:rPr lang="ko-KR" altLang="en-US" baseline="0" dirty="0" smtClean="0"/>
              <a:t>비트씩 처리 하기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때문에 남는 </a:t>
            </a:r>
            <a:r>
              <a:rPr lang="en-US" altLang="ko-KR" baseline="0" dirty="0" smtClean="0"/>
              <a:t>4</a:t>
            </a:r>
            <a:r>
              <a:rPr lang="ko-KR" altLang="en-US" baseline="0" dirty="0" smtClean="0"/>
              <a:t>비트의 처리에 대한 이야기 입니다</a:t>
            </a:r>
            <a:r>
              <a:rPr lang="en-US" altLang="ko-KR" baseline="0" dirty="0" smtClean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74265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988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1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20" name="Shape 52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HY헤드라인M"/>
                <a:ea typeface="HY헤드라인M"/>
                <a:cs typeface="HY헤드라인M"/>
                <a:sym typeface="HY헤드라인M"/>
              </a:defRPr>
            </a:pPr>
            <a:r>
              <a:t>실수표현의</a:t>
            </a:r>
            <a:r>
              <a:rPr>
                <a:latin typeface="HY견고딕"/>
                <a:ea typeface="HY견고딕"/>
                <a:cs typeface="HY견고딕"/>
                <a:sym typeface="HY견고딕"/>
              </a:rPr>
              <a:t> 핵심은 얼마나 근사치에 가깝게 표현것에 따라 좋은 표현이 되기도 하고 그렇지 않기도 한다</a:t>
            </a:r>
            <a:r>
              <a:rPr>
                <a:latin typeface="나눔바른고딕"/>
                <a:ea typeface="나눔바른고딕"/>
                <a:cs typeface="나눔바른고딕"/>
                <a:sym typeface="나눔바른고딕"/>
              </a:rPr>
              <a:t>, </a:t>
            </a:r>
            <a:r>
              <a:rPr>
                <a:latin typeface="HY견고딕"/>
                <a:ea typeface="HY견고딕"/>
                <a:cs typeface="HY견고딕"/>
                <a:sym typeface="HY견고딕"/>
              </a:rPr>
              <a:t>그리고</a:t>
            </a:r>
            <a:r>
              <a:rPr>
                <a:latin typeface="나눔바른고딕"/>
                <a:ea typeface="나눔바른고딕"/>
                <a:cs typeface="나눔바른고딕"/>
                <a:sym typeface="나눔바른고딕"/>
              </a:rPr>
              <a:t> </a:t>
            </a:r>
            <a:r>
              <a:rPr>
                <a:latin typeface="HY견고딕"/>
                <a:ea typeface="HY견고딕"/>
                <a:cs typeface="HY견고딕"/>
                <a:sym typeface="HY견고딕"/>
              </a:rPr>
              <a:t>많은 수의 비트로  표현하면 할수록 더욱 근사치에 가깝게 표현 할 수 있다</a:t>
            </a:r>
            <a:r>
              <a:rPr>
                <a:latin typeface="나눔바른고딕"/>
                <a:ea typeface="나눔바른고딕"/>
                <a:cs typeface="나눔바른고딕"/>
                <a:sym typeface="나눔바른고딕"/>
              </a:rPr>
              <a:t>.</a:t>
            </a:r>
          </a:p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>
              <a:latin typeface="나눔바른고딕"/>
              <a:ea typeface="나눔바른고딕"/>
              <a:cs typeface="나눔바른고딕"/>
              <a:sym typeface="나눔바른고딕"/>
            </a:endParaRPr>
          </a:p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>
                <a:latin typeface="HY견고딕"/>
                <a:ea typeface="HY견고딕"/>
                <a:cs typeface="HY견고딕"/>
                <a:sym typeface="HY견고딕"/>
              </a:rPr>
              <a:t>정수뿐 아니라 실수 쪽 표현도 마찬가지</a:t>
            </a:r>
            <a:r>
              <a:t>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52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25" name="Shape 52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Y헤드라인M"/>
                <a:ea typeface="HY헤드라인M"/>
                <a:cs typeface="HY헤드라인M"/>
                <a:sym typeface="HY헤드라인M"/>
              </a:defRPr>
            </a:lvl1pPr>
          </a:lstStyle>
          <a:p>
            <a:r>
              <a:rPr lang="ko-KR" altLang="en-US" dirty="0" smtClean="0"/>
              <a:t>그럴 수 밖에 </a:t>
            </a:r>
            <a:r>
              <a:rPr lang="ko-KR" altLang="en-US" dirty="0" err="1" smtClean="0"/>
              <a:t>없는게</a:t>
            </a:r>
            <a:r>
              <a:rPr lang="ko-KR" altLang="en-US" dirty="0" smtClean="0"/>
              <a:t> 소수점의 위치를 딱 맞춰놓고 덧셈 연산하는</a:t>
            </a:r>
            <a:r>
              <a:rPr lang="ko-KR" altLang="en-US" baseline="0" dirty="0" smtClean="0"/>
              <a:t> 절차가 빠를 수  밖에 없죠</a:t>
            </a:r>
            <a:r>
              <a:rPr lang="en-US" altLang="ko-KR" baseline="0" dirty="0" smtClean="0"/>
              <a:t>. </a:t>
            </a:r>
            <a:r>
              <a:rPr lang="ko-KR" altLang="en-US" baseline="0" dirty="0" smtClean="0"/>
              <a:t>덧셈의 원칙이 가중치가 같은 수끼리 </a:t>
            </a:r>
            <a:r>
              <a:rPr lang="ko-KR" altLang="en-US" baseline="0" dirty="0" err="1" smtClean="0"/>
              <a:t>더하는거</a:t>
            </a:r>
            <a:r>
              <a:rPr lang="ko-KR" altLang="en-US" baseline="0" dirty="0" smtClean="0"/>
              <a:t> 잖아요</a:t>
            </a:r>
            <a:r>
              <a:rPr lang="en-US" altLang="ko-KR" baseline="0" dirty="0" smtClean="0"/>
              <a:t>? </a:t>
            </a:r>
            <a:r>
              <a:rPr lang="ko-KR" altLang="en-US" baseline="0" dirty="0" smtClean="0"/>
              <a:t>반대로 부동소수점은 그 가중치가 언제든지 지수의 크기에 의해 </a:t>
            </a:r>
            <a:r>
              <a:rPr lang="ko-KR" altLang="en-US" baseline="0" dirty="0" err="1" smtClean="0"/>
              <a:t>바뀔수</a:t>
            </a:r>
            <a:r>
              <a:rPr lang="ko-KR" altLang="en-US" baseline="0" dirty="0" smtClean="0"/>
              <a:t> 있는 것이고</a:t>
            </a: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smtClean="0"/>
              <a:t>하지만 변환에서 </a:t>
            </a:r>
            <a:r>
              <a:rPr lang="ko-KR" altLang="en-US" dirty="0" err="1" smtClean="0"/>
              <a:t>오버플로우가되지</a:t>
            </a:r>
            <a:r>
              <a:rPr lang="ko-KR" altLang="en-US" dirty="0" smtClean="0"/>
              <a:t> 않게 하기 위해 필요이상의 큰 </a:t>
            </a:r>
            <a:r>
              <a:rPr lang="ko-KR" altLang="en-US" dirty="0" err="1" smtClean="0"/>
              <a:t>데이터형을</a:t>
            </a:r>
            <a:r>
              <a:rPr lang="ko-KR" altLang="en-US" dirty="0" smtClean="0"/>
              <a:t> 사용해야 하거나 크기의 제한이 있을 수 있다</a:t>
            </a:r>
            <a:r>
              <a:rPr lang="en-US" altLang="ko-KR" dirty="0" smtClean="0"/>
              <a:t>.</a:t>
            </a:r>
            <a:endParaRPr lang="ko-KR" altLang="en-US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339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Shape 53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8" name="Shape 53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두 가지 문제가 있는데, 보는 것과 같이 정수를 만들고 정수간의 곱이 이뤄졌을 때의 오버 플로우 될 수 있는 문제. 그리고 마지막 연산 결과에서의 오류가 발생 할 수 있다. 그래서 보정이 필요한데, 보정에 쓰이는 수치를 Scale factor라 한다.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5425" y="3947938"/>
            <a:ext cx="9144001" cy="470102"/>
          </a:xfrm>
          <a:prstGeom prst="rect">
            <a:avLst/>
          </a:prstGeom>
        </p:spPr>
        <p:txBody>
          <a:bodyPr lIns="91423" tIns="91423" rIns="91423" bIns="91423" anchor="ctr">
            <a:normAutofit/>
          </a:bodyPr>
          <a:lstStyle>
            <a:lvl1pPr algn="r">
              <a:defRPr sz="1600" b="1">
                <a:solidFill>
                  <a:srgbClr val="3F3F3F"/>
                </a:solidFill>
              </a:defRPr>
            </a:lvl1pPr>
            <a:lvl2pPr algn="r">
              <a:defRPr sz="1600" b="1">
                <a:solidFill>
                  <a:srgbClr val="3F3F3F"/>
                </a:solidFill>
              </a:defRPr>
            </a:lvl2pPr>
            <a:lvl3pPr algn="r">
              <a:defRPr sz="1600" b="1">
                <a:solidFill>
                  <a:srgbClr val="3F3F3F"/>
                </a:solidFill>
              </a:defRPr>
            </a:lvl3pPr>
            <a:lvl4pPr algn="r">
              <a:defRPr sz="1600" b="1">
                <a:solidFill>
                  <a:srgbClr val="3F3F3F"/>
                </a:solidFill>
              </a:defRPr>
            </a:lvl4pPr>
            <a:lvl5pPr algn="r">
              <a:defRPr sz="1600" b="1">
                <a:solidFill>
                  <a:srgbClr val="3F3F3F"/>
                </a:solidFill>
              </a:defRPr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5" name="제목 텍스트"/>
          <p:cNvSpPr txBox="1">
            <a:spLocks noGrp="1"/>
          </p:cNvSpPr>
          <p:nvPr>
            <p:ph type="title"/>
          </p:nvPr>
        </p:nvSpPr>
        <p:spPr>
          <a:xfrm>
            <a:off x="0" y="3419492"/>
            <a:ext cx="9144000" cy="533309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제목 텍스트</a:t>
            </a:r>
          </a:p>
        </p:txBody>
      </p:sp>
      <p:pic>
        <p:nvPicPr>
          <p:cNvPr id="16" name="Shape 9" descr="Shap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27980" y="543612"/>
            <a:ext cx="1740111" cy="2592287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25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16"/>
          <p:cNvSpPr/>
          <p:nvPr/>
        </p:nvSpPr>
        <p:spPr>
          <a:xfrm>
            <a:off x="2699789" y="1851667"/>
            <a:ext cx="6444212" cy="1440163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" name="Shape 17"/>
          <p:cNvSpPr/>
          <p:nvPr/>
        </p:nvSpPr>
        <p:spPr>
          <a:xfrm>
            <a:off x="-2" y="0"/>
            <a:ext cx="1619675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" name="Shape 18"/>
          <p:cNvSpPr/>
          <p:nvPr/>
        </p:nvSpPr>
        <p:spPr>
          <a:xfrm>
            <a:off x="711744" y="4952172"/>
            <a:ext cx="8432257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35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3" cy="1620002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Shape 20"/>
          <p:cNvSpPr/>
          <p:nvPr/>
        </p:nvSpPr>
        <p:spPr>
          <a:xfrm>
            <a:off x="0" y="195485"/>
            <a:ext cx="9143998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7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22"/>
          <p:cNvSpPr/>
          <p:nvPr/>
        </p:nvSpPr>
        <p:spPr>
          <a:xfrm>
            <a:off x="0" y="3003550"/>
            <a:ext cx="9144001" cy="213995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5" name="Shape 23"/>
          <p:cNvSpPr>
            <a:spLocks noGrp="1"/>
          </p:cNvSpPr>
          <p:nvPr>
            <p:ph type="pic" sz="quarter" idx="13"/>
          </p:nvPr>
        </p:nvSpPr>
        <p:spPr>
          <a:xfrm>
            <a:off x="755575" y="2157550"/>
            <a:ext cx="1692001" cy="1692002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46" name="제목 텍스트"/>
          <p:cNvSpPr txBox="1">
            <a:spLocks noGrp="1"/>
          </p:cNvSpPr>
          <p:nvPr>
            <p:ph type="title"/>
          </p:nvPr>
        </p:nvSpPr>
        <p:spPr>
          <a:xfrm>
            <a:off x="0" y="254335"/>
            <a:ext cx="9144000" cy="776401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제목 텍스트</a:t>
            </a:r>
          </a:p>
        </p:txBody>
      </p:sp>
      <p:sp>
        <p:nvSpPr>
          <p:cNvPr id="47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26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55" name="제목 텍스트"/>
          <p:cNvSpPr txBox="1">
            <a:spLocks noGrp="1"/>
          </p:cNvSpPr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pic>
        <p:nvPicPr>
          <p:cNvPr id="56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30"/>
          <p:cNvSpPr>
            <a:spLocks noGrp="1"/>
          </p:cNvSpPr>
          <p:nvPr>
            <p:ph type="pic" sz="quarter" idx="13"/>
          </p:nvPr>
        </p:nvSpPr>
        <p:spPr>
          <a:xfrm>
            <a:off x="3776326" y="1262115"/>
            <a:ext cx="1584177" cy="1980003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5" name="Shape 31"/>
          <p:cNvSpPr/>
          <p:nvPr/>
        </p:nvSpPr>
        <p:spPr>
          <a:xfrm>
            <a:off x="-2" y="0"/>
            <a:ext cx="9108508" cy="827999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66" name="제목 텍스트"/>
          <p:cNvSpPr txBox="1">
            <a:spLocks noGrp="1"/>
          </p:cNvSpPr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67" name="Shape 33"/>
          <p:cNvSpPr>
            <a:spLocks noGrp="1"/>
          </p:cNvSpPr>
          <p:nvPr>
            <p:ph type="pic" sz="quarter" idx="14"/>
          </p:nvPr>
        </p:nvSpPr>
        <p:spPr>
          <a:xfrm>
            <a:off x="21798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8" name="Shape 34"/>
          <p:cNvSpPr>
            <a:spLocks noGrp="1"/>
          </p:cNvSpPr>
          <p:nvPr>
            <p:ph type="pic" sz="quarter" idx="15"/>
          </p:nvPr>
        </p:nvSpPr>
        <p:spPr>
          <a:xfrm>
            <a:off x="723433" y="1437713"/>
            <a:ext cx="1296145" cy="1620000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69" name="Shape 35"/>
          <p:cNvSpPr>
            <a:spLocks noGrp="1"/>
          </p:cNvSpPr>
          <p:nvPr>
            <p:ph type="pic" sz="quarter" idx="16"/>
          </p:nvPr>
        </p:nvSpPr>
        <p:spPr>
          <a:xfrm>
            <a:off x="55167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70" name="Shape 36"/>
          <p:cNvSpPr>
            <a:spLocks noGrp="1"/>
          </p:cNvSpPr>
          <p:nvPr>
            <p:ph type="pic" sz="quarter" idx="17"/>
          </p:nvPr>
        </p:nvSpPr>
        <p:spPr>
          <a:xfrm>
            <a:off x="7113223" y="1442119"/>
            <a:ext cx="1296146" cy="1620000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tIns="45719" rIns="91439" bIns="45719"/>
          <a:lstStyle/>
          <a:p>
            <a:endParaRPr/>
          </a:p>
        </p:txBody>
      </p:sp>
      <p:pic>
        <p:nvPicPr>
          <p:cNvPr id="71" name="Shape 37" descr="Shape 3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01"/>
          <p:cNvSpPr/>
          <p:nvPr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84" name="Shape 102"/>
          <p:cNvSpPr/>
          <p:nvPr/>
        </p:nvSpPr>
        <p:spPr>
          <a:xfrm>
            <a:off x="1046841" y="807552"/>
            <a:ext cx="7050318" cy="3528393"/>
          </a:xfrm>
          <a:prstGeom prst="rect">
            <a:avLst/>
          </a:prstGeom>
          <a:ln w="3175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85" name="Shape 103"/>
          <p:cNvSpPr/>
          <p:nvPr/>
        </p:nvSpPr>
        <p:spPr>
          <a:xfrm>
            <a:off x="1403646" y="1131588"/>
            <a:ext cx="6336707" cy="288032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86" name="제목 텍스트"/>
          <p:cNvSpPr txBox="1">
            <a:spLocks noGrp="1"/>
          </p:cNvSpPr>
          <p:nvPr>
            <p:ph type="title"/>
          </p:nvPr>
        </p:nvSpPr>
        <p:spPr>
          <a:xfrm>
            <a:off x="1043608" y="2924942"/>
            <a:ext cx="7056784" cy="533309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제목 텍스트</a:t>
            </a:r>
          </a:p>
        </p:txBody>
      </p:sp>
      <p:pic>
        <p:nvPicPr>
          <p:cNvPr id="187" name="Shape 105" descr="Shape 10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56912" y="1318423"/>
            <a:ext cx="985236" cy="1467730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제목 텍스트"/>
          <p:cNvSpPr txBox="1">
            <a:spLocks noGrp="1"/>
          </p:cNvSpPr>
          <p:nvPr>
            <p:ph type="title"/>
          </p:nvPr>
        </p:nvSpPr>
        <p:spPr>
          <a:xfrm>
            <a:off x="0" y="25734"/>
            <a:ext cx="9144000" cy="776400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제목 텍스트</a:t>
            </a:r>
          </a:p>
        </p:txBody>
      </p:sp>
      <p:sp>
        <p:nvSpPr>
          <p:cNvPr id="211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26"/>
          <p:cNvSpPr/>
          <p:nvPr/>
        </p:nvSpPr>
        <p:spPr>
          <a:xfrm>
            <a:off x="-3" y="-2"/>
            <a:ext cx="9108510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19" name="제목 텍스트"/>
          <p:cNvSpPr txBox="1">
            <a:spLocks noGrp="1"/>
          </p:cNvSpPr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91422" tIns="91422" rIns="91422" bIns="91422"/>
          <a:lstStyle/>
          <a:p>
            <a:r>
              <a:t>제목 텍스트</a:t>
            </a:r>
          </a:p>
        </p:txBody>
      </p:sp>
      <p:pic>
        <p:nvPicPr>
          <p:cNvPr id="220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2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221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6279548" y="4635137"/>
            <a:ext cx="273653" cy="264251"/>
          </a:xfrm>
          <a:prstGeom prst="rect">
            <a:avLst/>
          </a:prstGeom>
        </p:spPr>
        <p:txBody>
          <a:bodyPr lIns="45718" tIns="45718" rIns="45718" bIns="45718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16"/>
          <p:cNvSpPr/>
          <p:nvPr/>
        </p:nvSpPr>
        <p:spPr>
          <a:xfrm>
            <a:off x="2699790" y="1851666"/>
            <a:ext cx="6444212" cy="1440165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29" name="Shape 17"/>
          <p:cNvSpPr/>
          <p:nvPr/>
        </p:nvSpPr>
        <p:spPr>
          <a:xfrm>
            <a:off x="-3" y="0"/>
            <a:ext cx="1619677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30" name="Shape 18"/>
          <p:cNvSpPr/>
          <p:nvPr/>
        </p:nvSpPr>
        <p:spPr>
          <a:xfrm>
            <a:off x="711744" y="4952172"/>
            <a:ext cx="8432257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231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4" cy="1620003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Shape 20"/>
          <p:cNvSpPr/>
          <p:nvPr/>
        </p:nvSpPr>
        <p:spPr>
          <a:xfrm>
            <a:off x="0" y="195485"/>
            <a:ext cx="9143998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33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6279548" y="4635137"/>
            <a:ext cx="273653" cy="264251"/>
          </a:xfrm>
          <a:prstGeom prst="rect">
            <a:avLst/>
          </a:prstGeom>
        </p:spPr>
        <p:txBody>
          <a:bodyPr lIns="45718" tIns="45718" rIns="45718" bIns="45718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/>
          <p:cNvSpPr/>
          <p:nvPr/>
        </p:nvSpPr>
        <p:spPr>
          <a:xfrm>
            <a:off x="-2" y="0"/>
            <a:ext cx="1619675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pic>
        <p:nvPicPr>
          <p:cNvPr id="3" name="Shape 13" descr="Shape 13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168018" y="3332172"/>
            <a:ext cx="1087453" cy="1620002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hape 14"/>
          <p:cNvSpPr/>
          <p:nvPr/>
        </p:nvSpPr>
        <p:spPr>
          <a:xfrm>
            <a:off x="711744" y="4952172"/>
            <a:ext cx="8432257" cy="2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" name="제목 텍스트"/>
          <p:cNvSpPr txBox="1">
            <a:spLocks noGrp="1"/>
          </p:cNvSpPr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91423" tIns="91423" rIns="91423" bIns="91423" anchor="ctr">
            <a:normAutofit/>
          </a:bodyPr>
          <a:lstStyle/>
          <a:p>
            <a:r>
              <a:t>제목 텍스트</a:t>
            </a:r>
          </a:p>
        </p:txBody>
      </p:sp>
      <p:sp>
        <p:nvSpPr>
          <p:cNvPr id="6" name="본문 첫 번째 줄…"/>
          <p:cNvSpPr txBox="1">
            <a:spLocks noGrp="1"/>
          </p:cNvSpPr>
          <p:nvPr>
            <p:ph type="body" idx="1"/>
          </p:nvPr>
        </p:nvSpPr>
        <p:spPr>
          <a:xfrm>
            <a:off x="5103812" y="1828800"/>
            <a:ext cx="3581401" cy="3314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6279546" y="4635136"/>
            <a:ext cx="273654" cy="26425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lnSpc>
                <a:spcPct val="100000"/>
              </a:lnSpc>
              <a:defRPr sz="1200" b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2" r:id="rId7"/>
    <p:sldLayoutId id="2147483664" r:id="rId8"/>
    <p:sldLayoutId id="2147483665" r:id="rId9"/>
    <p:sldLayoutId id="2147483666" r:id="rId10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122"/>
          <p:cNvSpPr txBox="1">
            <a:spLocks noGrp="1"/>
          </p:cNvSpPr>
          <p:nvPr>
            <p:ph type="ctrTitle"/>
          </p:nvPr>
        </p:nvSpPr>
        <p:spPr>
          <a:xfrm>
            <a:off x="25400" y="2997715"/>
            <a:ext cx="9144000" cy="1260306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5700">
                <a:latin typeface="Ubuntu"/>
                <a:ea typeface="Ubuntu"/>
                <a:cs typeface="Ubuntu"/>
                <a:sym typeface="Ubuntu"/>
              </a:defRPr>
            </a:pPr>
            <a:r>
              <a:t>Great </a:t>
            </a:r>
            <a:r>
              <a:rPr>
                <a:solidFill>
                  <a:srgbClr val="0DD2D9"/>
                </a:solidFill>
              </a:rPr>
              <a:t>Code</a:t>
            </a:r>
          </a:p>
          <a:p>
            <a:pPr>
              <a:defRPr sz="1500">
                <a:latin typeface="Ubuntu"/>
                <a:ea typeface="Ubuntu"/>
                <a:cs typeface="Ubuntu"/>
                <a:sym typeface="Ubuntu"/>
              </a:defRPr>
            </a:pPr>
            <a:r>
              <a:t>Understanding the </a:t>
            </a:r>
            <a:r>
              <a:rPr>
                <a:solidFill>
                  <a:srgbClr val="0DD2D9"/>
                </a:solidFill>
              </a:rPr>
              <a:t>Machine</a:t>
            </a:r>
          </a:p>
        </p:txBody>
      </p:sp>
      <p:sp>
        <p:nvSpPr>
          <p:cNvPr id="243" name="Shape 125"/>
          <p:cNvSpPr txBox="1">
            <a:spLocks noGrp="1"/>
          </p:cNvSpPr>
          <p:nvPr>
            <p:ph type="subTitle" sz="quarter" idx="1"/>
          </p:nvPr>
        </p:nvSpPr>
        <p:spPr>
          <a:xfrm>
            <a:off x="-73966" y="4252738"/>
            <a:ext cx="9144001" cy="799882"/>
          </a:xfrm>
          <a:prstGeom prst="rect">
            <a:avLst/>
          </a:prstGeom>
        </p:spPr>
        <p:txBody>
          <a:bodyPr/>
          <a:lstStyle/>
          <a:p>
            <a:r>
              <a:t>1장 최고의 코드를 위해 알아야 할 것 </a:t>
            </a:r>
          </a:p>
          <a:p>
            <a:r>
              <a:t>2장 수치 표기법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" name="Shape 195"/>
          <p:cNvGrpSpPr/>
          <p:nvPr/>
        </p:nvGrpSpPr>
        <p:grpSpPr>
          <a:xfrm>
            <a:off x="827584" y="2288071"/>
            <a:ext cx="1692001" cy="1692002"/>
            <a:chOff x="0" y="0"/>
            <a:chExt cx="1692000" cy="1692000"/>
          </a:xfrm>
        </p:grpSpPr>
        <p:sp>
          <p:nvSpPr>
            <p:cNvPr id="247" name="도형"/>
            <p:cNvSpPr/>
            <p:nvPr/>
          </p:nvSpPr>
          <p:spPr>
            <a:xfrm>
              <a:off x="0" y="0"/>
              <a:ext cx="1692002" cy="1692002"/>
            </a:xfrm>
            <a:prstGeom prst="ellipse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pic>
          <p:nvPicPr>
            <p:cNvPr id="248" name="image6.jpeg" descr="image6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/>
            <a:stretch>
              <a:fillRect/>
            </a:stretch>
          </p:blipFill>
          <p:spPr>
            <a:xfrm>
              <a:off x="1" y="1"/>
              <a:ext cx="1691878" cy="16918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3" y="0"/>
                  </a:moveTo>
                  <a:cubicBezTo>
                    <a:pt x="4837" y="0"/>
                    <a:pt x="0" y="4837"/>
                    <a:pt x="0" y="10803"/>
                  </a:cubicBezTo>
                  <a:cubicBezTo>
                    <a:pt x="0" y="16768"/>
                    <a:pt x="4837" y="21600"/>
                    <a:pt x="10803" y="21600"/>
                  </a:cubicBezTo>
                  <a:cubicBezTo>
                    <a:pt x="16768" y="21600"/>
                    <a:pt x="21600" y="16768"/>
                    <a:pt x="21600" y="10803"/>
                  </a:cubicBezTo>
                  <a:cubicBezTo>
                    <a:pt x="21600" y="4837"/>
                    <a:pt x="16768" y="0"/>
                    <a:pt x="10803" y="0"/>
                  </a:cubicBezTo>
                  <a:close/>
                </a:path>
              </a:pathLst>
            </a:custGeom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</p:pic>
      </p:grpSp>
      <p:sp>
        <p:nvSpPr>
          <p:cNvPr id="250" name="Shape 173"/>
          <p:cNvSpPr/>
          <p:nvPr/>
        </p:nvSpPr>
        <p:spPr>
          <a:xfrm>
            <a:off x="7645762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1" name="Shape 174"/>
          <p:cNvSpPr/>
          <p:nvPr/>
        </p:nvSpPr>
        <p:spPr>
          <a:xfrm>
            <a:off x="3483500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2" name="Shape 175"/>
          <p:cNvSpPr/>
          <p:nvPr/>
        </p:nvSpPr>
        <p:spPr>
          <a:xfrm>
            <a:off x="4860699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3" name="Shape 176"/>
          <p:cNvSpPr/>
          <p:nvPr/>
        </p:nvSpPr>
        <p:spPr>
          <a:xfrm>
            <a:off x="6237899" y="2607535"/>
            <a:ext cx="792029" cy="792029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4" name="Shape 177"/>
          <p:cNvSpPr/>
          <p:nvPr/>
        </p:nvSpPr>
        <p:spPr>
          <a:xfrm>
            <a:off x="7830332" y="2790338"/>
            <a:ext cx="422888" cy="4264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5" name="Shape 178"/>
          <p:cNvSpPr/>
          <p:nvPr/>
        </p:nvSpPr>
        <p:spPr>
          <a:xfrm>
            <a:off x="6412019" y="2873025"/>
            <a:ext cx="443788" cy="2610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6" name="Shape 179"/>
          <p:cNvSpPr/>
          <p:nvPr/>
        </p:nvSpPr>
        <p:spPr>
          <a:xfrm rot="2700000">
            <a:off x="5105741" y="2732888"/>
            <a:ext cx="301941" cy="5413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500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7" name="Shape 180"/>
          <p:cNvSpPr/>
          <p:nvPr/>
        </p:nvSpPr>
        <p:spPr>
          <a:xfrm>
            <a:off x="3689506" y="2825679"/>
            <a:ext cx="380017" cy="355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58" name="Shape 181"/>
          <p:cNvSpPr txBox="1"/>
          <p:nvPr/>
        </p:nvSpPr>
        <p:spPr>
          <a:xfrm>
            <a:off x="3186266" y="1532679"/>
            <a:ext cx="5274166" cy="62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현재 핀테크(Fin-Tech)기업에서 개발 및 유지보수 업무를 담당하고 있는 개발자 문성현입니다.</a:t>
            </a:r>
          </a:p>
        </p:txBody>
      </p:sp>
      <p:sp>
        <p:nvSpPr>
          <p:cNvPr id="259" name="Shape 182"/>
          <p:cNvSpPr txBox="1"/>
          <p:nvPr/>
        </p:nvSpPr>
        <p:spPr>
          <a:xfrm>
            <a:off x="1116395" y="1733386"/>
            <a:ext cx="970360" cy="396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문성현</a:t>
            </a:r>
          </a:p>
        </p:txBody>
      </p:sp>
      <p:grpSp>
        <p:nvGrpSpPr>
          <p:cNvPr id="262" name="Shape 183"/>
          <p:cNvGrpSpPr/>
          <p:nvPr/>
        </p:nvGrpSpPr>
        <p:grpSpPr>
          <a:xfrm>
            <a:off x="7438121" y="3687136"/>
            <a:ext cx="1207312" cy="1126372"/>
            <a:chOff x="0" y="0"/>
            <a:chExt cx="1207310" cy="1126371"/>
          </a:xfrm>
        </p:grpSpPr>
        <p:sp>
          <p:nvSpPr>
            <p:cNvPr id="260" name="Shape 184"/>
            <p:cNvSpPr txBox="1"/>
            <p:nvPr/>
          </p:nvSpPr>
          <p:spPr>
            <a:xfrm>
              <a:off x="0" y="214553"/>
              <a:ext cx="120731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gathering1143@gmail.com</a:t>
              </a:r>
            </a:p>
          </p:txBody>
        </p:sp>
        <p:sp>
          <p:nvSpPr>
            <p:cNvPr id="261" name="Shape 185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E-mail</a:t>
              </a:r>
            </a:p>
          </p:txBody>
        </p:sp>
      </p:grpSp>
      <p:grpSp>
        <p:nvGrpSpPr>
          <p:cNvPr id="265" name="Shape 186"/>
          <p:cNvGrpSpPr/>
          <p:nvPr/>
        </p:nvGrpSpPr>
        <p:grpSpPr>
          <a:xfrm>
            <a:off x="3275855" y="3687136"/>
            <a:ext cx="1207312" cy="1415932"/>
            <a:chOff x="0" y="0"/>
            <a:chExt cx="1207310" cy="1415931"/>
          </a:xfrm>
        </p:grpSpPr>
        <p:sp>
          <p:nvSpPr>
            <p:cNvPr id="263" name="Shape 187"/>
            <p:cNvSpPr txBox="1"/>
            <p:nvPr/>
          </p:nvSpPr>
          <p:spPr>
            <a:xfrm>
              <a:off x="0" y="214553"/>
              <a:ext cx="120731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Java,</a:t>
              </a:r>
            </a:p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t>Javascript, Python, C/C++</a:t>
              </a:r>
            </a:p>
          </p:txBody>
        </p:sp>
        <p:sp>
          <p:nvSpPr>
            <p:cNvPr id="264" name="Shape 188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Language</a:t>
              </a:r>
            </a:p>
          </p:txBody>
        </p:sp>
      </p:grpSp>
      <p:grpSp>
        <p:nvGrpSpPr>
          <p:cNvPr id="268" name="Shape 189"/>
          <p:cNvGrpSpPr/>
          <p:nvPr/>
        </p:nvGrpSpPr>
        <p:grpSpPr>
          <a:xfrm>
            <a:off x="4653055" y="3687136"/>
            <a:ext cx="1207312" cy="1415932"/>
            <a:chOff x="0" y="0"/>
            <a:chExt cx="1207310" cy="1415931"/>
          </a:xfrm>
        </p:grpSpPr>
        <p:sp>
          <p:nvSpPr>
            <p:cNvPr id="266" name="Shape 190"/>
            <p:cNvSpPr txBox="1"/>
            <p:nvPr/>
          </p:nvSpPr>
          <p:spPr>
            <a:xfrm>
              <a:off x="0" y="214553"/>
              <a:ext cx="1207311" cy="12013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rPr dirty="0"/>
                <a:t>Capacitive Keyboard, </a:t>
              </a:r>
            </a:p>
            <a:p>
              <a: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rPr dirty="0"/>
                <a:t>Mechanical Keyboard</a:t>
              </a:r>
            </a:p>
          </p:txBody>
        </p:sp>
        <p:sp>
          <p:nvSpPr>
            <p:cNvPr id="267" name="Shape 191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Interest</a:t>
              </a:r>
            </a:p>
          </p:txBody>
        </p:sp>
      </p:grpSp>
      <p:grpSp>
        <p:nvGrpSpPr>
          <p:cNvPr id="271" name="Shape 192"/>
          <p:cNvGrpSpPr/>
          <p:nvPr/>
        </p:nvGrpSpPr>
        <p:grpSpPr>
          <a:xfrm>
            <a:off x="6030256" y="3687136"/>
            <a:ext cx="1207311" cy="1705492"/>
            <a:chOff x="0" y="0"/>
            <a:chExt cx="1207310" cy="1705491"/>
          </a:xfrm>
        </p:grpSpPr>
        <p:sp>
          <p:nvSpPr>
            <p:cNvPr id="269" name="Shape 193"/>
            <p:cNvSpPr txBox="1"/>
            <p:nvPr/>
          </p:nvSpPr>
          <p:spPr>
            <a:xfrm>
              <a:off x="0" y="214553"/>
              <a:ext cx="1207311" cy="14909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https://github.com/gatherKnowledge</a:t>
              </a:r>
            </a:p>
          </p:txBody>
        </p:sp>
        <p:sp>
          <p:nvSpPr>
            <p:cNvPr id="270" name="Shape 194"/>
            <p:cNvSpPr txBox="1"/>
            <p:nvPr/>
          </p:nvSpPr>
          <p:spPr>
            <a:xfrm>
              <a:off x="0" y="0"/>
              <a:ext cx="1207311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github</a:t>
              </a:r>
            </a:p>
          </p:txBody>
        </p:sp>
      </p:grpSp>
      <p:sp>
        <p:nvSpPr>
          <p:cNvPr id="272" name="Shape 196"/>
          <p:cNvSpPr txBox="1">
            <a:spLocks noGrp="1"/>
          </p:cNvSpPr>
          <p:nvPr>
            <p:ph type="title"/>
          </p:nvPr>
        </p:nvSpPr>
        <p:spPr>
          <a:xfrm>
            <a:off x="635302" y="83023"/>
            <a:ext cx="7892706" cy="776400"/>
          </a:xfrm>
          <a:prstGeom prst="rect">
            <a:avLst/>
          </a:prstGeom>
        </p:spPr>
        <p:txBody>
          <a:bodyPr lIns="45699" tIns="45699" rIns="45699" bIns="45699"/>
          <a:lstStyle>
            <a:lvl1pPr algn="l">
              <a:defRPr>
                <a:solidFill>
                  <a:srgbClr val="535353"/>
                </a:solidFill>
              </a:defRPr>
            </a:lvl1pPr>
          </a:lstStyle>
          <a:p>
            <a:r>
              <a:t>발표자 소개</a:t>
            </a:r>
          </a:p>
        </p:txBody>
      </p:sp>
      <p:sp>
        <p:nvSpPr>
          <p:cNvPr id="273" name="Shape 197"/>
          <p:cNvSpPr txBox="1">
            <a:spLocks noGrp="1"/>
          </p:cNvSpPr>
          <p:nvPr>
            <p:ph type="body" sz="quarter" idx="4294967295"/>
          </p:nvPr>
        </p:nvSpPr>
        <p:spPr>
          <a:xfrm>
            <a:off x="9654" y="812533"/>
            <a:ext cx="9144001" cy="288002"/>
          </a:xfrm>
          <a:prstGeom prst="rect">
            <a:avLst/>
          </a:prstGeom>
        </p:spPr>
        <p:txBody>
          <a:bodyPr lIns="45699" tIns="45699" rIns="45699" bIns="45699">
            <a:normAutofit/>
          </a:bodyPr>
          <a:lstStyle/>
          <a:p>
            <a:pPr algn="ctr">
              <a:defRPr sz="1200"/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143"/>
          <p:cNvSpPr txBox="1">
            <a:spLocks noGrp="1"/>
          </p:cNvSpPr>
          <p:nvPr>
            <p:ph type="title"/>
          </p:nvPr>
        </p:nvSpPr>
        <p:spPr>
          <a:xfrm>
            <a:off x="6136863" y="4184536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Great </a:t>
            </a:r>
            <a:r>
              <a:rPr>
                <a:solidFill>
                  <a:srgbClr val="0DD2D9"/>
                </a:solidFill>
              </a:rPr>
              <a:t>Code</a:t>
            </a:r>
          </a:p>
        </p:txBody>
      </p:sp>
      <p:grpSp>
        <p:nvGrpSpPr>
          <p:cNvPr id="280" name="그룹"/>
          <p:cNvGrpSpPr/>
          <p:nvPr/>
        </p:nvGrpSpPr>
        <p:grpSpPr>
          <a:xfrm>
            <a:off x="2502490" y="1909253"/>
            <a:ext cx="4139020" cy="538041"/>
            <a:chOff x="0" y="0"/>
            <a:chExt cx="4139019" cy="538039"/>
          </a:xfrm>
        </p:grpSpPr>
        <p:grpSp>
          <p:nvGrpSpPr>
            <p:cNvPr id="278" name="Shape 148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76" name="Shape 149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277" name="Shape 150"/>
              <p:cNvSpPr txBox="1"/>
              <p:nvPr/>
            </p:nvSpPr>
            <p:spPr>
              <a:xfrm>
                <a:off x="88997" y="93706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r>
                  <a:t>2</a:t>
                </a:r>
              </a:p>
            </p:txBody>
          </p:sp>
        </p:grpSp>
        <p:sp>
          <p:nvSpPr>
            <p:cNvPr id="279" name="Shape 157"/>
            <p:cNvSpPr txBox="1"/>
            <p:nvPr/>
          </p:nvSpPr>
          <p:spPr>
            <a:xfrm>
              <a:off x="639259" y="43781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rPr dirty="0" err="1"/>
                <a:t>수와</a:t>
              </a:r>
              <a:r>
                <a:rPr dirty="0"/>
                <a:t> </a:t>
              </a:r>
              <a:r>
                <a:rPr dirty="0" err="1"/>
                <a:t>수치</a:t>
              </a:r>
              <a:r>
                <a:rPr dirty="0"/>
                <a:t> </a:t>
              </a:r>
              <a:r>
                <a:rPr dirty="0" err="1"/>
                <a:t>표기법</a:t>
              </a:r>
              <a:endParaRPr dirty="0"/>
            </a:p>
          </p:txBody>
        </p:sp>
      </p:grpSp>
      <p:grpSp>
        <p:nvGrpSpPr>
          <p:cNvPr id="285" name="그룹"/>
          <p:cNvGrpSpPr/>
          <p:nvPr/>
        </p:nvGrpSpPr>
        <p:grpSpPr>
          <a:xfrm>
            <a:off x="2502489" y="2665829"/>
            <a:ext cx="4139021" cy="538043"/>
            <a:chOff x="-1" y="-1"/>
            <a:chExt cx="4139020" cy="538041"/>
          </a:xfrm>
        </p:grpSpPr>
        <p:grpSp>
          <p:nvGrpSpPr>
            <p:cNvPr id="283" name="Shape 151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81" name="Shape 152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282" name="Shape 153"/>
              <p:cNvSpPr txBox="1"/>
              <p:nvPr/>
            </p:nvSpPr>
            <p:spPr>
              <a:xfrm>
                <a:off x="88997" y="93707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r>
                  <a:t>3</a:t>
                </a:r>
              </a:p>
            </p:txBody>
          </p:sp>
        </p:grpSp>
        <p:sp>
          <p:nvSpPr>
            <p:cNvPr id="284" name="Shape 157"/>
            <p:cNvSpPr txBox="1"/>
            <p:nvPr/>
          </p:nvSpPr>
          <p:spPr>
            <a:xfrm>
              <a:off x="639259" y="43779"/>
              <a:ext cx="3499760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rPr lang="ko-KR" altLang="en-US" dirty="0" smtClean="0"/>
                <a:t>컴퓨터의 수치표기</a:t>
              </a:r>
              <a:endParaRPr dirty="0"/>
            </a:p>
          </p:txBody>
        </p:sp>
      </p:grpSp>
      <p:grpSp>
        <p:nvGrpSpPr>
          <p:cNvPr id="290" name="그룹"/>
          <p:cNvGrpSpPr/>
          <p:nvPr/>
        </p:nvGrpSpPr>
        <p:grpSpPr>
          <a:xfrm>
            <a:off x="2502490" y="3435107"/>
            <a:ext cx="4139020" cy="538041"/>
            <a:chOff x="0" y="0"/>
            <a:chExt cx="4139019" cy="538039"/>
          </a:xfrm>
        </p:grpSpPr>
        <p:grpSp>
          <p:nvGrpSpPr>
            <p:cNvPr id="288" name="Shape 154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86" name="Shape 155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287" name="Shape 156"/>
              <p:cNvSpPr txBox="1"/>
              <p:nvPr/>
            </p:nvSpPr>
            <p:spPr>
              <a:xfrm>
                <a:off x="88997" y="93707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r>
                  <a:t>4</a:t>
                </a:r>
              </a:p>
            </p:txBody>
          </p:sp>
        </p:grpSp>
        <p:sp>
          <p:nvSpPr>
            <p:cNvPr id="289" name="Shape 157"/>
            <p:cNvSpPr txBox="1"/>
            <p:nvPr/>
          </p:nvSpPr>
          <p:spPr>
            <a:xfrm>
              <a:off x="639259" y="43777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rPr dirty="0" err="1"/>
                <a:t>다양한</a:t>
              </a:r>
              <a:r>
                <a:rPr dirty="0"/>
                <a:t> </a:t>
              </a:r>
              <a:r>
                <a:rPr dirty="0" err="1"/>
                <a:t>수치표기</a:t>
              </a:r>
              <a:endParaRPr dirty="0"/>
            </a:p>
          </p:txBody>
        </p:sp>
      </p:grpSp>
      <p:grpSp>
        <p:nvGrpSpPr>
          <p:cNvPr id="295" name="그룹"/>
          <p:cNvGrpSpPr/>
          <p:nvPr/>
        </p:nvGrpSpPr>
        <p:grpSpPr>
          <a:xfrm>
            <a:off x="2502490" y="1139977"/>
            <a:ext cx="4139020" cy="538041"/>
            <a:chOff x="0" y="0"/>
            <a:chExt cx="4139019" cy="538039"/>
          </a:xfrm>
        </p:grpSpPr>
        <p:grpSp>
          <p:nvGrpSpPr>
            <p:cNvPr id="293" name="Shape 145"/>
            <p:cNvGrpSpPr/>
            <p:nvPr/>
          </p:nvGrpSpPr>
          <p:grpSpPr>
            <a:xfrm>
              <a:off x="-1" y="-1"/>
              <a:ext cx="538041" cy="538041"/>
              <a:chOff x="0" y="0"/>
              <a:chExt cx="538039" cy="538039"/>
            </a:xfrm>
          </p:grpSpPr>
          <p:sp>
            <p:nvSpPr>
              <p:cNvPr id="291" name="Shape 146"/>
              <p:cNvSpPr/>
              <p:nvPr/>
            </p:nvSpPr>
            <p:spPr>
              <a:xfrm>
                <a:off x="-1" y="-1"/>
                <a:ext cx="538040" cy="538040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292" name="Shape 147"/>
              <p:cNvSpPr txBox="1"/>
              <p:nvPr/>
            </p:nvSpPr>
            <p:spPr>
              <a:xfrm>
                <a:off x="88997" y="93706"/>
                <a:ext cx="360043" cy="350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r>
                  <a:t>1</a:t>
                </a:r>
              </a:p>
            </p:txBody>
          </p:sp>
        </p:grpSp>
        <p:sp>
          <p:nvSpPr>
            <p:cNvPr id="294" name="Shape 157"/>
            <p:cNvSpPr txBox="1"/>
            <p:nvPr/>
          </p:nvSpPr>
          <p:spPr>
            <a:xfrm>
              <a:off x="639259" y="43780"/>
              <a:ext cx="3499760" cy="434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rPr dirty="0"/>
                <a:t>책 </a:t>
              </a:r>
              <a:r>
                <a:rPr dirty="0" err="1"/>
                <a:t>소개</a:t>
              </a:r>
              <a:endParaRPr dirty="0"/>
            </a:p>
          </p:txBody>
        </p:sp>
      </p:grpSp>
      <p:sp>
        <p:nvSpPr>
          <p:cNvPr id="296" name="Shape 143"/>
          <p:cNvSpPr txBox="1"/>
          <p:nvPr/>
        </p:nvSpPr>
        <p:spPr>
          <a:xfrm>
            <a:off x="1541572" y="248946"/>
            <a:ext cx="7560000" cy="77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699" tIns="45699" rIns="45699" bIns="45699" anchor="ctr">
            <a:normAutofit/>
          </a:bodyPr>
          <a:lstStyle>
            <a:lvl1pPr>
              <a:lnSpc>
                <a:spcPct val="100000"/>
              </a:lnSpc>
              <a:defRPr sz="3800">
                <a:solidFill>
                  <a:srgbClr val="535353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목차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166"/>
          <p:cNvSpPr txBox="1">
            <a:spLocks noGrp="1"/>
          </p:cNvSpPr>
          <p:nvPr>
            <p:ph type="title" idx="4294967295"/>
          </p:nvPr>
        </p:nvSpPr>
        <p:spPr>
          <a:xfrm>
            <a:off x="3131848" y="2129725"/>
            <a:ext cx="6012003" cy="503702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r>
              <a:t>1. 책 소개</a:t>
            </a:r>
          </a:p>
        </p:txBody>
      </p:sp>
      <p:sp>
        <p:nvSpPr>
          <p:cNvPr id="301" name="Shape 167"/>
          <p:cNvSpPr txBox="1">
            <a:spLocks noGrp="1"/>
          </p:cNvSpPr>
          <p:nvPr>
            <p:ph type="body" sz="quarter" idx="4294967295"/>
          </p:nvPr>
        </p:nvSpPr>
        <p:spPr>
          <a:xfrm>
            <a:off x="3131840" y="2683834"/>
            <a:ext cx="5472608" cy="363849"/>
          </a:xfrm>
          <a:prstGeom prst="rect">
            <a:avLst/>
          </a:prstGeom>
        </p:spPr>
        <p:txBody>
          <a:bodyPr lIns="45699" tIns="45699" rIns="45699" bIns="45699" anchor="ctr">
            <a:normAutofit/>
          </a:bodyPr>
          <a:lstStyle>
            <a:lvl1pPr defTabSz="548640">
              <a:lnSpc>
                <a:spcPct val="90000"/>
              </a:lnSpc>
              <a:defRPr sz="1900"/>
            </a:lvl1pPr>
          </a:lstStyle>
          <a:p>
            <a:r>
              <a:t>최고의 코드를 위해 알아야 할 것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130"/>
          <p:cNvSpPr txBox="1">
            <a:spLocks noGrp="1"/>
          </p:cNvSpPr>
          <p:nvPr>
            <p:ph type="title"/>
          </p:nvPr>
        </p:nvSpPr>
        <p:spPr>
          <a:xfrm>
            <a:off x="14189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저자 및 책 소개</a:t>
            </a:r>
          </a:p>
        </p:txBody>
      </p:sp>
      <p:sp>
        <p:nvSpPr>
          <p:cNvPr id="304" name="Shape 138"/>
          <p:cNvSpPr txBox="1"/>
          <p:nvPr/>
        </p:nvSpPr>
        <p:spPr>
          <a:xfrm>
            <a:off x="1581570" y="3872083"/>
            <a:ext cx="7234657" cy="62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- GreatCode - 랜달 하이드의 저</a:t>
            </a:r>
          </a:p>
          <a:p>
            <a:pPr marL="120315" indent="-120315">
              <a:buSzPct val="100000"/>
              <a:buChar char="-"/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총 4권의 시리즈</a:t>
            </a:r>
          </a:p>
        </p:txBody>
      </p:sp>
      <p:pic>
        <p:nvPicPr>
          <p:cNvPr id="305" name="랜달하이드.png" descr="랜달하이드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126500" y="977198"/>
            <a:ext cx="4464721" cy="223716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스크린샷 2017-10-08 오전 3.55.42.png" descr="스크린샷 2017-10-08 오전 3.55.42.png"/>
          <p:cNvPicPr>
            <a:picLocks noChangeAspect="1"/>
          </p:cNvPicPr>
          <p:nvPr/>
        </p:nvPicPr>
        <p:blipFill>
          <a:blip r:embed="rId4">
            <a:extLst/>
          </a:blip>
          <a:srcRect l="6065" t="5885" r="21619" b="3516"/>
          <a:stretch>
            <a:fillRect/>
          </a:stretch>
        </p:blipFill>
        <p:spPr>
          <a:xfrm>
            <a:off x="1871259" y="840655"/>
            <a:ext cx="1834543" cy="224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2" h="21600" extrusionOk="0">
                <a:moveTo>
                  <a:pt x="11067" y="0"/>
                </a:moveTo>
                <a:cubicBezTo>
                  <a:pt x="11045" y="5"/>
                  <a:pt x="11011" y="23"/>
                  <a:pt x="10997" y="23"/>
                </a:cubicBezTo>
                <a:cubicBezTo>
                  <a:pt x="10945" y="23"/>
                  <a:pt x="10871" y="52"/>
                  <a:pt x="10834" y="88"/>
                </a:cubicBezTo>
                <a:cubicBezTo>
                  <a:pt x="10756" y="165"/>
                  <a:pt x="10480" y="290"/>
                  <a:pt x="10480" y="248"/>
                </a:cubicBezTo>
                <a:cubicBezTo>
                  <a:pt x="10480" y="233"/>
                  <a:pt x="10441" y="251"/>
                  <a:pt x="10391" y="287"/>
                </a:cubicBezTo>
                <a:cubicBezTo>
                  <a:pt x="10342" y="322"/>
                  <a:pt x="10144" y="417"/>
                  <a:pt x="9953" y="501"/>
                </a:cubicBezTo>
                <a:cubicBezTo>
                  <a:pt x="9684" y="619"/>
                  <a:pt x="9584" y="644"/>
                  <a:pt x="9510" y="611"/>
                </a:cubicBezTo>
                <a:cubicBezTo>
                  <a:pt x="9440" y="581"/>
                  <a:pt x="9399" y="587"/>
                  <a:pt x="9347" y="638"/>
                </a:cubicBezTo>
                <a:cubicBezTo>
                  <a:pt x="9309" y="676"/>
                  <a:pt x="9286" y="721"/>
                  <a:pt x="9296" y="734"/>
                </a:cubicBezTo>
                <a:cubicBezTo>
                  <a:pt x="9306" y="747"/>
                  <a:pt x="9194" y="807"/>
                  <a:pt x="9049" y="871"/>
                </a:cubicBezTo>
                <a:cubicBezTo>
                  <a:pt x="8848" y="960"/>
                  <a:pt x="8762" y="979"/>
                  <a:pt x="8690" y="948"/>
                </a:cubicBezTo>
                <a:cubicBezTo>
                  <a:pt x="8620" y="917"/>
                  <a:pt x="8579" y="923"/>
                  <a:pt x="8527" y="975"/>
                </a:cubicBezTo>
                <a:cubicBezTo>
                  <a:pt x="8489" y="1012"/>
                  <a:pt x="8465" y="1053"/>
                  <a:pt x="8476" y="1066"/>
                </a:cubicBezTo>
                <a:cubicBezTo>
                  <a:pt x="8486" y="1079"/>
                  <a:pt x="8374" y="1143"/>
                  <a:pt x="8229" y="1208"/>
                </a:cubicBezTo>
                <a:cubicBezTo>
                  <a:pt x="8028" y="1297"/>
                  <a:pt x="7942" y="1316"/>
                  <a:pt x="7870" y="1284"/>
                </a:cubicBezTo>
                <a:cubicBezTo>
                  <a:pt x="7802" y="1254"/>
                  <a:pt x="7761" y="1260"/>
                  <a:pt x="7721" y="1299"/>
                </a:cubicBezTo>
                <a:cubicBezTo>
                  <a:pt x="7690" y="1330"/>
                  <a:pt x="7680" y="1365"/>
                  <a:pt x="7698" y="1380"/>
                </a:cubicBezTo>
                <a:cubicBezTo>
                  <a:pt x="7715" y="1394"/>
                  <a:pt x="7676" y="1428"/>
                  <a:pt x="7609" y="1452"/>
                </a:cubicBezTo>
                <a:cubicBezTo>
                  <a:pt x="7542" y="1477"/>
                  <a:pt x="7326" y="1571"/>
                  <a:pt x="7129" y="1662"/>
                </a:cubicBezTo>
                <a:cubicBezTo>
                  <a:pt x="6932" y="1753"/>
                  <a:pt x="6235" y="2045"/>
                  <a:pt x="5582" y="2312"/>
                </a:cubicBezTo>
                <a:cubicBezTo>
                  <a:pt x="4928" y="2579"/>
                  <a:pt x="4377" y="2817"/>
                  <a:pt x="4361" y="2839"/>
                </a:cubicBezTo>
                <a:cubicBezTo>
                  <a:pt x="4344" y="2862"/>
                  <a:pt x="4294" y="2878"/>
                  <a:pt x="4249" y="2878"/>
                </a:cubicBezTo>
                <a:cubicBezTo>
                  <a:pt x="4203" y="2878"/>
                  <a:pt x="4125" y="2907"/>
                  <a:pt x="4077" y="2943"/>
                </a:cubicBezTo>
                <a:cubicBezTo>
                  <a:pt x="4029" y="2979"/>
                  <a:pt x="3940" y="3012"/>
                  <a:pt x="3881" y="3015"/>
                </a:cubicBezTo>
                <a:cubicBezTo>
                  <a:pt x="3821" y="3019"/>
                  <a:pt x="3774" y="3037"/>
                  <a:pt x="3774" y="3054"/>
                </a:cubicBezTo>
                <a:cubicBezTo>
                  <a:pt x="3774" y="3101"/>
                  <a:pt x="3465" y="3214"/>
                  <a:pt x="3336" y="3214"/>
                </a:cubicBezTo>
                <a:cubicBezTo>
                  <a:pt x="3272" y="3214"/>
                  <a:pt x="3203" y="3234"/>
                  <a:pt x="3186" y="3256"/>
                </a:cubicBezTo>
                <a:cubicBezTo>
                  <a:pt x="3170" y="3278"/>
                  <a:pt x="3122" y="3285"/>
                  <a:pt x="3079" y="3271"/>
                </a:cubicBezTo>
                <a:cubicBezTo>
                  <a:pt x="3023" y="3254"/>
                  <a:pt x="3002" y="3266"/>
                  <a:pt x="3014" y="3321"/>
                </a:cubicBezTo>
                <a:cubicBezTo>
                  <a:pt x="3025" y="3376"/>
                  <a:pt x="2992" y="3409"/>
                  <a:pt x="2902" y="3424"/>
                </a:cubicBezTo>
                <a:cubicBezTo>
                  <a:pt x="2832" y="3436"/>
                  <a:pt x="2713" y="3481"/>
                  <a:pt x="2636" y="3524"/>
                </a:cubicBezTo>
                <a:cubicBezTo>
                  <a:pt x="2559" y="3567"/>
                  <a:pt x="2459" y="3590"/>
                  <a:pt x="2417" y="3577"/>
                </a:cubicBezTo>
                <a:cubicBezTo>
                  <a:pt x="2376" y="3564"/>
                  <a:pt x="2331" y="3571"/>
                  <a:pt x="2315" y="3592"/>
                </a:cubicBezTo>
                <a:cubicBezTo>
                  <a:pt x="2299" y="3613"/>
                  <a:pt x="2253" y="3621"/>
                  <a:pt x="2212" y="3608"/>
                </a:cubicBezTo>
                <a:cubicBezTo>
                  <a:pt x="2171" y="3595"/>
                  <a:pt x="2138" y="3600"/>
                  <a:pt x="2138" y="3623"/>
                </a:cubicBezTo>
                <a:cubicBezTo>
                  <a:pt x="2138" y="3692"/>
                  <a:pt x="1662" y="3970"/>
                  <a:pt x="1602" y="3936"/>
                </a:cubicBezTo>
                <a:cubicBezTo>
                  <a:pt x="1498" y="3877"/>
                  <a:pt x="1394" y="3911"/>
                  <a:pt x="1192" y="4066"/>
                </a:cubicBezTo>
                <a:cubicBezTo>
                  <a:pt x="1081" y="4151"/>
                  <a:pt x="981" y="4211"/>
                  <a:pt x="968" y="4200"/>
                </a:cubicBezTo>
                <a:cubicBezTo>
                  <a:pt x="955" y="4189"/>
                  <a:pt x="873" y="4225"/>
                  <a:pt x="786" y="4276"/>
                </a:cubicBezTo>
                <a:cubicBezTo>
                  <a:pt x="699" y="4327"/>
                  <a:pt x="589" y="4360"/>
                  <a:pt x="539" y="4353"/>
                </a:cubicBezTo>
                <a:cubicBezTo>
                  <a:pt x="482" y="4345"/>
                  <a:pt x="430" y="4381"/>
                  <a:pt x="400" y="4445"/>
                </a:cubicBezTo>
                <a:cubicBezTo>
                  <a:pt x="355" y="4542"/>
                  <a:pt x="190" y="4616"/>
                  <a:pt x="50" y="4601"/>
                </a:cubicBezTo>
                <a:cubicBezTo>
                  <a:pt x="-29" y="4593"/>
                  <a:pt x="-10" y="4745"/>
                  <a:pt x="83" y="4884"/>
                </a:cubicBezTo>
                <a:cubicBezTo>
                  <a:pt x="135" y="4962"/>
                  <a:pt x="130" y="4981"/>
                  <a:pt x="73" y="4999"/>
                </a:cubicBezTo>
                <a:cubicBezTo>
                  <a:pt x="27" y="5013"/>
                  <a:pt x="5" y="5098"/>
                  <a:pt x="3" y="5251"/>
                </a:cubicBezTo>
                <a:cubicBezTo>
                  <a:pt x="1" y="5439"/>
                  <a:pt x="12" y="5473"/>
                  <a:pt x="69" y="5434"/>
                </a:cubicBezTo>
                <a:cubicBezTo>
                  <a:pt x="121" y="5399"/>
                  <a:pt x="161" y="5399"/>
                  <a:pt x="218" y="5438"/>
                </a:cubicBezTo>
                <a:cubicBezTo>
                  <a:pt x="261" y="5467"/>
                  <a:pt x="292" y="5478"/>
                  <a:pt x="292" y="5461"/>
                </a:cubicBezTo>
                <a:cubicBezTo>
                  <a:pt x="292" y="5444"/>
                  <a:pt x="322" y="5448"/>
                  <a:pt x="358" y="5473"/>
                </a:cubicBezTo>
                <a:cubicBezTo>
                  <a:pt x="404" y="5504"/>
                  <a:pt x="423" y="5624"/>
                  <a:pt x="414" y="5866"/>
                </a:cubicBezTo>
                <a:lnTo>
                  <a:pt x="400" y="6214"/>
                </a:lnTo>
                <a:lnTo>
                  <a:pt x="591" y="6306"/>
                </a:lnTo>
                <a:cubicBezTo>
                  <a:pt x="751" y="6381"/>
                  <a:pt x="780" y="6421"/>
                  <a:pt x="791" y="6550"/>
                </a:cubicBezTo>
                <a:cubicBezTo>
                  <a:pt x="798" y="6635"/>
                  <a:pt x="832" y="6745"/>
                  <a:pt x="866" y="6795"/>
                </a:cubicBezTo>
                <a:cubicBezTo>
                  <a:pt x="900" y="6845"/>
                  <a:pt x="921" y="6906"/>
                  <a:pt x="912" y="6929"/>
                </a:cubicBezTo>
                <a:cubicBezTo>
                  <a:pt x="862" y="7049"/>
                  <a:pt x="872" y="7153"/>
                  <a:pt x="931" y="7135"/>
                </a:cubicBezTo>
                <a:cubicBezTo>
                  <a:pt x="965" y="7124"/>
                  <a:pt x="1050" y="7132"/>
                  <a:pt x="1122" y="7154"/>
                </a:cubicBezTo>
                <a:cubicBezTo>
                  <a:pt x="1228" y="7187"/>
                  <a:pt x="1249" y="7220"/>
                  <a:pt x="1234" y="7322"/>
                </a:cubicBezTo>
                <a:cubicBezTo>
                  <a:pt x="1222" y="7411"/>
                  <a:pt x="1246" y="7455"/>
                  <a:pt x="1308" y="7475"/>
                </a:cubicBezTo>
                <a:cubicBezTo>
                  <a:pt x="1389" y="7501"/>
                  <a:pt x="1386" y="7508"/>
                  <a:pt x="1294" y="7563"/>
                </a:cubicBezTo>
                <a:cubicBezTo>
                  <a:pt x="1198" y="7621"/>
                  <a:pt x="1199" y="7623"/>
                  <a:pt x="1290" y="7678"/>
                </a:cubicBezTo>
                <a:cubicBezTo>
                  <a:pt x="1342" y="7709"/>
                  <a:pt x="1369" y="7756"/>
                  <a:pt x="1350" y="7781"/>
                </a:cubicBezTo>
                <a:cubicBezTo>
                  <a:pt x="1329" y="7809"/>
                  <a:pt x="1371" y="7830"/>
                  <a:pt x="1457" y="7838"/>
                </a:cubicBezTo>
                <a:cubicBezTo>
                  <a:pt x="1580" y="7850"/>
                  <a:pt x="1601" y="7876"/>
                  <a:pt x="1625" y="8022"/>
                </a:cubicBezTo>
                <a:cubicBezTo>
                  <a:pt x="1640" y="8114"/>
                  <a:pt x="1672" y="8213"/>
                  <a:pt x="1695" y="8243"/>
                </a:cubicBezTo>
                <a:cubicBezTo>
                  <a:pt x="1717" y="8273"/>
                  <a:pt x="1711" y="8321"/>
                  <a:pt x="1681" y="8350"/>
                </a:cubicBezTo>
                <a:cubicBezTo>
                  <a:pt x="1642" y="8389"/>
                  <a:pt x="1652" y="8433"/>
                  <a:pt x="1714" y="8507"/>
                </a:cubicBezTo>
                <a:cubicBezTo>
                  <a:pt x="1762" y="8563"/>
                  <a:pt x="1796" y="8641"/>
                  <a:pt x="1788" y="8679"/>
                </a:cubicBezTo>
                <a:cubicBezTo>
                  <a:pt x="1780" y="8717"/>
                  <a:pt x="1827" y="8776"/>
                  <a:pt x="1891" y="8813"/>
                </a:cubicBezTo>
                <a:cubicBezTo>
                  <a:pt x="2071" y="8916"/>
                  <a:pt x="2132" y="9045"/>
                  <a:pt x="2073" y="9183"/>
                </a:cubicBezTo>
                <a:cubicBezTo>
                  <a:pt x="2038" y="9266"/>
                  <a:pt x="2038" y="9321"/>
                  <a:pt x="2077" y="9359"/>
                </a:cubicBezTo>
                <a:cubicBezTo>
                  <a:pt x="2108" y="9390"/>
                  <a:pt x="2122" y="9426"/>
                  <a:pt x="2105" y="9439"/>
                </a:cubicBezTo>
                <a:cubicBezTo>
                  <a:pt x="2088" y="9453"/>
                  <a:pt x="2150" y="9481"/>
                  <a:pt x="2245" y="9501"/>
                </a:cubicBezTo>
                <a:cubicBezTo>
                  <a:pt x="2392" y="9532"/>
                  <a:pt x="2421" y="9555"/>
                  <a:pt x="2436" y="9676"/>
                </a:cubicBezTo>
                <a:cubicBezTo>
                  <a:pt x="2445" y="9755"/>
                  <a:pt x="2489" y="9841"/>
                  <a:pt x="2534" y="9868"/>
                </a:cubicBezTo>
                <a:cubicBezTo>
                  <a:pt x="2594" y="9904"/>
                  <a:pt x="2594" y="9924"/>
                  <a:pt x="2548" y="9948"/>
                </a:cubicBezTo>
                <a:cubicBezTo>
                  <a:pt x="2501" y="9971"/>
                  <a:pt x="2510" y="9999"/>
                  <a:pt x="2576" y="10059"/>
                </a:cubicBezTo>
                <a:cubicBezTo>
                  <a:pt x="2644" y="10121"/>
                  <a:pt x="2647" y="10153"/>
                  <a:pt x="2599" y="10200"/>
                </a:cubicBezTo>
                <a:cubicBezTo>
                  <a:pt x="2554" y="10244"/>
                  <a:pt x="2557" y="10267"/>
                  <a:pt x="2599" y="10288"/>
                </a:cubicBezTo>
                <a:cubicBezTo>
                  <a:pt x="2638" y="10308"/>
                  <a:pt x="2619" y="10344"/>
                  <a:pt x="2548" y="10399"/>
                </a:cubicBezTo>
                <a:cubicBezTo>
                  <a:pt x="2413" y="10502"/>
                  <a:pt x="2417" y="10510"/>
                  <a:pt x="2567" y="10487"/>
                </a:cubicBezTo>
                <a:cubicBezTo>
                  <a:pt x="2722" y="10462"/>
                  <a:pt x="2924" y="10618"/>
                  <a:pt x="2888" y="10731"/>
                </a:cubicBezTo>
                <a:cubicBezTo>
                  <a:pt x="2874" y="10774"/>
                  <a:pt x="2893" y="10829"/>
                  <a:pt x="2930" y="10854"/>
                </a:cubicBezTo>
                <a:cubicBezTo>
                  <a:pt x="3008" y="10907"/>
                  <a:pt x="3001" y="10987"/>
                  <a:pt x="2911" y="11075"/>
                </a:cubicBezTo>
                <a:cubicBezTo>
                  <a:pt x="2873" y="11113"/>
                  <a:pt x="2869" y="11149"/>
                  <a:pt x="2897" y="11163"/>
                </a:cubicBezTo>
                <a:cubicBezTo>
                  <a:pt x="2924" y="11177"/>
                  <a:pt x="2960" y="11157"/>
                  <a:pt x="2977" y="11121"/>
                </a:cubicBezTo>
                <a:cubicBezTo>
                  <a:pt x="3003" y="11066"/>
                  <a:pt x="3032" y="11073"/>
                  <a:pt x="3154" y="11167"/>
                </a:cubicBezTo>
                <a:cubicBezTo>
                  <a:pt x="3287" y="11270"/>
                  <a:pt x="3296" y="11302"/>
                  <a:pt x="3284" y="11549"/>
                </a:cubicBezTo>
                <a:cubicBezTo>
                  <a:pt x="3271" y="11829"/>
                  <a:pt x="3324" y="11920"/>
                  <a:pt x="3433" y="11797"/>
                </a:cubicBezTo>
                <a:cubicBezTo>
                  <a:pt x="3492" y="11732"/>
                  <a:pt x="3508" y="11737"/>
                  <a:pt x="3587" y="11836"/>
                </a:cubicBezTo>
                <a:cubicBezTo>
                  <a:pt x="3634" y="11895"/>
                  <a:pt x="3671" y="11987"/>
                  <a:pt x="3671" y="12042"/>
                </a:cubicBezTo>
                <a:cubicBezTo>
                  <a:pt x="3671" y="12097"/>
                  <a:pt x="3689" y="12152"/>
                  <a:pt x="3708" y="12168"/>
                </a:cubicBezTo>
                <a:cubicBezTo>
                  <a:pt x="3728" y="12184"/>
                  <a:pt x="3751" y="12232"/>
                  <a:pt x="3760" y="12271"/>
                </a:cubicBezTo>
                <a:cubicBezTo>
                  <a:pt x="3803" y="12458"/>
                  <a:pt x="3796" y="12510"/>
                  <a:pt x="3736" y="12501"/>
                </a:cubicBezTo>
                <a:cubicBezTo>
                  <a:pt x="3626" y="12483"/>
                  <a:pt x="3664" y="12524"/>
                  <a:pt x="3853" y="12619"/>
                </a:cubicBezTo>
                <a:cubicBezTo>
                  <a:pt x="4061" y="12725"/>
                  <a:pt x="4061" y="12812"/>
                  <a:pt x="3853" y="12791"/>
                </a:cubicBezTo>
                <a:cubicBezTo>
                  <a:pt x="3754" y="12781"/>
                  <a:pt x="3724" y="12791"/>
                  <a:pt x="3750" y="12825"/>
                </a:cubicBezTo>
                <a:cubicBezTo>
                  <a:pt x="3771" y="12853"/>
                  <a:pt x="3839" y="12866"/>
                  <a:pt x="3904" y="12856"/>
                </a:cubicBezTo>
                <a:cubicBezTo>
                  <a:pt x="3969" y="12846"/>
                  <a:pt x="4051" y="12854"/>
                  <a:pt x="4086" y="12871"/>
                </a:cubicBezTo>
                <a:cubicBezTo>
                  <a:pt x="4164" y="12911"/>
                  <a:pt x="4191" y="13027"/>
                  <a:pt x="4128" y="13059"/>
                </a:cubicBezTo>
                <a:cubicBezTo>
                  <a:pt x="4102" y="13072"/>
                  <a:pt x="4081" y="13112"/>
                  <a:pt x="4081" y="13146"/>
                </a:cubicBezTo>
                <a:cubicBezTo>
                  <a:pt x="4081" y="13181"/>
                  <a:pt x="4101" y="13198"/>
                  <a:pt x="4128" y="13185"/>
                </a:cubicBezTo>
                <a:cubicBezTo>
                  <a:pt x="4198" y="13149"/>
                  <a:pt x="4251" y="13240"/>
                  <a:pt x="4207" y="13322"/>
                </a:cubicBezTo>
                <a:cubicBezTo>
                  <a:pt x="4112" y="13501"/>
                  <a:pt x="4172" y="13594"/>
                  <a:pt x="4319" y="13494"/>
                </a:cubicBezTo>
                <a:cubicBezTo>
                  <a:pt x="4437" y="13414"/>
                  <a:pt x="4542" y="13546"/>
                  <a:pt x="4505" y="13731"/>
                </a:cubicBezTo>
                <a:cubicBezTo>
                  <a:pt x="4489" y="13811"/>
                  <a:pt x="4501" y="13898"/>
                  <a:pt x="4533" y="13930"/>
                </a:cubicBezTo>
                <a:cubicBezTo>
                  <a:pt x="4565" y="13961"/>
                  <a:pt x="4577" y="14001"/>
                  <a:pt x="4561" y="14014"/>
                </a:cubicBezTo>
                <a:cubicBezTo>
                  <a:pt x="4545" y="14027"/>
                  <a:pt x="4572" y="14081"/>
                  <a:pt x="4617" y="14136"/>
                </a:cubicBezTo>
                <a:cubicBezTo>
                  <a:pt x="4662" y="14192"/>
                  <a:pt x="4681" y="14252"/>
                  <a:pt x="4664" y="14266"/>
                </a:cubicBezTo>
                <a:cubicBezTo>
                  <a:pt x="4646" y="14281"/>
                  <a:pt x="4700" y="14355"/>
                  <a:pt x="4785" y="14434"/>
                </a:cubicBezTo>
                <a:cubicBezTo>
                  <a:pt x="4912" y="14553"/>
                  <a:pt x="4933" y="14608"/>
                  <a:pt x="4915" y="14740"/>
                </a:cubicBezTo>
                <a:cubicBezTo>
                  <a:pt x="4898" y="14870"/>
                  <a:pt x="4918" y="14916"/>
                  <a:pt x="5013" y="14977"/>
                </a:cubicBezTo>
                <a:lnTo>
                  <a:pt x="5130" y="15050"/>
                </a:lnTo>
                <a:lnTo>
                  <a:pt x="5018" y="15076"/>
                </a:lnTo>
                <a:cubicBezTo>
                  <a:pt x="4855" y="15113"/>
                  <a:pt x="4928" y="15215"/>
                  <a:pt x="5111" y="15206"/>
                </a:cubicBezTo>
                <a:cubicBezTo>
                  <a:pt x="5295" y="15198"/>
                  <a:pt x="5455" y="15366"/>
                  <a:pt x="5386" y="15497"/>
                </a:cubicBezTo>
                <a:cubicBezTo>
                  <a:pt x="5325" y="15611"/>
                  <a:pt x="5323" y="15652"/>
                  <a:pt x="5377" y="15711"/>
                </a:cubicBezTo>
                <a:cubicBezTo>
                  <a:pt x="5403" y="15740"/>
                  <a:pt x="5409" y="15764"/>
                  <a:pt x="5391" y="15764"/>
                </a:cubicBezTo>
                <a:cubicBezTo>
                  <a:pt x="5372" y="15764"/>
                  <a:pt x="5392" y="15808"/>
                  <a:pt x="5433" y="15860"/>
                </a:cubicBezTo>
                <a:cubicBezTo>
                  <a:pt x="5495" y="15939"/>
                  <a:pt x="5507" y="16269"/>
                  <a:pt x="5503" y="17958"/>
                </a:cubicBezTo>
                <a:cubicBezTo>
                  <a:pt x="5500" y="19866"/>
                  <a:pt x="5495" y="19967"/>
                  <a:pt x="5405" y="20006"/>
                </a:cubicBezTo>
                <a:cubicBezTo>
                  <a:pt x="5352" y="20029"/>
                  <a:pt x="5311" y="20081"/>
                  <a:pt x="5311" y="20117"/>
                </a:cubicBezTo>
                <a:cubicBezTo>
                  <a:pt x="5311" y="20169"/>
                  <a:pt x="5327" y="20173"/>
                  <a:pt x="5381" y="20136"/>
                </a:cubicBezTo>
                <a:cubicBezTo>
                  <a:pt x="5434" y="20100"/>
                  <a:pt x="5464" y="20101"/>
                  <a:pt x="5507" y="20144"/>
                </a:cubicBezTo>
                <a:cubicBezTo>
                  <a:pt x="5539" y="20175"/>
                  <a:pt x="5547" y="20214"/>
                  <a:pt x="5526" y="20232"/>
                </a:cubicBezTo>
                <a:cubicBezTo>
                  <a:pt x="5505" y="20249"/>
                  <a:pt x="5535" y="20259"/>
                  <a:pt x="5591" y="20251"/>
                </a:cubicBezTo>
                <a:cubicBezTo>
                  <a:pt x="5678" y="20239"/>
                  <a:pt x="5695" y="20261"/>
                  <a:pt x="5708" y="20415"/>
                </a:cubicBezTo>
                <a:lnTo>
                  <a:pt x="5726" y="20595"/>
                </a:lnTo>
                <a:lnTo>
                  <a:pt x="5917" y="20580"/>
                </a:lnTo>
                <a:cubicBezTo>
                  <a:pt x="6022" y="20572"/>
                  <a:pt x="6132" y="20554"/>
                  <a:pt x="6164" y="20538"/>
                </a:cubicBezTo>
                <a:cubicBezTo>
                  <a:pt x="6197" y="20521"/>
                  <a:pt x="6240" y="20528"/>
                  <a:pt x="6258" y="20553"/>
                </a:cubicBezTo>
                <a:cubicBezTo>
                  <a:pt x="6277" y="20578"/>
                  <a:pt x="6323" y="20588"/>
                  <a:pt x="6360" y="20576"/>
                </a:cubicBezTo>
                <a:cubicBezTo>
                  <a:pt x="6453" y="20546"/>
                  <a:pt x="6557" y="20659"/>
                  <a:pt x="6560" y="20794"/>
                </a:cubicBezTo>
                <a:cubicBezTo>
                  <a:pt x="6562" y="20887"/>
                  <a:pt x="6590" y="20909"/>
                  <a:pt x="6719" y="20916"/>
                </a:cubicBezTo>
                <a:cubicBezTo>
                  <a:pt x="6803" y="20920"/>
                  <a:pt x="6974" y="20948"/>
                  <a:pt x="7101" y="20981"/>
                </a:cubicBezTo>
                <a:cubicBezTo>
                  <a:pt x="7279" y="21028"/>
                  <a:pt x="7332" y="21063"/>
                  <a:pt x="7329" y="21130"/>
                </a:cubicBezTo>
                <a:cubicBezTo>
                  <a:pt x="7327" y="21178"/>
                  <a:pt x="7341" y="21209"/>
                  <a:pt x="7362" y="21199"/>
                </a:cubicBezTo>
                <a:cubicBezTo>
                  <a:pt x="7383" y="21188"/>
                  <a:pt x="7418" y="21197"/>
                  <a:pt x="7437" y="21222"/>
                </a:cubicBezTo>
                <a:cubicBezTo>
                  <a:pt x="7455" y="21247"/>
                  <a:pt x="7498" y="21260"/>
                  <a:pt x="7534" y="21248"/>
                </a:cubicBezTo>
                <a:cubicBezTo>
                  <a:pt x="7641" y="21215"/>
                  <a:pt x="7772" y="21315"/>
                  <a:pt x="7791" y="21451"/>
                </a:cubicBezTo>
                <a:cubicBezTo>
                  <a:pt x="7800" y="21520"/>
                  <a:pt x="7811" y="21583"/>
                  <a:pt x="7814" y="21589"/>
                </a:cubicBezTo>
                <a:cubicBezTo>
                  <a:pt x="7817" y="21594"/>
                  <a:pt x="7911" y="21600"/>
                  <a:pt x="8024" y="21600"/>
                </a:cubicBezTo>
                <a:cubicBezTo>
                  <a:pt x="8157" y="21600"/>
                  <a:pt x="8223" y="21581"/>
                  <a:pt x="8215" y="21546"/>
                </a:cubicBezTo>
                <a:cubicBezTo>
                  <a:pt x="8196" y="21474"/>
                  <a:pt x="8482" y="21477"/>
                  <a:pt x="8532" y="21550"/>
                </a:cubicBezTo>
                <a:cubicBezTo>
                  <a:pt x="8554" y="21584"/>
                  <a:pt x="8597" y="21597"/>
                  <a:pt x="8630" y="21581"/>
                </a:cubicBezTo>
                <a:cubicBezTo>
                  <a:pt x="8662" y="21565"/>
                  <a:pt x="8678" y="21536"/>
                  <a:pt x="8662" y="21516"/>
                </a:cubicBezTo>
                <a:cubicBezTo>
                  <a:pt x="8627" y="21469"/>
                  <a:pt x="8814" y="21383"/>
                  <a:pt x="8988" y="21367"/>
                </a:cubicBezTo>
                <a:cubicBezTo>
                  <a:pt x="9061" y="21360"/>
                  <a:pt x="9169" y="21383"/>
                  <a:pt x="9231" y="21417"/>
                </a:cubicBezTo>
                <a:cubicBezTo>
                  <a:pt x="9306" y="21457"/>
                  <a:pt x="9353" y="21462"/>
                  <a:pt x="9375" y="21432"/>
                </a:cubicBezTo>
                <a:cubicBezTo>
                  <a:pt x="9394" y="21408"/>
                  <a:pt x="9460" y="21390"/>
                  <a:pt x="9520" y="21390"/>
                </a:cubicBezTo>
                <a:cubicBezTo>
                  <a:pt x="9579" y="21390"/>
                  <a:pt x="9665" y="21363"/>
                  <a:pt x="9711" y="21329"/>
                </a:cubicBezTo>
                <a:cubicBezTo>
                  <a:pt x="9757" y="21295"/>
                  <a:pt x="9898" y="21258"/>
                  <a:pt x="10023" y="21248"/>
                </a:cubicBezTo>
                <a:cubicBezTo>
                  <a:pt x="10148" y="21239"/>
                  <a:pt x="10275" y="21227"/>
                  <a:pt x="10303" y="21222"/>
                </a:cubicBezTo>
                <a:cubicBezTo>
                  <a:pt x="10331" y="21216"/>
                  <a:pt x="10363" y="21213"/>
                  <a:pt x="10377" y="21218"/>
                </a:cubicBezTo>
                <a:cubicBezTo>
                  <a:pt x="10484" y="21252"/>
                  <a:pt x="10578" y="21247"/>
                  <a:pt x="10568" y="21206"/>
                </a:cubicBezTo>
                <a:cubicBezTo>
                  <a:pt x="10562" y="21180"/>
                  <a:pt x="10614" y="21157"/>
                  <a:pt x="10685" y="21157"/>
                </a:cubicBezTo>
                <a:cubicBezTo>
                  <a:pt x="10760" y="21157"/>
                  <a:pt x="10809" y="21179"/>
                  <a:pt x="10801" y="21210"/>
                </a:cubicBezTo>
                <a:cubicBezTo>
                  <a:pt x="10780" y="21297"/>
                  <a:pt x="10983" y="21268"/>
                  <a:pt x="11044" y="21176"/>
                </a:cubicBezTo>
                <a:cubicBezTo>
                  <a:pt x="11117" y="21063"/>
                  <a:pt x="11432" y="21076"/>
                  <a:pt x="11421" y="21191"/>
                </a:cubicBezTo>
                <a:cubicBezTo>
                  <a:pt x="11416" y="21248"/>
                  <a:pt x="11452" y="21264"/>
                  <a:pt x="11584" y="21264"/>
                </a:cubicBezTo>
                <a:cubicBezTo>
                  <a:pt x="11710" y="21264"/>
                  <a:pt x="11749" y="21249"/>
                  <a:pt x="11729" y="21206"/>
                </a:cubicBezTo>
                <a:cubicBezTo>
                  <a:pt x="11697" y="21138"/>
                  <a:pt x="11894" y="21011"/>
                  <a:pt x="12032" y="21011"/>
                </a:cubicBezTo>
                <a:cubicBezTo>
                  <a:pt x="12084" y="21011"/>
                  <a:pt x="12171" y="21033"/>
                  <a:pt x="12227" y="21057"/>
                </a:cubicBezTo>
                <a:cubicBezTo>
                  <a:pt x="12315" y="21096"/>
                  <a:pt x="12317" y="21112"/>
                  <a:pt x="12260" y="21172"/>
                </a:cubicBezTo>
                <a:cubicBezTo>
                  <a:pt x="12198" y="21237"/>
                  <a:pt x="12203" y="21237"/>
                  <a:pt x="12297" y="21180"/>
                </a:cubicBezTo>
                <a:cubicBezTo>
                  <a:pt x="12354" y="21145"/>
                  <a:pt x="12426" y="21088"/>
                  <a:pt x="12460" y="21054"/>
                </a:cubicBezTo>
                <a:cubicBezTo>
                  <a:pt x="12495" y="21019"/>
                  <a:pt x="12525" y="21009"/>
                  <a:pt x="12526" y="21031"/>
                </a:cubicBezTo>
                <a:cubicBezTo>
                  <a:pt x="12527" y="21052"/>
                  <a:pt x="12556" y="21036"/>
                  <a:pt x="12591" y="20996"/>
                </a:cubicBezTo>
                <a:cubicBezTo>
                  <a:pt x="12631" y="20951"/>
                  <a:pt x="12751" y="20921"/>
                  <a:pt x="12912" y="20908"/>
                </a:cubicBezTo>
                <a:cubicBezTo>
                  <a:pt x="13052" y="20898"/>
                  <a:pt x="13224" y="20876"/>
                  <a:pt x="13295" y="20862"/>
                </a:cubicBezTo>
                <a:cubicBezTo>
                  <a:pt x="13520" y="20819"/>
                  <a:pt x="13578" y="20820"/>
                  <a:pt x="13565" y="20874"/>
                </a:cubicBezTo>
                <a:cubicBezTo>
                  <a:pt x="13547" y="20950"/>
                  <a:pt x="13831" y="20940"/>
                  <a:pt x="13910" y="20862"/>
                </a:cubicBezTo>
                <a:cubicBezTo>
                  <a:pt x="13968" y="20805"/>
                  <a:pt x="13985" y="20805"/>
                  <a:pt x="14091" y="20862"/>
                </a:cubicBezTo>
                <a:cubicBezTo>
                  <a:pt x="14240" y="20942"/>
                  <a:pt x="14269" y="20943"/>
                  <a:pt x="14269" y="20862"/>
                </a:cubicBezTo>
                <a:cubicBezTo>
                  <a:pt x="14269" y="20763"/>
                  <a:pt x="14397" y="20745"/>
                  <a:pt x="14544" y="20824"/>
                </a:cubicBezTo>
                <a:cubicBezTo>
                  <a:pt x="14679" y="20897"/>
                  <a:pt x="15160" y="20948"/>
                  <a:pt x="15112" y="20885"/>
                </a:cubicBezTo>
                <a:cubicBezTo>
                  <a:pt x="15078" y="20840"/>
                  <a:pt x="15215" y="20752"/>
                  <a:pt x="15261" y="20790"/>
                </a:cubicBezTo>
                <a:cubicBezTo>
                  <a:pt x="15281" y="20806"/>
                  <a:pt x="15347" y="20766"/>
                  <a:pt x="15410" y="20702"/>
                </a:cubicBezTo>
                <a:cubicBezTo>
                  <a:pt x="15489" y="20620"/>
                  <a:pt x="15571" y="20586"/>
                  <a:pt x="15690" y="20583"/>
                </a:cubicBezTo>
                <a:cubicBezTo>
                  <a:pt x="15783" y="20581"/>
                  <a:pt x="15871" y="20561"/>
                  <a:pt x="15886" y="20541"/>
                </a:cubicBezTo>
                <a:cubicBezTo>
                  <a:pt x="15924" y="20492"/>
                  <a:pt x="16303" y="20498"/>
                  <a:pt x="16342" y="20549"/>
                </a:cubicBezTo>
                <a:cubicBezTo>
                  <a:pt x="16382" y="20603"/>
                  <a:pt x="16657" y="20606"/>
                  <a:pt x="16697" y="20553"/>
                </a:cubicBezTo>
                <a:cubicBezTo>
                  <a:pt x="16716" y="20527"/>
                  <a:pt x="16772" y="20527"/>
                  <a:pt x="16855" y="20553"/>
                </a:cubicBezTo>
                <a:cubicBezTo>
                  <a:pt x="17016" y="20603"/>
                  <a:pt x="17147" y="20604"/>
                  <a:pt x="17111" y="20557"/>
                </a:cubicBezTo>
                <a:cubicBezTo>
                  <a:pt x="17068" y="20499"/>
                  <a:pt x="17215" y="20368"/>
                  <a:pt x="17293" y="20392"/>
                </a:cubicBezTo>
                <a:cubicBezTo>
                  <a:pt x="17333" y="20405"/>
                  <a:pt x="17379" y="20410"/>
                  <a:pt x="17396" y="20408"/>
                </a:cubicBezTo>
                <a:cubicBezTo>
                  <a:pt x="17413" y="20405"/>
                  <a:pt x="17455" y="20424"/>
                  <a:pt x="17494" y="20450"/>
                </a:cubicBezTo>
                <a:cubicBezTo>
                  <a:pt x="17534" y="20475"/>
                  <a:pt x="17647" y="20498"/>
                  <a:pt x="17741" y="20499"/>
                </a:cubicBezTo>
                <a:cubicBezTo>
                  <a:pt x="17834" y="20501"/>
                  <a:pt x="17937" y="20523"/>
                  <a:pt x="17974" y="20549"/>
                </a:cubicBezTo>
                <a:cubicBezTo>
                  <a:pt x="18027" y="20585"/>
                  <a:pt x="18077" y="20571"/>
                  <a:pt x="18174" y="20492"/>
                </a:cubicBezTo>
                <a:cubicBezTo>
                  <a:pt x="18244" y="20434"/>
                  <a:pt x="18287" y="20379"/>
                  <a:pt x="18276" y="20369"/>
                </a:cubicBezTo>
                <a:cubicBezTo>
                  <a:pt x="18231" y="20333"/>
                  <a:pt x="18423" y="20244"/>
                  <a:pt x="18556" y="20239"/>
                </a:cubicBezTo>
                <a:cubicBezTo>
                  <a:pt x="18633" y="20237"/>
                  <a:pt x="18714" y="20223"/>
                  <a:pt x="18742" y="20209"/>
                </a:cubicBezTo>
                <a:cubicBezTo>
                  <a:pt x="18805" y="20177"/>
                  <a:pt x="19086" y="20174"/>
                  <a:pt x="19148" y="20205"/>
                </a:cubicBezTo>
                <a:cubicBezTo>
                  <a:pt x="19173" y="20217"/>
                  <a:pt x="19343" y="20233"/>
                  <a:pt x="19525" y="20243"/>
                </a:cubicBezTo>
                <a:cubicBezTo>
                  <a:pt x="19791" y="20258"/>
                  <a:pt x="19867" y="20250"/>
                  <a:pt x="19917" y="20194"/>
                </a:cubicBezTo>
                <a:cubicBezTo>
                  <a:pt x="19974" y="20130"/>
                  <a:pt x="19985" y="20129"/>
                  <a:pt x="20047" y="20190"/>
                </a:cubicBezTo>
                <a:cubicBezTo>
                  <a:pt x="20133" y="20276"/>
                  <a:pt x="20236" y="20276"/>
                  <a:pt x="20276" y="20190"/>
                </a:cubicBezTo>
                <a:cubicBezTo>
                  <a:pt x="20300" y="20139"/>
                  <a:pt x="20326" y="20132"/>
                  <a:pt x="20378" y="20167"/>
                </a:cubicBezTo>
                <a:cubicBezTo>
                  <a:pt x="20415" y="20192"/>
                  <a:pt x="20460" y="20199"/>
                  <a:pt x="20481" y="20182"/>
                </a:cubicBezTo>
                <a:cubicBezTo>
                  <a:pt x="20502" y="20165"/>
                  <a:pt x="20546" y="20152"/>
                  <a:pt x="20579" y="20152"/>
                </a:cubicBezTo>
                <a:cubicBezTo>
                  <a:pt x="20612" y="20152"/>
                  <a:pt x="20639" y="20127"/>
                  <a:pt x="20639" y="20098"/>
                </a:cubicBezTo>
                <a:cubicBezTo>
                  <a:pt x="20639" y="19990"/>
                  <a:pt x="20860" y="19923"/>
                  <a:pt x="21222" y="19915"/>
                </a:cubicBezTo>
                <a:cubicBezTo>
                  <a:pt x="21491" y="19909"/>
                  <a:pt x="21571" y="19894"/>
                  <a:pt x="21534" y="19857"/>
                </a:cubicBezTo>
                <a:cubicBezTo>
                  <a:pt x="21504" y="19827"/>
                  <a:pt x="21490" y="19016"/>
                  <a:pt x="21497" y="17725"/>
                </a:cubicBezTo>
                <a:cubicBezTo>
                  <a:pt x="21509" y="15763"/>
                  <a:pt x="21502" y="15641"/>
                  <a:pt x="21417" y="15623"/>
                </a:cubicBezTo>
                <a:cubicBezTo>
                  <a:pt x="21331" y="15605"/>
                  <a:pt x="21331" y="15397"/>
                  <a:pt x="21334" y="11664"/>
                </a:cubicBezTo>
                <a:cubicBezTo>
                  <a:pt x="21336" y="9397"/>
                  <a:pt x="21353" y="7702"/>
                  <a:pt x="21380" y="7666"/>
                </a:cubicBezTo>
                <a:cubicBezTo>
                  <a:pt x="21408" y="7629"/>
                  <a:pt x="21409" y="7585"/>
                  <a:pt x="21380" y="7555"/>
                </a:cubicBezTo>
                <a:cubicBezTo>
                  <a:pt x="21350" y="7527"/>
                  <a:pt x="21335" y="7155"/>
                  <a:pt x="21343" y="6650"/>
                </a:cubicBezTo>
                <a:cubicBezTo>
                  <a:pt x="21357" y="5821"/>
                  <a:pt x="21360" y="5795"/>
                  <a:pt x="21459" y="5809"/>
                </a:cubicBezTo>
                <a:cubicBezTo>
                  <a:pt x="21551" y="5822"/>
                  <a:pt x="21546" y="5816"/>
                  <a:pt x="21431" y="5725"/>
                </a:cubicBezTo>
                <a:cubicBezTo>
                  <a:pt x="21360" y="5669"/>
                  <a:pt x="21294" y="5627"/>
                  <a:pt x="21278" y="5633"/>
                </a:cubicBezTo>
                <a:cubicBezTo>
                  <a:pt x="21262" y="5639"/>
                  <a:pt x="21170" y="5603"/>
                  <a:pt x="21073" y="5553"/>
                </a:cubicBezTo>
                <a:cubicBezTo>
                  <a:pt x="20976" y="5503"/>
                  <a:pt x="20757" y="5401"/>
                  <a:pt x="20588" y="5327"/>
                </a:cubicBezTo>
                <a:cubicBezTo>
                  <a:pt x="20414" y="5252"/>
                  <a:pt x="20287" y="5169"/>
                  <a:pt x="20294" y="5136"/>
                </a:cubicBezTo>
                <a:cubicBezTo>
                  <a:pt x="20303" y="5093"/>
                  <a:pt x="20231" y="5080"/>
                  <a:pt x="19987" y="5083"/>
                </a:cubicBezTo>
                <a:cubicBezTo>
                  <a:pt x="19811" y="5084"/>
                  <a:pt x="19627" y="5100"/>
                  <a:pt x="19581" y="5117"/>
                </a:cubicBezTo>
                <a:cubicBezTo>
                  <a:pt x="19534" y="5135"/>
                  <a:pt x="19304" y="5140"/>
                  <a:pt x="19064" y="5129"/>
                </a:cubicBezTo>
                <a:cubicBezTo>
                  <a:pt x="18738" y="5113"/>
                  <a:pt x="18601" y="5126"/>
                  <a:pt x="18523" y="5171"/>
                </a:cubicBezTo>
                <a:cubicBezTo>
                  <a:pt x="18451" y="5212"/>
                  <a:pt x="18230" y="5236"/>
                  <a:pt x="17815" y="5247"/>
                </a:cubicBezTo>
                <a:cubicBezTo>
                  <a:pt x="17482" y="5256"/>
                  <a:pt x="17170" y="5276"/>
                  <a:pt x="17121" y="5293"/>
                </a:cubicBezTo>
                <a:cubicBezTo>
                  <a:pt x="17072" y="5310"/>
                  <a:pt x="16947" y="5311"/>
                  <a:pt x="16841" y="5297"/>
                </a:cubicBezTo>
                <a:cubicBezTo>
                  <a:pt x="16736" y="5283"/>
                  <a:pt x="16620" y="5273"/>
                  <a:pt x="16585" y="5274"/>
                </a:cubicBezTo>
                <a:cubicBezTo>
                  <a:pt x="16410" y="5279"/>
                  <a:pt x="16225" y="5299"/>
                  <a:pt x="16123" y="5327"/>
                </a:cubicBezTo>
                <a:cubicBezTo>
                  <a:pt x="15881" y="5395"/>
                  <a:pt x="15702" y="5210"/>
                  <a:pt x="15802" y="4995"/>
                </a:cubicBezTo>
                <a:cubicBezTo>
                  <a:pt x="15846" y="4899"/>
                  <a:pt x="15843" y="4871"/>
                  <a:pt x="15779" y="4842"/>
                </a:cubicBezTo>
                <a:cubicBezTo>
                  <a:pt x="15735" y="4822"/>
                  <a:pt x="15695" y="4778"/>
                  <a:pt x="15695" y="4743"/>
                </a:cubicBezTo>
                <a:cubicBezTo>
                  <a:pt x="15695" y="4708"/>
                  <a:pt x="15681" y="4688"/>
                  <a:pt x="15657" y="4701"/>
                </a:cubicBezTo>
                <a:cubicBezTo>
                  <a:pt x="15632" y="4713"/>
                  <a:pt x="15573" y="4685"/>
                  <a:pt x="15522" y="4639"/>
                </a:cubicBezTo>
                <a:cubicBezTo>
                  <a:pt x="15472" y="4594"/>
                  <a:pt x="15441" y="4555"/>
                  <a:pt x="15462" y="4555"/>
                </a:cubicBezTo>
                <a:cubicBezTo>
                  <a:pt x="15484" y="4555"/>
                  <a:pt x="15468" y="4509"/>
                  <a:pt x="15420" y="4448"/>
                </a:cubicBezTo>
                <a:cubicBezTo>
                  <a:pt x="15359" y="4372"/>
                  <a:pt x="15350" y="4326"/>
                  <a:pt x="15387" y="4296"/>
                </a:cubicBezTo>
                <a:cubicBezTo>
                  <a:pt x="15425" y="4265"/>
                  <a:pt x="15422" y="4223"/>
                  <a:pt x="15382" y="4162"/>
                </a:cubicBezTo>
                <a:cubicBezTo>
                  <a:pt x="15350" y="4113"/>
                  <a:pt x="15334" y="4074"/>
                  <a:pt x="15345" y="4074"/>
                </a:cubicBezTo>
                <a:cubicBezTo>
                  <a:pt x="15398" y="4074"/>
                  <a:pt x="15205" y="3899"/>
                  <a:pt x="15126" y="3875"/>
                </a:cubicBezTo>
                <a:cubicBezTo>
                  <a:pt x="15074" y="3859"/>
                  <a:pt x="15033" y="3802"/>
                  <a:pt x="15033" y="3741"/>
                </a:cubicBezTo>
                <a:cubicBezTo>
                  <a:pt x="15033" y="3684"/>
                  <a:pt x="15013" y="3629"/>
                  <a:pt x="14986" y="3615"/>
                </a:cubicBezTo>
                <a:cubicBezTo>
                  <a:pt x="14960" y="3602"/>
                  <a:pt x="14937" y="3554"/>
                  <a:pt x="14935" y="3508"/>
                </a:cubicBezTo>
                <a:cubicBezTo>
                  <a:pt x="14933" y="3463"/>
                  <a:pt x="14931" y="3383"/>
                  <a:pt x="14930" y="3332"/>
                </a:cubicBezTo>
                <a:cubicBezTo>
                  <a:pt x="14928" y="3282"/>
                  <a:pt x="14908" y="3219"/>
                  <a:pt x="14884" y="3195"/>
                </a:cubicBezTo>
                <a:cubicBezTo>
                  <a:pt x="14828" y="3137"/>
                  <a:pt x="14915" y="2951"/>
                  <a:pt x="14982" y="2985"/>
                </a:cubicBezTo>
                <a:cubicBezTo>
                  <a:pt x="15010" y="2999"/>
                  <a:pt x="15033" y="2979"/>
                  <a:pt x="15033" y="2943"/>
                </a:cubicBezTo>
                <a:cubicBezTo>
                  <a:pt x="15033" y="2859"/>
                  <a:pt x="14960" y="2859"/>
                  <a:pt x="14805" y="2943"/>
                </a:cubicBezTo>
                <a:cubicBezTo>
                  <a:pt x="14691" y="3004"/>
                  <a:pt x="14679" y="3003"/>
                  <a:pt x="14632" y="2931"/>
                </a:cubicBezTo>
                <a:cubicBezTo>
                  <a:pt x="14604" y="2888"/>
                  <a:pt x="14594" y="2783"/>
                  <a:pt x="14609" y="2694"/>
                </a:cubicBezTo>
                <a:cubicBezTo>
                  <a:pt x="14627" y="2584"/>
                  <a:pt x="14620" y="2541"/>
                  <a:pt x="14581" y="2561"/>
                </a:cubicBezTo>
                <a:cubicBezTo>
                  <a:pt x="14460" y="2622"/>
                  <a:pt x="14423" y="2533"/>
                  <a:pt x="14525" y="2427"/>
                </a:cubicBezTo>
                <a:cubicBezTo>
                  <a:pt x="14623" y="2324"/>
                  <a:pt x="14620" y="2319"/>
                  <a:pt x="14534" y="2270"/>
                </a:cubicBezTo>
                <a:cubicBezTo>
                  <a:pt x="14485" y="2242"/>
                  <a:pt x="14400" y="2210"/>
                  <a:pt x="14343" y="2201"/>
                </a:cubicBezTo>
                <a:cubicBezTo>
                  <a:pt x="14196" y="2178"/>
                  <a:pt x="14097" y="1907"/>
                  <a:pt x="14180" y="1758"/>
                </a:cubicBezTo>
                <a:cubicBezTo>
                  <a:pt x="14234" y="1661"/>
                  <a:pt x="14228" y="1641"/>
                  <a:pt x="14143" y="1601"/>
                </a:cubicBezTo>
                <a:cubicBezTo>
                  <a:pt x="14023" y="1545"/>
                  <a:pt x="13808" y="1367"/>
                  <a:pt x="13817" y="1330"/>
                </a:cubicBezTo>
                <a:cubicBezTo>
                  <a:pt x="13820" y="1315"/>
                  <a:pt x="13784" y="1233"/>
                  <a:pt x="13737" y="1146"/>
                </a:cubicBezTo>
                <a:cubicBezTo>
                  <a:pt x="13691" y="1060"/>
                  <a:pt x="13659" y="928"/>
                  <a:pt x="13667" y="852"/>
                </a:cubicBezTo>
                <a:cubicBezTo>
                  <a:pt x="13676" y="757"/>
                  <a:pt x="13658" y="719"/>
                  <a:pt x="13607" y="718"/>
                </a:cubicBezTo>
                <a:cubicBezTo>
                  <a:pt x="13531" y="718"/>
                  <a:pt x="13288" y="362"/>
                  <a:pt x="13327" y="310"/>
                </a:cubicBezTo>
                <a:cubicBezTo>
                  <a:pt x="13340" y="293"/>
                  <a:pt x="13324" y="271"/>
                  <a:pt x="13295" y="256"/>
                </a:cubicBezTo>
                <a:cubicBezTo>
                  <a:pt x="13266" y="241"/>
                  <a:pt x="13254" y="210"/>
                  <a:pt x="13271" y="187"/>
                </a:cubicBezTo>
                <a:cubicBezTo>
                  <a:pt x="13289" y="164"/>
                  <a:pt x="13270" y="112"/>
                  <a:pt x="13229" y="73"/>
                </a:cubicBezTo>
                <a:cubicBezTo>
                  <a:pt x="13209" y="53"/>
                  <a:pt x="13198" y="27"/>
                  <a:pt x="13178" y="0"/>
                </a:cubicBezTo>
                <a:lnTo>
                  <a:pt x="11067" y="0"/>
                </a:lnTo>
                <a:close/>
                <a:moveTo>
                  <a:pt x="15830" y="4567"/>
                </a:moveTo>
                <a:cubicBezTo>
                  <a:pt x="15814" y="4554"/>
                  <a:pt x="15772" y="4565"/>
                  <a:pt x="15737" y="4594"/>
                </a:cubicBezTo>
                <a:cubicBezTo>
                  <a:pt x="15687" y="4635"/>
                  <a:pt x="15692" y="4639"/>
                  <a:pt x="15765" y="4617"/>
                </a:cubicBezTo>
                <a:cubicBezTo>
                  <a:pt x="15815" y="4601"/>
                  <a:pt x="15846" y="4580"/>
                  <a:pt x="15830" y="4567"/>
                </a:cubicBezTo>
                <a:close/>
              </a:path>
            </a:pathLst>
          </a:custGeom>
          <a:ln w="12700">
            <a:miter lim="400000"/>
          </a:ln>
          <a:effectLst>
            <a:reflection stA="50000" endPos="40000" dir="5400000" sy="-100000" algn="bl" rotWithShape="0"/>
          </a:effectLst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166"/>
          <p:cNvSpPr txBox="1">
            <a:spLocks noGrp="1"/>
          </p:cNvSpPr>
          <p:nvPr>
            <p:ph type="title" idx="4294967295"/>
          </p:nvPr>
        </p:nvSpPr>
        <p:spPr>
          <a:xfrm>
            <a:off x="3131848" y="2307525"/>
            <a:ext cx="6012003" cy="503702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r>
              <a:t>2. 수와 수치 표기법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442"/>
          <p:cNvSpPr txBox="1">
            <a:spLocks noGrp="1"/>
          </p:cNvSpPr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수와 수치 표기법</a:t>
            </a:r>
          </a:p>
        </p:txBody>
      </p:sp>
      <p:sp>
        <p:nvSpPr>
          <p:cNvPr id="313" name="수란 막연하고 추상적이며 개념적인 내용인 동시에 양을 나타내는…"/>
          <p:cNvSpPr txBox="1"/>
          <p:nvPr/>
        </p:nvSpPr>
        <p:spPr>
          <a:xfrm>
            <a:off x="246862" y="1084580"/>
            <a:ext cx="8650276" cy="1257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40631" indent="-240631">
              <a:buSzPct val="100000"/>
              <a:buChar char="•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수란 막연하고 </a:t>
            </a:r>
            <a:r>
              <a:rPr>
                <a:solidFill>
                  <a:schemeClr val="accent6"/>
                </a:solidFill>
              </a:rPr>
              <a:t>추상적</a:t>
            </a:r>
            <a:r>
              <a:t>이며 개념적인 내용인 동시에 양을 나타내는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지적 도구, 수치 표기법은 그 수를 실제로 나타내는 방법 </a:t>
            </a:r>
          </a:p>
        </p:txBody>
      </p:sp>
      <p:pic>
        <p:nvPicPr>
          <p:cNvPr id="314" name="백의수치표기.png" descr="백의수치표기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619671" y="3075806"/>
            <a:ext cx="5322753" cy="24360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스크린샷 2017-10-10 오전 7.17.35.png" descr="스크린샷 2017-10-10 오전 7.17.3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070" y="-451727"/>
            <a:ext cx="9133859" cy="6046955"/>
          </a:xfrm>
          <a:prstGeom prst="rect">
            <a:avLst/>
          </a:prstGeom>
          <a:ln w="12700">
            <a:miter lim="400000"/>
          </a:ln>
        </p:spPr>
      </p:pic>
      <p:sp>
        <p:nvSpPr>
          <p:cNvPr id="317" name="타원형"/>
          <p:cNvSpPr/>
          <p:nvPr/>
        </p:nvSpPr>
        <p:spPr>
          <a:xfrm>
            <a:off x="6680199" y="793750"/>
            <a:ext cx="1343624" cy="1278484"/>
          </a:xfrm>
          <a:prstGeom prst="ellipse">
            <a:avLst/>
          </a:prstGeom>
          <a:ln w="38100">
            <a:solidFill>
              <a:srgbClr val="D35220"/>
            </a:solidFill>
            <a:prstDash val="sysDot"/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sz="1400" b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제목 1"/>
          <p:cNvSpPr txBox="1">
            <a:spLocks noGrp="1"/>
          </p:cNvSpPr>
          <p:nvPr>
            <p:ph type="title"/>
          </p:nvPr>
        </p:nvSpPr>
        <p:spPr>
          <a:xfrm>
            <a:off x="-5071" y="-1460698"/>
            <a:ext cx="9144001" cy="776401"/>
          </a:xfrm>
          <a:prstGeom prst="rect">
            <a:avLst/>
          </a:prstGeom>
        </p:spPr>
        <p:txBody>
          <a:bodyPr/>
          <a:lstStyle/>
          <a:p>
            <a:r>
              <a:rPr dirty="0" err="1"/>
              <a:t>수와</a:t>
            </a:r>
            <a:r>
              <a:rPr dirty="0"/>
              <a:t> </a:t>
            </a:r>
            <a:r>
              <a:rPr dirty="0" err="1"/>
              <a:t>수치표기법</a:t>
            </a:r>
            <a:r>
              <a:rPr dirty="0"/>
              <a:t> – </a:t>
            </a:r>
            <a:r>
              <a:rPr lang="ko-KR" altLang="en-US" dirty="0" smtClean="0"/>
              <a:t>산</a:t>
            </a:r>
            <a:r>
              <a:rPr dirty="0" err="1" smtClean="0"/>
              <a:t>가지</a:t>
            </a:r>
            <a:r>
              <a:rPr dirty="0" smtClean="0"/>
              <a:t> </a:t>
            </a:r>
            <a:r>
              <a:rPr dirty="0" err="1"/>
              <a:t>표기법</a:t>
            </a:r>
            <a:endParaRPr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Shape 442"/>
          <p:cNvSpPr txBox="1">
            <a:spLocks noGrp="1"/>
          </p:cNvSpPr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수와 수치 표기법</a:t>
            </a:r>
          </a:p>
        </p:txBody>
      </p:sp>
      <p:sp>
        <p:nvSpPr>
          <p:cNvPr id="321" name="산가지 표기법으로 재무재표를 작성한다?…"/>
          <p:cNvSpPr txBox="1"/>
          <p:nvPr/>
        </p:nvSpPr>
        <p:spPr>
          <a:xfrm>
            <a:off x="919962" y="2715766"/>
            <a:ext cx="6892019" cy="491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sz="2400" dirty="0" err="1"/>
              <a:t>산가지</a:t>
            </a:r>
            <a:r>
              <a:rPr sz="2400" dirty="0"/>
              <a:t> </a:t>
            </a:r>
            <a:r>
              <a:rPr sz="2400" dirty="0" err="1"/>
              <a:t>표기법으로</a:t>
            </a:r>
            <a:r>
              <a:rPr sz="2400" dirty="0"/>
              <a:t> </a:t>
            </a:r>
            <a:r>
              <a:rPr sz="2400" dirty="0" err="1">
                <a:solidFill>
                  <a:schemeClr val="accent6"/>
                </a:solidFill>
              </a:rPr>
              <a:t>재무재표</a:t>
            </a:r>
            <a:r>
              <a:rPr sz="2400" dirty="0" err="1"/>
              <a:t>를</a:t>
            </a:r>
            <a:r>
              <a:rPr sz="2400" dirty="0"/>
              <a:t> </a:t>
            </a:r>
            <a:r>
              <a:rPr sz="2400" dirty="0" err="1"/>
              <a:t>작성한다</a:t>
            </a:r>
            <a:r>
              <a:rPr sz="2400" dirty="0" smtClean="0"/>
              <a:t>?</a:t>
            </a:r>
            <a:endParaRPr lang="en-US" sz="2400" dirty="0" smtClean="0"/>
          </a:p>
        </p:txBody>
      </p:sp>
      <p:grpSp>
        <p:nvGrpSpPr>
          <p:cNvPr id="324" name="그룹"/>
          <p:cNvGrpSpPr/>
          <p:nvPr/>
        </p:nvGrpSpPr>
        <p:grpSpPr>
          <a:xfrm>
            <a:off x="924118" y="1131639"/>
            <a:ext cx="6887864" cy="1008064"/>
            <a:chOff x="0" y="0"/>
            <a:chExt cx="7549765" cy="1449529"/>
          </a:xfrm>
        </p:grpSpPr>
        <p:pic>
          <p:nvPicPr>
            <p:cNvPr id="322" name="산가지표기.png" descr="산가지표기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0"/>
              <a:ext cx="7549766" cy="116841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3" name="[그림 - 산가지 표기법 ]"/>
            <p:cNvSpPr txBox="1"/>
            <p:nvPr/>
          </p:nvSpPr>
          <p:spPr>
            <a:xfrm>
              <a:off x="2875917" y="1154891"/>
              <a:ext cx="1797931" cy="2946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r">
                <a:lnSpc>
                  <a:spcPct val="100000"/>
                </a:lnSpc>
                <a:defRPr sz="1400">
                  <a:solidFill>
                    <a:srgbClr val="535353"/>
                  </a:solidFill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[그림 - 산가지 표기법 ]</a:t>
              </a:r>
            </a:p>
          </p:txBody>
        </p:sp>
      </p:grpSp>
      <p:sp>
        <p:nvSpPr>
          <p:cNvPr id="325" name="화살표"/>
          <p:cNvSpPr/>
          <p:nvPr/>
        </p:nvSpPr>
        <p:spPr>
          <a:xfrm>
            <a:off x="1907704" y="4096809"/>
            <a:ext cx="477239" cy="307232"/>
          </a:xfrm>
          <a:prstGeom prst="rightArrow">
            <a:avLst>
              <a:gd name="adj1" fmla="val 32000"/>
              <a:gd name="adj2" fmla="val 99415"/>
            </a:avLst>
          </a:prstGeom>
          <a:solidFill>
            <a:schemeClr val="accent2">
              <a:satOff val="-4966"/>
              <a:lumOff val="-10549"/>
            </a:scheme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sz="1400" b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" name="직사각형 1"/>
          <p:cNvSpPr/>
          <p:nvPr/>
        </p:nvSpPr>
        <p:spPr>
          <a:xfrm>
            <a:off x="1619672" y="3259646"/>
            <a:ext cx="68407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altLang="ko-KR" sz="2000" dirty="0"/>
              <a:t>1. </a:t>
            </a:r>
            <a:r>
              <a:rPr lang="ko-KR" altLang="en-US" sz="2000" dirty="0"/>
              <a:t>수와 표기가 </a:t>
            </a:r>
            <a:r>
              <a:rPr lang="en-US" altLang="ko-KR" sz="2000" dirty="0"/>
              <a:t>1</a:t>
            </a:r>
            <a:r>
              <a:rPr lang="ko-KR" altLang="en-US" sz="2000" dirty="0"/>
              <a:t>대</a:t>
            </a:r>
            <a:r>
              <a:rPr lang="en-US" altLang="ko-KR" sz="2000" dirty="0"/>
              <a:t>1</a:t>
            </a:r>
            <a:r>
              <a:rPr lang="ko-KR" altLang="en-US" sz="2000" dirty="0"/>
              <a:t>로 </a:t>
            </a:r>
            <a:r>
              <a:rPr lang="ko-KR" altLang="en-US" sz="2000" dirty="0" err="1"/>
              <a:t>매칭</a:t>
            </a:r>
            <a:endParaRPr lang="ko-KR" altLang="en-US" sz="2000" dirty="0"/>
          </a:p>
          <a:p>
            <a:pPr lvl="1"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altLang="ko-KR" sz="2000" dirty="0"/>
              <a:t>2. </a:t>
            </a:r>
            <a:r>
              <a:rPr lang="ko-KR" altLang="en-US" sz="2000" dirty="0"/>
              <a:t>실수표현 불가능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ko-KR" altLang="en-US" sz="2000" dirty="0"/>
              <a:t>        문제 해결에 적절한 수치 표기법을 사용해야 한다</a:t>
            </a:r>
            <a:r>
              <a:rPr lang="en-US" altLang="ko-KR" sz="2000" dirty="0"/>
              <a:t>.</a:t>
            </a:r>
            <a:endParaRPr lang="en-US" altLang="ko-KR" sz="20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442"/>
          <p:cNvSpPr txBox="1">
            <a:spLocks noGrp="1"/>
          </p:cNvSpPr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수와 수치 표기법 – 진법</a:t>
            </a:r>
          </a:p>
        </p:txBody>
      </p:sp>
      <p:sp>
        <p:nvSpPr>
          <p:cNvPr id="334" name="산가지 표기법으로 재무재표를 작성한다?…"/>
          <p:cNvSpPr txBox="1"/>
          <p:nvPr/>
        </p:nvSpPr>
        <p:spPr>
          <a:xfrm>
            <a:off x="395536" y="1914562"/>
            <a:ext cx="8499862" cy="1348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                  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2 진법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0,1,2, … ,6,7      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8 진법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0,1,2, … ,13,14,15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</a:t>
            </a:r>
            <a:r>
              <a:t>16 진법 </a:t>
            </a:r>
          </a:p>
        </p:txBody>
      </p:sp>
      <p:sp>
        <p:nvSpPr>
          <p:cNvPr id="335" name="산가지 표기법으로 재무재표를 작성한다?…"/>
          <p:cNvSpPr txBox="1"/>
          <p:nvPr/>
        </p:nvSpPr>
        <p:spPr>
          <a:xfrm>
            <a:off x="395536" y="3583680"/>
            <a:ext cx="8499862" cy="584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32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0,1,2, … ,n-2,n-1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n진법</a:t>
            </a:r>
          </a:p>
        </p:txBody>
      </p:sp>
      <p:sp>
        <p:nvSpPr>
          <p:cNvPr id="5" name="산가지 표기법으로 재무재표를 작성한다?…"/>
          <p:cNvSpPr txBox="1"/>
          <p:nvPr/>
        </p:nvSpPr>
        <p:spPr>
          <a:xfrm>
            <a:off x="533447" y="1131590"/>
            <a:ext cx="8224040" cy="461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진법</a:t>
            </a:r>
            <a:r>
              <a:rPr dirty="0"/>
              <a:t> </a:t>
            </a:r>
            <a:r>
              <a:rPr dirty="0" err="1"/>
              <a:t>표기</a:t>
            </a:r>
            <a:r>
              <a:rPr dirty="0"/>
              <a:t> </a:t>
            </a:r>
            <a:r>
              <a:rPr b="0" dirty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rPr dirty="0"/>
              <a:t>각 </a:t>
            </a:r>
            <a:r>
              <a:rPr dirty="0" err="1"/>
              <a:t>위치에</a:t>
            </a:r>
            <a:r>
              <a:rPr dirty="0"/>
              <a:t> </a:t>
            </a:r>
            <a:r>
              <a:rPr dirty="0" err="1"/>
              <a:t>대한</a:t>
            </a:r>
            <a:r>
              <a:rPr dirty="0"/>
              <a:t> </a:t>
            </a:r>
            <a:r>
              <a:rPr dirty="0" err="1"/>
              <a:t>가중치를</a:t>
            </a:r>
            <a:r>
              <a:rPr dirty="0"/>
              <a:t> </a:t>
            </a:r>
            <a:r>
              <a:rPr dirty="0" err="1"/>
              <a:t>만들어</a:t>
            </a:r>
            <a:r>
              <a:rPr dirty="0"/>
              <a:t> </a:t>
            </a:r>
            <a:r>
              <a:rPr dirty="0" err="1"/>
              <a:t>표기의</a:t>
            </a:r>
            <a:r>
              <a:rPr dirty="0"/>
              <a:t> </a:t>
            </a:r>
            <a:r>
              <a:rPr dirty="0" err="1"/>
              <a:t>개념에</a:t>
            </a:r>
            <a:r>
              <a:rPr dirty="0"/>
              <a:t> </a:t>
            </a:r>
            <a:r>
              <a:rPr dirty="0" err="1"/>
              <a:t>도입</a:t>
            </a:r>
            <a:endParaRPr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Shape 442"/>
          <p:cNvSpPr txBox="1">
            <a:spLocks noGrp="1"/>
          </p:cNvSpPr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수와 수치 표기법</a:t>
            </a:r>
          </a:p>
        </p:txBody>
      </p:sp>
      <p:grpSp>
        <p:nvGrpSpPr>
          <p:cNvPr id="344" name="Shape 570"/>
          <p:cNvGrpSpPr/>
          <p:nvPr/>
        </p:nvGrpSpPr>
        <p:grpSpPr>
          <a:xfrm>
            <a:off x="6220070" y="1727395"/>
            <a:ext cx="854575" cy="891986"/>
            <a:chOff x="0" y="0"/>
            <a:chExt cx="854573" cy="891985"/>
          </a:xfrm>
        </p:grpSpPr>
        <p:sp>
          <p:nvSpPr>
            <p:cNvPr id="341" name="Shape 571"/>
            <p:cNvSpPr txBox="1"/>
            <p:nvPr/>
          </p:nvSpPr>
          <p:spPr>
            <a:xfrm>
              <a:off x="3399" y="0"/>
              <a:ext cx="851175" cy="345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18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rPr dirty="0"/>
                <a:t>2진법</a:t>
              </a:r>
            </a:p>
          </p:txBody>
        </p:sp>
        <p:sp>
          <p:nvSpPr>
            <p:cNvPr id="342" name="Shape 572"/>
            <p:cNvSpPr txBox="1"/>
            <p:nvPr/>
          </p:nvSpPr>
          <p:spPr>
            <a:xfrm>
              <a:off x="0" y="273293"/>
              <a:ext cx="851175" cy="345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18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rPr dirty="0"/>
                <a:t>8진법</a:t>
              </a:r>
            </a:p>
          </p:txBody>
        </p:sp>
        <p:sp>
          <p:nvSpPr>
            <p:cNvPr id="343" name="Shape 573"/>
            <p:cNvSpPr txBox="1"/>
            <p:nvPr/>
          </p:nvSpPr>
          <p:spPr>
            <a:xfrm>
              <a:off x="0" y="546587"/>
              <a:ext cx="851175" cy="345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1800">
                  <a:latin typeface="나눔바른고딕"/>
                  <a:ea typeface="나눔바른고딕"/>
                  <a:cs typeface="나눔바른고딕"/>
                  <a:sym typeface="나눔바른고딕"/>
                </a:defRPr>
              </a:pPr>
              <a:r>
                <a:rPr dirty="0"/>
                <a:t>16진법</a:t>
              </a:r>
            </a:p>
          </p:txBody>
        </p:sp>
      </p:grpSp>
      <p:grpSp>
        <p:nvGrpSpPr>
          <p:cNvPr id="351" name="Shape 578"/>
          <p:cNvGrpSpPr/>
          <p:nvPr/>
        </p:nvGrpSpPr>
        <p:grpSpPr>
          <a:xfrm>
            <a:off x="1530258" y="1802166"/>
            <a:ext cx="4624907" cy="836779"/>
            <a:chOff x="-1" y="0"/>
            <a:chExt cx="2520010" cy="414165"/>
          </a:xfrm>
        </p:grpSpPr>
        <p:sp>
          <p:nvSpPr>
            <p:cNvPr id="345" name="Shape 579"/>
            <p:cNvSpPr/>
            <p:nvPr/>
          </p:nvSpPr>
          <p:spPr>
            <a:xfrm>
              <a:off x="-1" y="0"/>
              <a:ext cx="2520002" cy="108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346" name="Shape 580"/>
            <p:cNvSpPr/>
            <p:nvPr/>
          </p:nvSpPr>
          <p:spPr>
            <a:xfrm>
              <a:off x="3" y="155498"/>
              <a:ext cx="2520002" cy="108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347" name="Shape 581"/>
            <p:cNvSpPr/>
            <p:nvPr/>
          </p:nvSpPr>
          <p:spPr>
            <a:xfrm>
              <a:off x="7" y="306162"/>
              <a:ext cx="2520002" cy="108003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348" name="Shape 583"/>
            <p:cNvSpPr/>
            <p:nvPr/>
          </p:nvSpPr>
          <p:spPr>
            <a:xfrm>
              <a:off x="1" y="0"/>
              <a:ext cx="630000" cy="108002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349" name="Shape 584"/>
            <p:cNvSpPr/>
            <p:nvPr/>
          </p:nvSpPr>
          <p:spPr>
            <a:xfrm>
              <a:off x="7" y="155497"/>
              <a:ext cx="21577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350" name="Shape 585"/>
            <p:cNvSpPr/>
            <p:nvPr/>
          </p:nvSpPr>
          <p:spPr>
            <a:xfrm>
              <a:off x="0" y="306162"/>
              <a:ext cx="3923" cy="108003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352" name="[그림 - 산가지 표기법 ]"/>
          <p:cNvSpPr txBox="1"/>
          <p:nvPr/>
        </p:nvSpPr>
        <p:spPr>
          <a:xfrm>
            <a:off x="1247348" y="1419622"/>
            <a:ext cx="4751968" cy="3077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r">
              <a:lnSpc>
                <a:spcPct val="100000"/>
              </a:lnSpc>
              <a:defRPr sz="1400">
                <a:solidFill>
                  <a:srgbClr val="535353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[</a:t>
            </a:r>
            <a:r>
              <a:rPr dirty="0" err="1"/>
              <a:t>그림</a:t>
            </a:r>
            <a:r>
              <a:rPr dirty="0"/>
              <a:t> </a:t>
            </a:r>
            <a:r>
              <a:rPr lang="en-US" altLang="ko-KR" dirty="0" smtClean="0"/>
              <a:t>–</a:t>
            </a:r>
            <a:r>
              <a:rPr dirty="0" smtClean="0"/>
              <a:t> </a:t>
            </a:r>
            <a:r>
              <a:rPr lang="ko-KR" altLang="en-US" dirty="0" err="1" smtClean="0"/>
              <a:t>첫번째</a:t>
            </a:r>
            <a:r>
              <a:rPr lang="ko-KR" altLang="en-US" dirty="0" smtClean="0"/>
              <a:t> 자리에서의 </a:t>
            </a:r>
            <a:r>
              <a:rPr dirty="0" err="1" smtClean="0"/>
              <a:t>산가지</a:t>
            </a:r>
            <a:r>
              <a:rPr dirty="0" smtClean="0"/>
              <a:t> </a:t>
            </a:r>
            <a:r>
              <a:rPr dirty="0" err="1"/>
              <a:t>표기법의</a:t>
            </a:r>
            <a:r>
              <a:rPr dirty="0"/>
              <a:t> </a:t>
            </a:r>
            <a:r>
              <a:rPr dirty="0" err="1"/>
              <a:t>효율</a:t>
            </a:r>
            <a:r>
              <a:rPr dirty="0"/>
              <a:t> </a:t>
            </a:r>
            <a:r>
              <a:rPr dirty="0" err="1" smtClean="0"/>
              <a:t>비교</a:t>
            </a:r>
            <a:r>
              <a:rPr lang="en-US" dirty="0" smtClean="0"/>
              <a:t>]</a:t>
            </a:r>
            <a:endParaRPr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903827"/>
              </p:ext>
            </p:extLst>
          </p:nvPr>
        </p:nvGraphicFramePr>
        <p:xfrm>
          <a:off x="1403648" y="3075806"/>
          <a:ext cx="6096000" cy="1386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/>
                <a:gridCol w="1524000"/>
                <a:gridCol w="1524000"/>
                <a:gridCol w="1524000"/>
              </a:tblGrid>
              <a:tr h="12968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진법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err="1" smtClean="0"/>
                        <a:t>자리수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>
                          <a:solidFill>
                            <a:srgbClr val="FF0000"/>
                          </a:solidFill>
                        </a:rPr>
                        <a:t>첫번째</a:t>
                      </a:r>
                      <a:r>
                        <a:rPr lang="ko-KR" altLang="en-US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두번째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세번째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2</a:t>
                      </a:r>
                      <a:r>
                        <a:rPr lang="ko-KR" altLang="en-US" dirty="0" smtClean="0"/>
                        <a:t>진법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>
                          <a:solidFill>
                            <a:srgbClr val="FF0000"/>
                          </a:solidFill>
                        </a:rPr>
                        <a:t>1/2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1/4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1/8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8</a:t>
                      </a:r>
                      <a:r>
                        <a:rPr lang="ko-KR" altLang="en-US" dirty="0" smtClean="0"/>
                        <a:t>진법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>
                          <a:solidFill>
                            <a:srgbClr val="FF0000"/>
                          </a:solidFill>
                        </a:rPr>
                        <a:t>1/8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1/64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1/512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16</a:t>
                      </a:r>
                      <a:r>
                        <a:rPr lang="ko-KR" altLang="en-US" dirty="0" smtClean="0"/>
                        <a:t>진법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>
                          <a:solidFill>
                            <a:srgbClr val="FF0000"/>
                          </a:solidFill>
                        </a:rPr>
                        <a:t>1/16</a:t>
                      </a:r>
                      <a:endParaRPr lang="ko-KR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1/256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1/4096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166"/>
          <p:cNvSpPr txBox="1">
            <a:spLocks noGrp="1"/>
          </p:cNvSpPr>
          <p:nvPr>
            <p:ph type="title" idx="4294967295"/>
          </p:nvPr>
        </p:nvSpPr>
        <p:spPr>
          <a:xfrm>
            <a:off x="3131847" y="2307525"/>
            <a:ext cx="6012005" cy="503703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r>
              <a:t>3. 컴퓨터의 수치 표기법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57" name="산가지 표기법으로 재무재표를 작성한다?…"/>
          <p:cNvSpPr txBox="1"/>
          <p:nvPr/>
        </p:nvSpPr>
        <p:spPr>
          <a:xfrm>
            <a:off x="323527" y="1059582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컴퓨터 데이터 저장의 최소 단위 비트(BIT)</a:t>
            </a:r>
          </a:p>
        </p:txBody>
      </p:sp>
      <p:sp>
        <p:nvSpPr>
          <p:cNvPr id="358" name="산가지 표기법으로 재무재표를 작성한다?…"/>
          <p:cNvSpPr txBox="1"/>
          <p:nvPr/>
        </p:nvSpPr>
        <p:spPr>
          <a:xfrm>
            <a:off x="454941" y="1551448"/>
            <a:ext cx="8224040" cy="1084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비트와 2진법은 일대일 대응 관계</a:t>
            </a:r>
          </a:p>
          <a:p>
            <a:pPr marL="342900" indent="-342900">
              <a:buSzPct val="100000"/>
              <a:buChar char="à"/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두 가지 정보를 완벽하게 저장 할 수 있다.</a:t>
            </a:r>
            <a:endParaRPr sz="2400"/>
          </a:p>
          <a:p>
            <a:pPr marL="342900" indent="-342900">
              <a:buSzPct val="100000"/>
              <a:buChar char="à"/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0과 1, ON과 OFF, 빨강과 파랑, 남자와 여자 등.</a:t>
            </a:r>
          </a:p>
        </p:txBody>
      </p:sp>
      <p:sp>
        <p:nvSpPr>
          <p:cNvPr id="359" name="산가지 표기법으로 재무재표를 작성한다?…"/>
          <p:cNvSpPr txBox="1"/>
          <p:nvPr/>
        </p:nvSpPr>
        <p:spPr>
          <a:xfrm>
            <a:off x="351139" y="3075806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비트라는 단위를 기본으로 여러 개의 비트를 이용해서 저장해야 할 필요성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62" name="산가지 표기법으로 재무재표를 작성한다?…"/>
          <p:cNvSpPr txBox="1"/>
          <p:nvPr/>
        </p:nvSpPr>
        <p:spPr>
          <a:xfrm>
            <a:off x="328867" y="1131590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비트라는 단위를 기본으로 여러 개의 비트를 이용해서 저장해야 할 필요성</a:t>
            </a:r>
          </a:p>
        </p:txBody>
      </p:sp>
      <p:sp>
        <p:nvSpPr>
          <p:cNvPr id="363" name="산가지 표기법으로 재무재표를 작성한다?…"/>
          <p:cNvSpPr txBox="1"/>
          <p:nvPr/>
        </p:nvSpPr>
        <p:spPr>
          <a:xfrm>
            <a:off x="481267" y="3039135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2개의 비트를 사용한다면? 나타낼 수 있는 범위가 2배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4개의 비트를 사용한다면? 나타낼 수 있는 범위가 16배</a:t>
            </a:r>
          </a:p>
        </p:txBody>
      </p:sp>
      <p:pic>
        <p:nvPicPr>
          <p:cNvPr id="364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796136" y="6063081"/>
            <a:ext cx="1009652" cy="132397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5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11560" y="6388174"/>
            <a:ext cx="4114802" cy="2819401"/>
          </a:xfrm>
          <a:prstGeom prst="rect">
            <a:avLst/>
          </a:prstGeom>
          <a:ln w="12700">
            <a:miter lim="400000"/>
          </a:ln>
        </p:spPr>
      </p:pic>
      <p:sp>
        <p:nvSpPr>
          <p:cNvPr id="366" name="—&gt;"/>
          <p:cNvSpPr txBox="1"/>
          <p:nvPr/>
        </p:nvSpPr>
        <p:spPr>
          <a:xfrm>
            <a:off x="4350005" y="2379981"/>
            <a:ext cx="443990" cy="383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—&gt;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69" name="산가지 표기법으로 재무재표를 작성한다?…"/>
          <p:cNvSpPr txBox="1"/>
          <p:nvPr/>
        </p:nvSpPr>
        <p:spPr>
          <a:xfrm>
            <a:off x="328867" y="1131590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비트라는 단위를 기본으로 여러 개의 비트를 이용해서 저장해야 할 필요성</a:t>
            </a:r>
          </a:p>
        </p:txBody>
      </p:sp>
      <p:sp>
        <p:nvSpPr>
          <p:cNvPr id="370" name="산가지 표기법으로 재무재표를 작성한다?…"/>
          <p:cNvSpPr txBox="1"/>
          <p:nvPr/>
        </p:nvSpPr>
        <p:spPr>
          <a:xfrm>
            <a:off x="611560" y="2571749"/>
            <a:ext cx="8224040" cy="84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2개의 </a:t>
            </a:r>
            <a:r>
              <a:rPr dirty="0" err="1"/>
              <a:t>비트를</a:t>
            </a:r>
            <a:r>
              <a:rPr dirty="0"/>
              <a:t> </a:t>
            </a:r>
            <a:r>
              <a:rPr dirty="0" err="1"/>
              <a:t>사용한다면</a:t>
            </a:r>
            <a:r>
              <a:rPr dirty="0"/>
              <a:t>? </a:t>
            </a:r>
            <a:r>
              <a:rPr dirty="0" err="1"/>
              <a:t>나타낼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범위가</a:t>
            </a:r>
            <a:r>
              <a:rPr dirty="0"/>
              <a:t> 2배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4개의 </a:t>
            </a:r>
            <a:r>
              <a:rPr dirty="0" err="1"/>
              <a:t>비트를</a:t>
            </a:r>
            <a:r>
              <a:rPr dirty="0"/>
              <a:t> </a:t>
            </a:r>
            <a:r>
              <a:rPr dirty="0" err="1"/>
              <a:t>사용한다면</a:t>
            </a:r>
            <a:r>
              <a:rPr dirty="0"/>
              <a:t>? </a:t>
            </a:r>
            <a:r>
              <a:rPr dirty="0" err="1"/>
              <a:t>나타낼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범위가</a:t>
            </a:r>
            <a:r>
              <a:rPr dirty="0"/>
              <a:t> 16배</a:t>
            </a:r>
          </a:p>
        </p:txBody>
      </p:sp>
      <p:pic>
        <p:nvPicPr>
          <p:cNvPr id="371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918467" y="3758200"/>
            <a:ext cx="885623" cy="116133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6" name="그룹 1"/>
          <p:cNvGrpSpPr/>
          <p:nvPr/>
        </p:nvGrpSpPr>
        <p:grpSpPr>
          <a:xfrm>
            <a:off x="4211959" y="3696149"/>
            <a:ext cx="3548072" cy="1223386"/>
            <a:chOff x="0" y="0"/>
            <a:chExt cx="3548070" cy="1223384"/>
          </a:xfrm>
        </p:grpSpPr>
        <p:pic>
          <p:nvPicPr>
            <p:cNvPr id="372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 rot="10800000">
              <a:off x="0" y="0"/>
              <a:ext cx="911318" cy="12044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3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 rot="10800000">
              <a:off x="2636753" y="18971"/>
              <a:ext cx="911318" cy="12044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4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 rot="10800000">
              <a:off x="1725436" y="0"/>
              <a:ext cx="911318" cy="12044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5" name="Picture 2" descr="Picture 2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906652" y="1"/>
              <a:ext cx="911318" cy="12044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79" name="산가지 표기법으로 재무재표를 작성한다?…"/>
          <p:cNvSpPr txBox="1"/>
          <p:nvPr/>
        </p:nvSpPr>
        <p:spPr>
          <a:xfrm>
            <a:off x="328867" y="1131590"/>
            <a:ext cx="8224040" cy="2523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내부적으로는 이진법을 사용하되, 표현해야 할 양이 많아짐에 따라 이진법 표기 시스템은 변경이 불가피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많은 양을 표현할 수 있는 표기법이 필요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초기 유닉스 시스템의 경우 8진법을 사용 했고, 현재는 이진수 4개를 한 세트로 쓸 수 있는 16진법을 사용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82" name="산가지 표기법으로 재무재표를 작성한다?…"/>
          <p:cNvSpPr txBox="1"/>
          <p:nvPr/>
        </p:nvSpPr>
        <p:spPr>
          <a:xfrm>
            <a:off x="328867" y="1131590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저수준 언어를 제외한 고급 언어들은 대부분 이진법을 지원하지는 않고, 16진법을 제공한다.</a:t>
            </a:r>
          </a:p>
        </p:txBody>
      </p:sp>
      <p:graphicFrame>
        <p:nvGraphicFramePr>
          <p:cNvPr id="383" name="표"/>
          <p:cNvGraphicFramePr/>
          <p:nvPr/>
        </p:nvGraphicFramePr>
        <p:xfrm>
          <a:off x="2853596" y="3435846"/>
          <a:ext cx="3739965" cy="882580"/>
        </p:xfrm>
        <a:graphic>
          <a:graphicData uri="http://schemas.openxmlformats.org/drawingml/2006/table">
            <a:tbl>
              <a:tblPr firstCol="1" bandRow="1">
                <a:tableStyleId>{4C3C2611-4C71-4FC5-86AE-919BDF0F9419}</a:tableStyleId>
              </a:tblPr>
              <a:tblGrid>
                <a:gridCol w="1628856"/>
                <a:gridCol w="2111109"/>
              </a:tblGrid>
              <a:tr h="284365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sym typeface="Helvetica Neue"/>
                        </a:rPr>
                        <a:t>Visual basic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ym typeface="Helvetica Neue"/>
                        </a:rPr>
                        <a:t>$hDEAD</a:t>
                      </a:r>
                    </a:p>
                  </a:txBody>
                  <a:tcPr marL="0" marR="0" marT="0" marB="0" horzOverflow="overflow"/>
                </a:tc>
              </a:tr>
              <a:tr h="31385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sym typeface="Helvetica Neue"/>
                        </a:rPr>
                        <a:t>Pascal, Hal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ym typeface="Helvetica Neue"/>
                        </a:rPr>
                        <a:t>$DEAD</a:t>
                      </a:r>
                    </a:p>
                  </a:txBody>
                  <a:tcPr marL="0" marR="0" marT="0" marB="0" horzOverflow="overflow"/>
                </a:tc>
              </a:tr>
              <a:tr h="284365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sym typeface="Helvetica Neue"/>
                        </a:rPr>
                        <a:t>C/C++, JAVA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ym typeface="Helvetica Neue"/>
                        </a:rPr>
                        <a:t>0xDEAD</a:t>
                      </a:r>
                    </a:p>
                  </a:txBody>
                  <a:tcPr marL="0" marR="0" marT="0" marB="0" horzOverflow="overflow"/>
                </a:tc>
              </a:tr>
            </a:tbl>
          </a:graphicData>
        </a:graphic>
      </p:graphicFrame>
      <p:sp>
        <p:nvSpPr>
          <p:cNvPr id="384" name="산가지 표기법으로 재무재표를 작성한다?…"/>
          <p:cNvSpPr txBox="1"/>
          <p:nvPr/>
        </p:nvSpPr>
        <p:spPr>
          <a:xfrm>
            <a:off x="611560" y="2355725"/>
            <a:ext cx="8224040" cy="383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Hex값을 2바이트`DEAD‘을 표현 할 때 언어 별로 차이가 있다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87" name="산가지 표기법으로 재무재표를 작성한다?…"/>
          <p:cNvSpPr txBox="1"/>
          <p:nvPr/>
        </p:nvSpPr>
        <p:spPr>
          <a:xfrm>
            <a:off x="328867" y="1131590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유닉스 시스템의 흔적을 볼 수 있는 명령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chmod (권한수정</a:t>
            </a:r>
          </a:p>
        </p:txBody>
      </p:sp>
      <p:pic>
        <p:nvPicPr>
          <p:cNvPr id="388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07262" y="2499741"/>
            <a:ext cx="4667252" cy="19526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202"/>
          <p:cNvSpPr txBox="1">
            <a:spLocks noGrp="1"/>
          </p:cNvSpPr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</a:t>
            </a:r>
          </a:p>
        </p:txBody>
      </p:sp>
      <p:sp>
        <p:nvSpPr>
          <p:cNvPr id="391" name="Shape 203"/>
          <p:cNvSpPr/>
          <p:nvPr/>
        </p:nvSpPr>
        <p:spPr>
          <a:xfrm>
            <a:off x="794425" y="1275557"/>
            <a:ext cx="609227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2" name="Shape 204"/>
          <p:cNvSpPr/>
          <p:nvPr/>
        </p:nvSpPr>
        <p:spPr>
          <a:xfrm>
            <a:off x="794425" y="2217796"/>
            <a:ext cx="609227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3" name="Shape 205"/>
          <p:cNvSpPr/>
          <p:nvPr/>
        </p:nvSpPr>
        <p:spPr>
          <a:xfrm>
            <a:off x="794425" y="3160035"/>
            <a:ext cx="609227" cy="609230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4" name="Shape 206"/>
          <p:cNvSpPr/>
          <p:nvPr/>
        </p:nvSpPr>
        <p:spPr>
          <a:xfrm>
            <a:off x="794425" y="4102275"/>
            <a:ext cx="609227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5" name="Shape 207"/>
          <p:cNvSpPr/>
          <p:nvPr/>
        </p:nvSpPr>
        <p:spPr>
          <a:xfrm>
            <a:off x="936394" y="1416168"/>
            <a:ext cx="325285" cy="32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6" name="Shape 208"/>
          <p:cNvSpPr/>
          <p:nvPr/>
        </p:nvSpPr>
        <p:spPr>
          <a:xfrm>
            <a:off x="928356" y="4306489"/>
            <a:ext cx="341362" cy="2007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7" name="Shape 209"/>
          <p:cNvSpPr/>
          <p:nvPr/>
        </p:nvSpPr>
        <p:spPr>
          <a:xfrm rot="2700000">
            <a:off x="982908" y="3256457"/>
            <a:ext cx="232252" cy="4163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8" name="Shape 210"/>
          <p:cNvSpPr/>
          <p:nvPr/>
        </p:nvSpPr>
        <p:spPr>
          <a:xfrm>
            <a:off x="952883" y="2385591"/>
            <a:ext cx="292307" cy="2736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99" name="Shape 211"/>
          <p:cNvSpPr/>
          <p:nvPr/>
        </p:nvSpPr>
        <p:spPr>
          <a:xfrm>
            <a:off x="4864932" y="1275557"/>
            <a:ext cx="609229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0" name="Shape 212"/>
          <p:cNvSpPr/>
          <p:nvPr/>
        </p:nvSpPr>
        <p:spPr>
          <a:xfrm>
            <a:off x="4864932" y="2217796"/>
            <a:ext cx="609229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1" name="Shape 213"/>
          <p:cNvSpPr/>
          <p:nvPr/>
        </p:nvSpPr>
        <p:spPr>
          <a:xfrm>
            <a:off x="4864932" y="3160035"/>
            <a:ext cx="609229" cy="609230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2" name="Shape 214"/>
          <p:cNvSpPr/>
          <p:nvPr/>
        </p:nvSpPr>
        <p:spPr>
          <a:xfrm>
            <a:off x="4864932" y="4102275"/>
            <a:ext cx="609229" cy="6092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3" name="Shape 215"/>
          <p:cNvSpPr/>
          <p:nvPr/>
        </p:nvSpPr>
        <p:spPr>
          <a:xfrm>
            <a:off x="4997868" y="1407095"/>
            <a:ext cx="343351" cy="3461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2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20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2"/>
                  <a:pt x="11157" y="12331"/>
                  <a:pt x="10512" y="12331"/>
                </a:cubicBezTo>
                <a:cubicBezTo>
                  <a:pt x="9867" y="12331"/>
                  <a:pt x="9344" y="11812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4" name="Shape 216"/>
          <p:cNvSpPr/>
          <p:nvPr/>
        </p:nvSpPr>
        <p:spPr>
          <a:xfrm rot="8100000">
            <a:off x="5020338" y="2373202"/>
            <a:ext cx="298414" cy="2984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5" name="Shape 217"/>
          <p:cNvSpPr/>
          <p:nvPr/>
        </p:nvSpPr>
        <p:spPr>
          <a:xfrm>
            <a:off x="5014243" y="4281978"/>
            <a:ext cx="325233" cy="249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6" name="Shape 218"/>
          <p:cNvSpPr/>
          <p:nvPr/>
        </p:nvSpPr>
        <p:spPr>
          <a:xfrm>
            <a:off x="5002464" y="3306833"/>
            <a:ext cx="348789" cy="301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07" name="Shape 221"/>
          <p:cNvSpPr txBox="1"/>
          <p:nvPr/>
        </p:nvSpPr>
        <p:spPr>
          <a:xfrm>
            <a:off x="1558020" y="1220113"/>
            <a:ext cx="2830261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Nibble(니블)</a:t>
            </a:r>
          </a:p>
        </p:txBody>
      </p:sp>
      <p:grpSp>
        <p:nvGrpSpPr>
          <p:cNvPr id="410" name="Shape 222"/>
          <p:cNvGrpSpPr/>
          <p:nvPr/>
        </p:nvGrpSpPr>
        <p:grpSpPr>
          <a:xfrm>
            <a:off x="1558019" y="2162353"/>
            <a:ext cx="2830264" cy="1170265"/>
            <a:chOff x="0" y="0"/>
            <a:chExt cx="2830262" cy="1170264"/>
          </a:xfrm>
        </p:grpSpPr>
        <p:sp>
          <p:nvSpPr>
            <p:cNvPr id="408" name="Shape 223"/>
            <p:cNvSpPr txBox="1"/>
            <p:nvPr/>
          </p:nvSpPr>
          <p:spPr>
            <a:xfrm>
              <a:off x="-1" y="258445"/>
              <a:ext cx="2830264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09" name="Shape 224"/>
            <p:cNvSpPr txBox="1"/>
            <p:nvPr/>
          </p:nvSpPr>
          <p:spPr>
            <a:xfrm>
              <a:off x="-1" y="-1"/>
              <a:ext cx="283026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grpSp>
        <p:nvGrpSpPr>
          <p:cNvPr id="413" name="Shape 225"/>
          <p:cNvGrpSpPr/>
          <p:nvPr/>
        </p:nvGrpSpPr>
        <p:grpSpPr>
          <a:xfrm>
            <a:off x="1558019" y="3104592"/>
            <a:ext cx="2830264" cy="1170265"/>
            <a:chOff x="0" y="0"/>
            <a:chExt cx="2830262" cy="1170264"/>
          </a:xfrm>
        </p:grpSpPr>
        <p:sp>
          <p:nvSpPr>
            <p:cNvPr id="411" name="Shape 226"/>
            <p:cNvSpPr txBox="1"/>
            <p:nvPr/>
          </p:nvSpPr>
          <p:spPr>
            <a:xfrm>
              <a:off x="-1" y="258445"/>
              <a:ext cx="2830264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12" name="Shape 227"/>
            <p:cNvSpPr txBox="1"/>
            <p:nvPr/>
          </p:nvSpPr>
          <p:spPr>
            <a:xfrm>
              <a:off x="-1" y="-1"/>
              <a:ext cx="283026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grpSp>
        <p:nvGrpSpPr>
          <p:cNvPr id="416" name="Shape 228"/>
          <p:cNvGrpSpPr/>
          <p:nvPr/>
        </p:nvGrpSpPr>
        <p:grpSpPr>
          <a:xfrm>
            <a:off x="1558019" y="4046831"/>
            <a:ext cx="2830264" cy="1170265"/>
            <a:chOff x="0" y="0"/>
            <a:chExt cx="2830262" cy="1170264"/>
          </a:xfrm>
        </p:grpSpPr>
        <p:sp>
          <p:nvSpPr>
            <p:cNvPr id="414" name="Shape 229"/>
            <p:cNvSpPr txBox="1"/>
            <p:nvPr/>
          </p:nvSpPr>
          <p:spPr>
            <a:xfrm>
              <a:off x="-1" y="258445"/>
              <a:ext cx="2830264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15" name="Shape 230"/>
            <p:cNvSpPr txBox="1"/>
            <p:nvPr/>
          </p:nvSpPr>
          <p:spPr>
            <a:xfrm>
              <a:off x="-1" y="-1"/>
              <a:ext cx="2830264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grpSp>
        <p:nvGrpSpPr>
          <p:cNvPr id="419" name="Shape 231"/>
          <p:cNvGrpSpPr/>
          <p:nvPr/>
        </p:nvGrpSpPr>
        <p:grpSpPr>
          <a:xfrm>
            <a:off x="5630173" y="1220112"/>
            <a:ext cx="2830264" cy="1170265"/>
            <a:chOff x="0" y="0"/>
            <a:chExt cx="2830262" cy="1170264"/>
          </a:xfrm>
        </p:grpSpPr>
        <p:sp>
          <p:nvSpPr>
            <p:cNvPr id="417" name="Shape 232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18" name="Shape 233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grpSp>
        <p:nvGrpSpPr>
          <p:cNvPr id="422" name="Shape 234"/>
          <p:cNvGrpSpPr/>
          <p:nvPr/>
        </p:nvGrpSpPr>
        <p:grpSpPr>
          <a:xfrm>
            <a:off x="5630173" y="2162353"/>
            <a:ext cx="2830264" cy="1170265"/>
            <a:chOff x="0" y="0"/>
            <a:chExt cx="2830262" cy="1170264"/>
          </a:xfrm>
        </p:grpSpPr>
        <p:sp>
          <p:nvSpPr>
            <p:cNvPr id="420" name="Shape 235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21" name="Shape 236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grpSp>
        <p:nvGrpSpPr>
          <p:cNvPr id="425" name="Shape 237"/>
          <p:cNvGrpSpPr/>
          <p:nvPr/>
        </p:nvGrpSpPr>
        <p:grpSpPr>
          <a:xfrm>
            <a:off x="5630173" y="3104592"/>
            <a:ext cx="2830264" cy="1170265"/>
            <a:chOff x="0" y="0"/>
            <a:chExt cx="2830262" cy="1170264"/>
          </a:xfrm>
        </p:grpSpPr>
        <p:sp>
          <p:nvSpPr>
            <p:cNvPr id="423" name="Shape 238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24" name="Shape 239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grpSp>
        <p:nvGrpSpPr>
          <p:cNvPr id="428" name="Shape 240"/>
          <p:cNvGrpSpPr/>
          <p:nvPr/>
        </p:nvGrpSpPr>
        <p:grpSpPr>
          <a:xfrm>
            <a:off x="5630173" y="4046831"/>
            <a:ext cx="2830264" cy="1170265"/>
            <a:chOff x="0" y="0"/>
            <a:chExt cx="2830262" cy="1170264"/>
          </a:xfrm>
        </p:grpSpPr>
        <p:sp>
          <p:nvSpPr>
            <p:cNvPr id="426" name="Shape 241"/>
            <p:cNvSpPr txBox="1"/>
            <p:nvPr/>
          </p:nvSpPr>
          <p:spPr>
            <a:xfrm>
              <a:off x="-1" y="258445"/>
              <a:ext cx="2830263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나눔바른고딕"/>
                  <a:ea typeface="나눔바른고딕"/>
                  <a:cs typeface="나눔바른고딕"/>
                  <a:sym typeface="나눔바른고딕"/>
                </a:defRPr>
              </a:lvl1pPr>
            </a:lstStyle>
            <a:p>
              <a:r>
                <a:t>You can simply impress your audience and add a unique zing. </a:t>
              </a:r>
            </a:p>
          </p:txBody>
        </p:sp>
        <p:sp>
          <p:nvSpPr>
            <p:cNvPr id="427" name="Shape 242"/>
            <p:cNvSpPr txBox="1"/>
            <p:nvPr/>
          </p:nvSpPr>
          <p:spPr>
            <a:xfrm>
              <a:off x="-1" y="-1"/>
              <a:ext cx="2830263" cy="3133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Your Text  Here</a:t>
              </a:r>
            </a:p>
          </p:txBody>
        </p:sp>
      </p:grpSp>
      <p:pic>
        <p:nvPicPr>
          <p:cNvPr id="429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24990" y="5710882"/>
            <a:ext cx="5289111" cy="1956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430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627" y="1042562"/>
            <a:ext cx="8088633" cy="35689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166"/>
          <p:cNvSpPr txBox="1">
            <a:spLocks noGrp="1"/>
          </p:cNvSpPr>
          <p:nvPr>
            <p:ph type="title" idx="4294967295"/>
          </p:nvPr>
        </p:nvSpPr>
        <p:spPr>
          <a:xfrm>
            <a:off x="3131847" y="2307525"/>
            <a:ext cx="6012005" cy="503703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r>
              <a:t>4. 다양한 수치 표기법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비트크기 조작</a:t>
            </a:r>
          </a:p>
        </p:txBody>
      </p:sp>
      <p:sp>
        <p:nvSpPr>
          <p:cNvPr id="435" name="산가지 표기법으로 재무재표를 작성한다?…"/>
          <p:cNvSpPr txBox="1"/>
          <p:nvPr/>
        </p:nvSpPr>
        <p:spPr>
          <a:xfrm>
            <a:off x="328867" y="1131590"/>
            <a:ext cx="8224040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비트확장의 두 가지 종류</a:t>
            </a:r>
          </a:p>
        </p:txBody>
      </p:sp>
      <p:sp>
        <p:nvSpPr>
          <p:cNvPr id="436" name="산가지 표기법으로 재무재표를 작성한다?…"/>
          <p:cNvSpPr txBox="1"/>
          <p:nvPr/>
        </p:nvSpPr>
        <p:spPr>
          <a:xfrm>
            <a:off x="328867" y="1614190"/>
            <a:ext cx="7730446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부호확장과 축소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비트확장1</a:t>
            </a:r>
          </a:p>
        </p:txBody>
      </p:sp>
      <p:pic>
        <p:nvPicPr>
          <p:cNvPr id="439" name="스크린샷 2017-10-13 오전 1.52.02.png" descr="스크린샷 2017-10-13 오전 1.52.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7366" y="961207"/>
            <a:ext cx="6310520" cy="4048261"/>
          </a:xfrm>
          <a:prstGeom prst="rect">
            <a:avLst/>
          </a:prstGeom>
          <a:ln w="12700">
            <a:miter lim="400000"/>
          </a:ln>
        </p:spPr>
      </p:pic>
      <p:sp>
        <p:nvSpPr>
          <p:cNvPr id="440" name="산가지 표기법으로 재무재표를 작성한다?…"/>
          <p:cNvSpPr txBox="1"/>
          <p:nvPr/>
        </p:nvSpPr>
        <p:spPr>
          <a:xfrm>
            <a:off x="4827082" y="29603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MSB가 0일 때의 부호 확장</a:t>
            </a:r>
          </a:p>
        </p:txBody>
      </p:sp>
      <p:grpSp>
        <p:nvGrpSpPr>
          <p:cNvPr id="443" name="그룹"/>
          <p:cNvGrpSpPr/>
          <p:nvPr/>
        </p:nvGrpSpPr>
        <p:grpSpPr>
          <a:xfrm>
            <a:off x="3263186" y="3275635"/>
            <a:ext cx="1621497" cy="1685934"/>
            <a:chOff x="0" y="-1"/>
            <a:chExt cx="1621496" cy="1685932"/>
          </a:xfrm>
        </p:grpSpPr>
        <p:sp>
          <p:nvSpPr>
            <p:cNvPr id="441" name="타원형"/>
            <p:cNvSpPr/>
            <p:nvPr/>
          </p:nvSpPr>
          <p:spPr>
            <a:xfrm>
              <a:off x="0" y="1466671"/>
              <a:ext cx="191197" cy="219261"/>
            </a:xfrm>
            <a:prstGeom prst="ellips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lnSpc>
                  <a:spcPct val="100000"/>
                </a:lnSpc>
                <a:defRPr sz="1400" b="0">
                  <a:solidFill>
                    <a:srgbClr val="FF0E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442" name="선"/>
            <p:cNvSpPr/>
            <p:nvPr/>
          </p:nvSpPr>
          <p:spPr>
            <a:xfrm flipV="1">
              <a:off x="198508" y="-2"/>
              <a:ext cx="1422989" cy="1489549"/>
            </a:xfrm>
            <a:prstGeom prst="lin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비트확장 2</a:t>
            </a:r>
          </a:p>
        </p:txBody>
      </p:sp>
      <p:pic>
        <p:nvPicPr>
          <p:cNvPr id="446" name="스크린샷 2017-10-13 오전 1.52.40.png" descr="스크린샷 2017-10-13 오전 1.52.4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0501" y="979864"/>
            <a:ext cx="6972369" cy="3949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49" name="그룹"/>
          <p:cNvGrpSpPr/>
          <p:nvPr/>
        </p:nvGrpSpPr>
        <p:grpSpPr>
          <a:xfrm>
            <a:off x="3263186" y="3199437"/>
            <a:ext cx="1621497" cy="1685933"/>
            <a:chOff x="0" y="0"/>
            <a:chExt cx="1621496" cy="1685932"/>
          </a:xfrm>
        </p:grpSpPr>
        <p:sp>
          <p:nvSpPr>
            <p:cNvPr id="447" name="타원형"/>
            <p:cNvSpPr/>
            <p:nvPr/>
          </p:nvSpPr>
          <p:spPr>
            <a:xfrm>
              <a:off x="0" y="1466671"/>
              <a:ext cx="191197" cy="219261"/>
            </a:xfrm>
            <a:prstGeom prst="ellips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lnSpc>
                  <a:spcPct val="100000"/>
                </a:lnSpc>
                <a:defRPr sz="1400" b="0">
                  <a:solidFill>
                    <a:srgbClr val="FF0E00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448" name="선"/>
            <p:cNvSpPr/>
            <p:nvPr/>
          </p:nvSpPr>
          <p:spPr>
            <a:xfrm flipV="1">
              <a:off x="198508" y="-1"/>
              <a:ext cx="1422989" cy="1489548"/>
            </a:xfrm>
            <a:prstGeom prst="lin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50" name="산가지 표기법으로 재무재표를 작성한다?…"/>
          <p:cNvSpPr txBox="1"/>
          <p:nvPr/>
        </p:nvSpPr>
        <p:spPr>
          <a:xfrm>
            <a:off x="4903282" y="29222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MSB가 1일 때의 부호 확장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축소</a:t>
            </a:r>
          </a:p>
        </p:txBody>
      </p:sp>
      <p:sp>
        <p:nvSpPr>
          <p:cNvPr id="453" name="산가지 표기법으로 재무재표를 작성한다?…"/>
          <p:cNvSpPr txBox="1"/>
          <p:nvPr/>
        </p:nvSpPr>
        <p:spPr>
          <a:xfrm>
            <a:off x="568500" y="2401590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큰 데이터 크기에서 작은 데이터 크기로, C언어의 경우에는 H비트를 제거하고 L비트를 가져가는 방식을 취함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축소 2</a:t>
            </a:r>
          </a:p>
        </p:txBody>
      </p:sp>
      <p:sp>
        <p:nvSpPr>
          <p:cNvPr id="470" name="산가지 표기법으로 재무재표를 작성한다?…"/>
          <p:cNvSpPr txBox="1"/>
          <p:nvPr/>
        </p:nvSpPr>
        <p:spPr>
          <a:xfrm>
            <a:off x="4903282" y="29222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MSB가 1일 때의 부호 확장</a:t>
            </a:r>
          </a:p>
        </p:txBody>
      </p:sp>
      <p:pic>
        <p:nvPicPr>
          <p:cNvPr id="471" name="스크린샷 2017-10-13 오전 1.09.29.png" descr="스크린샷 2017-10-13 오전 1.09.29.png"/>
          <p:cNvPicPr>
            <a:picLocks noChangeAspect="1"/>
          </p:cNvPicPr>
          <p:nvPr/>
        </p:nvPicPr>
        <p:blipFill>
          <a:blip r:embed="rId2">
            <a:extLst/>
          </a:blip>
          <a:srcRect r="6961"/>
          <a:stretch>
            <a:fillRect/>
          </a:stretch>
        </p:blipFill>
        <p:spPr>
          <a:xfrm>
            <a:off x="178196" y="1394598"/>
            <a:ext cx="8787573" cy="3400753"/>
          </a:xfrm>
          <a:prstGeom prst="rect">
            <a:avLst/>
          </a:prstGeom>
          <a:ln w="12700">
            <a:miter lim="400000"/>
          </a:ln>
        </p:spPr>
      </p:pic>
      <p:sp>
        <p:nvSpPr>
          <p:cNvPr id="472" name="타원형"/>
          <p:cNvSpPr/>
          <p:nvPr/>
        </p:nvSpPr>
        <p:spPr>
          <a:xfrm>
            <a:off x="5652479" y="4147947"/>
            <a:ext cx="567191" cy="307341"/>
          </a:xfrm>
          <a:prstGeom prst="ellipse">
            <a:avLst/>
          </a:prstGeom>
          <a:ln w="38100">
            <a:solidFill>
              <a:srgbClr val="FF0E00"/>
            </a:solidFill>
            <a:prstDash val="sysDot"/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sz="1400" b="0">
                <a:solidFill>
                  <a:srgbClr val="FF0E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73" name="선"/>
          <p:cNvSpPr/>
          <p:nvPr/>
        </p:nvSpPr>
        <p:spPr>
          <a:xfrm flipH="1" flipV="1">
            <a:off x="4097590" y="4259691"/>
            <a:ext cx="1561237" cy="83853"/>
          </a:xfrm>
          <a:prstGeom prst="line">
            <a:avLst/>
          </a:prstGeom>
          <a:ln w="38100">
            <a:solidFill>
              <a:srgbClr val="FF0E00"/>
            </a:solidFill>
            <a:prstDash val="sysDot"/>
            <a:miter lim="400000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74" name="산가지 표기법으로 재무재표를 작성한다?…"/>
          <p:cNvSpPr txBox="1"/>
          <p:nvPr/>
        </p:nvSpPr>
        <p:spPr>
          <a:xfrm>
            <a:off x="1584500" y="3990468"/>
            <a:ext cx="8224041" cy="622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상위 16비트가 잘려나간 것을</a:t>
            </a:r>
          </a:p>
          <a:p>
            <a:pPr>
              <a:defRPr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확인할 수 있다.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축소 1-1</a:t>
            </a:r>
          </a:p>
        </p:txBody>
      </p:sp>
      <p:sp>
        <p:nvSpPr>
          <p:cNvPr id="456" name="산가지 표기법으로 재무재표를 작성한다?…"/>
          <p:cNvSpPr txBox="1"/>
          <p:nvPr/>
        </p:nvSpPr>
        <p:spPr>
          <a:xfrm>
            <a:off x="4903282" y="2922290"/>
            <a:ext cx="8224040" cy="345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MSB가 1일 때의 부호 확장</a:t>
            </a:r>
          </a:p>
        </p:txBody>
      </p:sp>
      <p:pic>
        <p:nvPicPr>
          <p:cNvPr id="457" name="스크린샷 2017-10-13 오전 1.06.32.png" descr="스크린샷 2017-10-13 오전 1.06.3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8712" y="1011848"/>
            <a:ext cx="8446576" cy="2599835"/>
          </a:xfrm>
          <a:prstGeom prst="rect">
            <a:avLst/>
          </a:prstGeom>
          <a:ln w="12700">
            <a:miter lim="400000"/>
          </a:ln>
        </p:spPr>
      </p:pic>
      <p:sp>
        <p:nvSpPr>
          <p:cNvPr id="458" name="타원형"/>
          <p:cNvSpPr/>
          <p:nvPr/>
        </p:nvSpPr>
        <p:spPr>
          <a:xfrm>
            <a:off x="5053038" y="3264027"/>
            <a:ext cx="646645" cy="219261"/>
          </a:xfrm>
          <a:prstGeom prst="ellipse">
            <a:avLst/>
          </a:prstGeom>
          <a:ln w="38100">
            <a:solidFill>
              <a:srgbClr val="FF0E00"/>
            </a:solidFill>
            <a:prstDash val="sysDot"/>
            <a:miter lim="400000"/>
          </a:ln>
        </p:spPr>
        <p:txBody>
          <a:bodyPr lIns="45718" tIns="45718" rIns="45718" bIns="45718" anchor="ctr"/>
          <a:lstStyle/>
          <a:p>
            <a:pPr>
              <a:lnSpc>
                <a:spcPct val="100000"/>
              </a:lnSpc>
              <a:defRPr sz="1400" b="0">
                <a:solidFill>
                  <a:srgbClr val="FF0E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59" name="선"/>
          <p:cNvSpPr/>
          <p:nvPr/>
        </p:nvSpPr>
        <p:spPr>
          <a:xfrm flipV="1">
            <a:off x="4370004" y="3520232"/>
            <a:ext cx="978098" cy="678550"/>
          </a:xfrm>
          <a:prstGeom prst="line">
            <a:avLst/>
          </a:prstGeom>
          <a:ln w="38100">
            <a:solidFill>
              <a:srgbClr val="FF0E00"/>
            </a:solidFill>
            <a:prstDash val="sysDot"/>
            <a:miter lim="400000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460" name="산가지 표기법으로 재무재표를 작성한다?…"/>
          <p:cNvSpPr txBox="1"/>
          <p:nvPr/>
        </p:nvSpPr>
        <p:spPr>
          <a:xfrm>
            <a:off x="3687619" y="4095684"/>
            <a:ext cx="8224041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???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사라졌어야 할 H비트가 없어지지않았다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축소 1-2</a:t>
            </a:r>
          </a:p>
        </p:txBody>
      </p:sp>
      <p:pic>
        <p:nvPicPr>
          <p:cNvPr id="463" name="스크린샷 2017-10-13 오전 1.06.32.png" descr="스크린샷 2017-10-13 오전 1.06.32.png"/>
          <p:cNvPicPr>
            <a:picLocks noChangeAspect="1"/>
          </p:cNvPicPr>
          <p:nvPr/>
        </p:nvPicPr>
        <p:blipFill>
          <a:blip r:embed="rId2">
            <a:extLst/>
          </a:blip>
          <a:srcRect b="44366"/>
          <a:stretch>
            <a:fillRect/>
          </a:stretch>
        </p:blipFill>
        <p:spPr>
          <a:xfrm>
            <a:off x="220278" y="1022007"/>
            <a:ext cx="6026524" cy="1031967"/>
          </a:xfrm>
          <a:prstGeom prst="rect">
            <a:avLst/>
          </a:prstGeom>
          <a:ln w="12700">
            <a:miter lim="400000"/>
          </a:ln>
        </p:spPr>
      </p:pic>
      <p:pic>
        <p:nvPicPr>
          <p:cNvPr id="464" name="스크린샷 2017-10-13 오전 12.41.22.png" descr="스크린샷 2017-10-13 오전 12.41.22.png"/>
          <p:cNvPicPr>
            <a:picLocks noChangeAspect="1"/>
          </p:cNvPicPr>
          <p:nvPr/>
        </p:nvPicPr>
        <p:blipFill>
          <a:blip r:embed="rId3">
            <a:extLst/>
          </a:blip>
          <a:srcRect t="40990" r="3238"/>
          <a:stretch>
            <a:fillRect/>
          </a:stretch>
        </p:blipFill>
        <p:spPr>
          <a:xfrm>
            <a:off x="220279" y="2378835"/>
            <a:ext cx="6026452" cy="2472565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산가지 표기법으로 재무재표를 작성한다?…"/>
          <p:cNvSpPr txBox="1"/>
          <p:nvPr/>
        </p:nvSpPr>
        <p:spPr>
          <a:xfrm>
            <a:off x="4957620" y="2601285"/>
            <a:ext cx="8224041" cy="622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변환은 되었지만 printf에 인자를 전달해주기 </a:t>
            </a:r>
          </a:p>
          <a:p>
            <a:pPr>
              <a:defRPr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전에 축소 됐던 부호가 다시 확장되었다.</a:t>
            </a:r>
          </a:p>
        </p:txBody>
      </p:sp>
      <p:sp>
        <p:nvSpPr>
          <p:cNvPr id="467" name="직사각형"/>
          <p:cNvSpPr/>
          <p:nvPr/>
        </p:nvSpPr>
        <p:spPr>
          <a:xfrm>
            <a:off x="1341118" y="2603579"/>
            <a:ext cx="3539094" cy="222172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축소 3</a:t>
            </a:r>
          </a:p>
        </p:txBody>
      </p:sp>
      <p:sp>
        <p:nvSpPr>
          <p:cNvPr id="477" name="산가지 표기법으로 재무재표를 작성한다?…"/>
          <p:cNvSpPr txBox="1"/>
          <p:nvPr/>
        </p:nvSpPr>
        <p:spPr>
          <a:xfrm>
            <a:off x="459980" y="1205249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앞서 보았듯 C 컴파일러는 상위 비트를 잘라내 형변환을 하기 때문에 이를 방지하는 코드가 필요하다.(에러는 커녕 흔한 경고 메시지조차 없다)</a:t>
            </a:r>
          </a:p>
        </p:txBody>
      </p:sp>
      <p:pic>
        <p:nvPicPr>
          <p:cNvPr id="478" name="스크린샷 2017-10-13 오전 1.44.47.png" descr="스크린샷 2017-10-13 오전 1.44.47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279431" y="2183949"/>
            <a:ext cx="5869296" cy="2958572"/>
          </a:xfrm>
          <a:prstGeom prst="rect">
            <a:avLst/>
          </a:prstGeom>
          <a:ln w="12700">
            <a:miter lim="400000"/>
          </a:ln>
        </p:spPr>
      </p:pic>
      <p:sp>
        <p:nvSpPr>
          <p:cNvPr id="479" name="직사각형"/>
          <p:cNvSpPr/>
          <p:nvPr/>
        </p:nvSpPr>
        <p:spPr>
          <a:xfrm>
            <a:off x="5659118" y="3172538"/>
            <a:ext cx="3032443" cy="300436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480" name="산가지 표기법으로 재무재표를 작성한다?…"/>
          <p:cNvSpPr txBox="1"/>
          <p:nvPr/>
        </p:nvSpPr>
        <p:spPr>
          <a:xfrm>
            <a:off x="5628180" y="3523107"/>
            <a:ext cx="8224040" cy="325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400">
                <a:solidFill>
                  <a:srgbClr val="FF0E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smtClean="0"/>
              <a:t>*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C에</a:t>
            </a:r>
            <a:r>
              <a:rPr dirty="0"/>
              <a:t> </a:t>
            </a:r>
            <a:r>
              <a:rPr dirty="0" err="1"/>
              <a:t>제곱을</a:t>
            </a:r>
            <a:r>
              <a:rPr dirty="0"/>
              <a:t> </a:t>
            </a:r>
            <a:r>
              <a:rPr dirty="0" err="1"/>
              <a:t>구해주는</a:t>
            </a:r>
            <a:r>
              <a:rPr dirty="0"/>
              <a:t> </a:t>
            </a:r>
            <a:r>
              <a:rPr dirty="0" err="1"/>
              <a:t>연산자는</a:t>
            </a:r>
            <a:r>
              <a:rPr dirty="0"/>
              <a:t> </a:t>
            </a:r>
            <a:r>
              <a:rPr dirty="0" err="1"/>
              <a:t>없다</a:t>
            </a:r>
            <a:endParaRPr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– 포화 1</a:t>
            </a:r>
          </a:p>
        </p:txBody>
      </p:sp>
      <p:sp>
        <p:nvSpPr>
          <p:cNvPr id="483" name="산가지 표기법으로 재무재표를 작성한다?…"/>
          <p:cNvSpPr txBox="1"/>
          <p:nvPr/>
        </p:nvSpPr>
        <p:spPr>
          <a:xfrm>
            <a:off x="568500" y="1967250"/>
            <a:ext cx="8224040" cy="1668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포화(saturation)는 데이터 사이즈 축소를 시키는 방법의 한 종류 이지만 정확할 수도 있고 단순히 근사치 일 수도 있는 방법, 근사치 일지 혹은 정확할지의 결정은 변환 될 데이터형이 포함할 수 있는 범위인지 아닌지에 따라 달라진다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– 포화 2</a:t>
            </a:r>
          </a:p>
        </p:txBody>
      </p:sp>
      <p:pic>
        <p:nvPicPr>
          <p:cNvPr id="486" name="스크린샷 2017-10-13 오전 2.38.05.png" descr="스크린샷 2017-10-13 오전 2.38.0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35291" y="1012656"/>
            <a:ext cx="3626069" cy="1991142"/>
          </a:xfrm>
          <a:prstGeom prst="rect">
            <a:avLst/>
          </a:prstGeom>
          <a:ln w="12700">
            <a:miter lim="400000"/>
          </a:ln>
        </p:spPr>
      </p:pic>
      <p:sp>
        <p:nvSpPr>
          <p:cNvPr id="487" name="산가지 표기법으로 재무재표를 작성한다?…"/>
          <p:cNvSpPr txBox="1"/>
          <p:nvPr/>
        </p:nvSpPr>
        <p:spPr>
          <a:xfrm>
            <a:off x="873300" y="3129911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포함</a:t>
            </a:r>
            <a:r>
              <a:rPr dirty="0"/>
              <a:t> 할 </a:t>
            </a:r>
            <a:r>
              <a:rPr dirty="0" err="1"/>
              <a:t>수있는</a:t>
            </a:r>
            <a:r>
              <a:rPr dirty="0"/>
              <a:t> </a:t>
            </a:r>
            <a:r>
              <a:rPr dirty="0" err="1"/>
              <a:t>값의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넘어간다면</a:t>
            </a:r>
            <a:r>
              <a:rPr dirty="0"/>
              <a:t> </a:t>
            </a:r>
            <a:r>
              <a:rPr dirty="0" err="1"/>
              <a:t>before형의</a:t>
            </a:r>
            <a:r>
              <a:rPr dirty="0"/>
              <a:t> </a:t>
            </a:r>
            <a:r>
              <a:rPr dirty="0" err="1"/>
              <a:t>최대</a:t>
            </a:r>
            <a:r>
              <a:rPr dirty="0"/>
              <a:t> </a:t>
            </a:r>
            <a:r>
              <a:rPr dirty="0" err="1"/>
              <a:t>값이</a:t>
            </a:r>
            <a:r>
              <a:rPr dirty="0"/>
              <a:t>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들어가고</a:t>
            </a:r>
            <a:r>
              <a:rPr dirty="0"/>
              <a:t>, </a:t>
            </a:r>
            <a:r>
              <a:rPr dirty="0" err="1"/>
              <a:t>그렇지</a:t>
            </a:r>
            <a:r>
              <a:rPr dirty="0"/>
              <a:t> </a:t>
            </a:r>
            <a:r>
              <a:rPr dirty="0" err="1"/>
              <a:t>않다면</a:t>
            </a:r>
            <a:r>
              <a:rPr dirty="0"/>
              <a:t> </a:t>
            </a:r>
            <a:r>
              <a:rPr dirty="0" err="1"/>
              <a:t>after의</a:t>
            </a:r>
            <a:r>
              <a:rPr dirty="0"/>
              <a:t> </a:t>
            </a:r>
            <a:r>
              <a:rPr dirty="0" err="1"/>
              <a:t>값으로</a:t>
            </a:r>
            <a:r>
              <a:rPr dirty="0"/>
              <a:t> </a:t>
            </a:r>
            <a:r>
              <a:rPr dirty="0" err="1"/>
              <a:t>교체된다</a:t>
            </a:r>
            <a:r>
              <a:rPr dirty="0"/>
              <a:t>.</a:t>
            </a:r>
          </a:p>
        </p:txBody>
      </p:sp>
      <p:grpSp>
        <p:nvGrpSpPr>
          <p:cNvPr id="492" name="그룹 16"/>
          <p:cNvGrpSpPr/>
          <p:nvPr/>
        </p:nvGrpSpPr>
        <p:grpSpPr>
          <a:xfrm>
            <a:off x="6037455" y="483517"/>
            <a:ext cx="2772531" cy="2915665"/>
            <a:chOff x="0" y="0"/>
            <a:chExt cx="2772529" cy="2915663"/>
          </a:xfrm>
        </p:grpSpPr>
        <p:pic>
          <p:nvPicPr>
            <p:cNvPr id="488" name="Picture 2" descr="Picture 2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0" y="-1"/>
              <a:ext cx="2772530" cy="291566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9" name="직선 연결선 2"/>
            <p:cNvSpPr/>
            <p:nvPr/>
          </p:nvSpPr>
          <p:spPr>
            <a:xfrm flipV="1">
              <a:off x="142480" y="1389434"/>
              <a:ext cx="1266010" cy="1251943"/>
            </a:xfrm>
            <a:prstGeom prst="line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  <a:headEnd type="oval" w="med" len="med"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90" name="직선 연결선 9"/>
            <p:cNvSpPr/>
            <p:nvPr/>
          </p:nvSpPr>
          <p:spPr>
            <a:xfrm flipV="1">
              <a:off x="1389439" y="1389434"/>
              <a:ext cx="1261207" cy="6277"/>
            </a:xfrm>
            <a:prstGeom prst="line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  <a:tailEnd type="triangle" w="med" len="med"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91" name="직선 연결선 20"/>
            <p:cNvSpPr/>
            <p:nvPr/>
          </p:nvSpPr>
          <p:spPr>
            <a:xfrm flipV="1">
              <a:off x="1386264" y="130373"/>
              <a:ext cx="1264382" cy="1265337"/>
            </a:xfrm>
            <a:prstGeom prst="line">
              <a:avLst/>
            </a:prstGeom>
            <a:noFill/>
            <a:ln w="38100" cap="flat">
              <a:solidFill>
                <a:srgbClr val="FF0000"/>
              </a:solidFill>
              <a:prstDash val="sysDot"/>
              <a:round/>
              <a:tailEnd type="triangle" w="med" len="med"/>
            </a:ln>
            <a:effectLst>
              <a:outerShdw blurRad="38100" dist="20000" dir="5400000" rotWithShape="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93" name="TextBox 18"/>
          <p:cNvSpPr txBox="1"/>
          <p:nvPr/>
        </p:nvSpPr>
        <p:spPr>
          <a:xfrm>
            <a:off x="4572000" y="1270769"/>
            <a:ext cx="988059" cy="26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200">
                <a:solidFill>
                  <a:srgbClr val="E46C0A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t>값 최대 허용치</a:t>
            </a:r>
          </a:p>
        </p:txBody>
      </p:sp>
      <p:sp>
        <p:nvSpPr>
          <p:cNvPr id="494" name="꺾인 연결선 24"/>
          <p:cNvSpPr/>
          <p:nvPr/>
        </p:nvSpPr>
        <p:spPr>
          <a:xfrm>
            <a:off x="5696665" y="1427733"/>
            <a:ext cx="469726" cy="451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12700">
            <a:solidFill>
              <a:srgbClr val="C00000"/>
            </a:solidFill>
            <a:tailEnd type="oval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BCD코드 1</a:t>
            </a:r>
          </a:p>
        </p:txBody>
      </p:sp>
      <p:sp>
        <p:nvSpPr>
          <p:cNvPr id="497" name="산가지 표기법으로 재무재표를 작성한다?…"/>
          <p:cNvSpPr txBox="1"/>
          <p:nvPr/>
        </p:nvSpPr>
        <p:spPr>
          <a:xfrm>
            <a:off x="611560" y="1275605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Bcd코드</a:t>
            </a:r>
            <a:r>
              <a:rPr dirty="0"/>
              <a:t>(Binary Coded Decimal), </a:t>
            </a:r>
            <a:r>
              <a:rPr dirty="0" err="1"/>
              <a:t>이진화</a:t>
            </a:r>
            <a:r>
              <a:rPr dirty="0"/>
              <a:t> </a:t>
            </a:r>
            <a:r>
              <a:rPr dirty="0" err="1"/>
              <a:t>십진</a:t>
            </a:r>
            <a:r>
              <a:rPr dirty="0"/>
              <a:t> </a:t>
            </a:r>
            <a:r>
              <a:rPr dirty="0" err="1"/>
              <a:t>코드는</a:t>
            </a:r>
            <a:r>
              <a:rPr dirty="0"/>
              <a:t> </a:t>
            </a:r>
            <a:r>
              <a:rPr dirty="0" err="1"/>
              <a:t>십진수의</a:t>
            </a:r>
            <a:r>
              <a:rPr dirty="0"/>
              <a:t> 각 </a:t>
            </a:r>
            <a:r>
              <a:rPr dirty="0" err="1"/>
              <a:t>자리를</a:t>
            </a:r>
            <a:r>
              <a:rPr dirty="0"/>
              <a:t> 4개의 </a:t>
            </a:r>
            <a:r>
              <a:rPr dirty="0" err="1"/>
              <a:t>비트로</a:t>
            </a:r>
            <a:r>
              <a:rPr dirty="0"/>
              <a:t> </a:t>
            </a:r>
            <a:r>
              <a:rPr dirty="0" err="1"/>
              <a:t>표현하는</a:t>
            </a:r>
            <a:r>
              <a:rPr dirty="0"/>
              <a:t> </a:t>
            </a:r>
            <a:r>
              <a:rPr dirty="0" err="1"/>
              <a:t>방법으로</a:t>
            </a:r>
            <a:r>
              <a:rPr dirty="0"/>
              <a:t> </a:t>
            </a:r>
            <a:r>
              <a:rPr dirty="0" err="1"/>
              <a:t>자리의</a:t>
            </a:r>
            <a:r>
              <a:rPr dirty="0"/>
              <a:t> </a:t>
            </a:r>
            <a:r>
              <a:rPr dirty="0" err="1"/>
              <a:t>가중치로</a:t>
            </a:r>
            <a:r>
              <a:rPr dirty="0"/>
              <a:t> </a:t>
            </a:r>
            <a:r>
              <a:rPr dirty="0" err="1"/>
              <a:t>인해</a:t>
            </a:r>
            <a:r>
              <a:rPr dirty="0"/>
              <a:t> 8421코드로 </a:t>
            </a:r>
            <a:r>
              <a:rPr dirty="0" err="1"/>
              <a:t>불리기도</a:t>
            </a:r>
            <a:r>
              <a:rPr dirty="0"/>
              <a:t> </a:t>
            </a:r>
            <a:r>
              <a:rPr dirty="0" err="1"/>
              <a:t>한다</a:t>
            </a:r>
            <a:r>
              <a:rPr dirty="0"/>
              <a:t>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BCD코드 2</a:t>
            </a:r>
          </a:p>
        </p:txBody>
      </p:sp>
      <p:sp>
        <p:nvSpPr>
          <p:cNvPr id="500" name="산가지 표기법으로 재무재표를 작성한다?…"/>
          <p:cNvSpPr txBox="1"/>
          <p:nvPr/>
        </p:nvSpPr>
        <p:spPr>
          <a:xfrm>
            <a:off x="467544" y="1082843"/>
            <a:ext cx="8224040" cy="334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총 4개의 </a:t>
            </a:r>
            <a:r>
              <a:rPr dirty="0" err="1"/>
              <a:t>비트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 수 : 16가지</a:t>
            </a:r>
          </a:p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십진수</a:t>
            </a:r>
            <a:r>
              <a:rPr dirty="0"/>
              <a:t> 한 </a:t>
            </a:r>
            <a:r>
              <a:rPr dirty="0" err="1"/>
              <a:t>자리의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 </a:t>
            </a:r>
            <a:r>
              <a:rPr dirty="0" err="1"/>
              <a:t>심볼</a:t>
            </a:r>
            <a:r>
              <a:rPr dirty="0"/>
              <a:t> 수 : 10가지 </a:t>
            </a:r>
          </a:p>
          <a:p>
            <a:pPr marL="342900" indent="-342900">
              <a:buSzPct val="100000"/>
              <a:buChar char="à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나머지</a:t>
            </a:r>
            <a:r>
              <a:rPr dirty="0"/>
              <a:t> 6가지 </a:t>
            </a:r>
            <a:r>
              <a:rPr dirty="0" err="1"/>
              <a:t>표현은</a:t>
            </a:r>
            <a:r>
              <a:rPr dirty="0"/>
              <a:t> </a:t>
            </a:r>
            <a:r>
              <a:rPr dirty="0" err="1"/>
              <a:t>버리도록</a:t>
            </a:r>
            <a:r>
              <a:rPr dirty="0"/>
              <a:t> </a:t>
            </a:r>
            <a:r>
              <a:rPr dirty="0" err="1"/>
              <a:t>하고</a:t>
            </a:r>
            <a:r>
              <a:rPr dirty="0"/>
              <a:t>, </a:t>
            </a:r>
            <a:r>
              <a:rPr dirty="0" err="1"/>
              <a:t>이를</a:t>
            </a:r>
            <a:r>
              <a:rPr dirty="0"/>
              <a:t> </a:t>
            </a:r>
            <a:r>
              <a:rPr dirty="0" err="1"/>
              <a:t>무효코드라고</a:t>
            </a:r>
            <a:r>
              <a:rPr dirty="0"/>
              <a:t>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부른다</a:t>
            </a:r>
            <a:r>
              <a:rPr dirty="0"/>
              <a:t>.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 dirty="0"/>
          </a:p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이진수의</a:t>
            </a:r>
            <a:r>
              <a:rPr dirty="0"/>
              <a:t> 1바이트 </a:t>
            </a:r>
            <a:r>
              <a:rPr dirty="0" err="1"/>
              <a:t>표현</a:t>
            </a:r>
            <a:r>
              <a:rPr dirty="0"/>
              <a:t> : 0 ~ 255</a:t>
            </a:r>
          </a:p>
          <a:p>
            <a:pPr marL="342900" indent="-342900">
              <a:buSzPct val="100000"/>
              <a:buChar char="-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BCD의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 : 0 ~ 99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b="0" dirty="0">
                <a:latin typeface="Wingdings"/>
                <a:ea typeface="Wingdings"/>
                <a:cs typeface="Wingdings"/>
                <a:sym typeface="Wingdings"/>
              </a:rPr>
              <a:t></a:t>
            </a:r>
            <a:r>
              <a:rPr dirty="0"/>
              <a:t>1바이트 당 156의 </a:t>
            </a:r>
            <a:r>
              <a:rPr dirty="0" err="1"/>
              <a:t>오버헤드</a:t>
            </a:r>
            <a:r>
              <a:rPr dirty="0"/>
              <a:t> </a:t>
            </a:r>
            <a:r>
              <a:rPr dirty="0" err="1"/>
              <a:t>발생</a:t>
            </a:r>
            <a:endParaRPr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BCD코드 3</a:t>
            </a:r>
          </a:p>
        </p:txBody>
      </p:sp>
      <p:sp>
        <p:nvSpPr>
          <p:cNvPr id="503" name="산가지 표기법으로 재무재표를 작성한다?…"/>
          <p:cNvSpPr txBox="1"/>
          <p:nvPr/>
        </p:nvSpPr>
        <p:spPr>
          <a:xfrm>
            <a:off x="611560" y="1275605"/>
            <a:ext cx="8224040" cy="2308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ko-KR" altLang="en-US" dirty="0" smtClean="0"/>
              <a:t>특징</a:t>
            </a:r>
            <a:endParaRPr lang="en-US" altLang="ko-KR" dirty="0" smtClean="0"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altLang="ko-KR" dirty="0"/>
              <a:t>- </a:t>
            </a:r>
            <a:r>
              <a:rPr lang="ko-KR" altLang="en-US" dirty="0"/>
              <a:t>수 표기 방법과 십진 문자표기법과의 전환이 쉬움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dirty="0" smtClean="0"/>
              <a:t>- </a:t>
            </a:r>
            <a:r>
              <a:rPr dirty="0" err="1" smtClean="0"/>
              <a:t>값에</a:t>
            </a:r>
            <a:r>
              <a:rPr dirty="0" smtClean="0"/>
              <a:t> </a:t>
            </a:r>
            <a:r>
              <a:rPr dirty="0" err="1"/>
              <a:t>대한</a:t>
            </a:r>
            <a:r>
              <a:rPr dirty="0"/>
              <a:t> </a:t>
            </a:r>
            <a:r>
              <a:rPr dirty="0" err="1"/>
              <a:t>연산</a:t>
            </a:r>
            <a:r>
              <a:rPr dirty="0"/>
              <a:t>, </a:t>
            </a:r>
            <a:r>
              <a:rPr dirty="0" err="1"/>
              <a:t>손해</a:t>
            </a:r>
            <a:endParaRPr dirty="0"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dirty="0" smtClean="0"/>
              <a:t>- </a:t>
            </a:r>
            <a:r>
              <a:rPr dirty="0" err="1" smtClean="0"/>
              <a:t>컴퓨터</a:t>
            </a:r>
            <a:r>
              <a:rPr dirty="0" smtClean="0"/>
              <a:t> </a:t>
            </a:r>
            <a:r>
              <a:rPr dirty="0" err="1"/>
              <a:t>상에서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 할 수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수를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smtClean="0"/>
              <a:t>Ex</a:t>
            </a:r>
            <a:r>
              <a:rPr dirty="0"/>
              <a:t>) </a:t>
            </a:r>
            <a:r>
              <a:rPr dirty="0" err="1"/>
              <a:t>사용자에게</a:t>
            </a:r>
            <a:r>
              <a:rPr dirty="0"/>
              <a:t> </a:t>
            </a:r>
            <a:r>
              <a:rPr dirty="0" err="1"/>
              <a:t>직접적으로</a:t>
            </a:r>
            <a:r>
              <a:rPr dirty="0"/>
              <a:t> </a:t>
            </a:r>
            <a:r>
              <a:rPr dirty="0" err="1"/>
              <a:t>수를</a:t>
            </a:r>
            <a:r>
              <a:rPr dirty="0"/>
              <a:t> </a:t>
            </a:r>
            <a:r>
              <a:rPr dirty="0" err="1"/>
              <a:t>보여줘야</a:t>
            </a:r>
            <a:r>
              <a:rPr dirty="0"/>
              <a:t> </a:t>
            </a:r>
            <a:r>
              <a:rPr dirty="0" err="1"/>
              <a:t>하는</a:t>
            </a:r>
            <a:r>
              <a:rPr dirty="0"/>
              <a:t> </a:t>
            </a:r>
            <a:r>
              <a:rPr dirty="0" err="1"/>
              <a:t>전자레인지</a:t>
            </a:r>
            <a:endParaRPr dirty="0"/>
          </a:p>
        </p:txBody>
      </p:sp>
      <p:pic>
        <p:nvPicPr>
          <p:cNvPr id="1026" name="Picture 2" descr="BCD code에 대한 이미지 검색결과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3147813"/>
            <a:ext cx="2095500" cy="613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2537889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BCD코드 3</a:t>
            </a:r>
          </a:p>
        </p:txBody>
      </p:sp>
      <p:pic>
        <p:nvPicPr>
          <p:cNvPr id="2050" name="Picture 2" descr="BCD code에 대한 이미지 검색결과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1347614"/>
            <a:ext cx="5616624" cy="290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- BCD코드 4</a:t>
            </a:r>
          </a:p>
        </p:txBody>
      </p:sp>
      <p:sp>
        <p:nvSpPr>
          <p:cNvPr id="508" name="산가지 표기법으로 재무재표를 작성한다?…"/>
          <p:cNvSpPr txBox="1"/>
          <p:nvPr/>
        </p:nvSpPr>
        <p:spPr>
          <a:xfrm>
            <a:off x="611560" y="1275605"/>
            <a:ext cx="8224040" cy="1643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ko-KR" altLang="en-US" dirty="0" smtClean="0"/>
              <a:t>나머지 </a:t>
            </a:r>
            <a:r>
              <a:rPr lang="en-US" altLang="ko-KR" dirty="0" smtClean="0"/>
              <a:t>4</a:t>
            </a:r>
            <a:r>
              <a:rPr lang="ko-KR" altLang="en-US" dirty="0" smtClean="0"/>
              <a:t>비트에 대한 처리</a:t>
            </a:r>
            <a:endParaRPr lang="en-US" altLang="ko-KR" dirty="0" smtClean="0"/>
          </a:p>
          <a:p>
            <a:pPr marL="342900" indent="-342900">
              <a:buFont typeface="Arial" pitchFamily="34" charset="0"/>
              <a:buChar char="•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sz="2000" dirty="0" smtClean="0"/>
              <a:t>4</a:t>
            </a:r>
            <a:r>
              <a:rPr lang="ko-KR" altLang="en-US" sz="2000" dirty="0" smtClean="0"/>
              <a:t>비트만 사용 하고</a:t>
            </a:r>
            <a:r>
              <a:rPr sz="2000" dirty="0" smtClean="0"/>
              <a:t> </a:t>
            </a:r>
            <a:r>
              <a:rPr lang="ko-KR" altLang="en-US" sz="2000" dirty="0" smtClean="0"/>
              <a:t>나머지 </a:t>
            </a:r>
            <a:r>
              <a:rPr lang="en-US" altLang="ko-KR" sz="2000" dirty="0" smtClean="0"/>
              <a:t>4</a:t>
            </a:r>
            <a:r>
              <a:rPr lang="ko-KR" altLang="en-US" sz="2000" dirty="0" smtClean="0"/>
              <a:t>비트</a:t>
            </a:r>
            <a:r>
              <a:rPr sz="2000" dirty="0" smtClean="0"/>
              <a:t>를 000/1111/0011</a:t>
            </a:r>
            <a:r>
              <a:rPr lang="ko-KR" altLang="en-US" sz="2000" dirty="0" err="1" smtClean="0"/>
              <a:t>으로</a:t>
            </a:r>
            <a:r>
              <a:rPr lang="ko-KR" altLang="en-US" sz="2000" dirty="0" smtClean="0"/>
              <a:t> </a:t>
            </a:r>
            <a:r>
              <a:rPr sz="2000" dirty="0" err="1" smtClean="0"/>
              <a:t>채우는</a:t>
            </a:r>
            <a:r>
              <a:rPr sz="2000" dirty="0" smtClean="0"/>
              <a:t> </a:t>
            </a:r>
            <a:r>
              <a:rPr sz="2000" dirty="0" err="1" smtClean="0"/>
              <a:t>방법</a:t>
            </a:r>
            <a:endParaRPr lang="en-US" sz="2000" dirty="0" smtClean="0"/>
          </a:p>
          <a:p>
            <a:pPr marL="342900" indent="-342900">
              <a:buFont typeface="Arial" pitchFamily="34" charset="0"/>
              <a:buChar char="•"/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sz="2000" dirty="0" smtClean="0"/>
              <a:t>1</a:t>
            </a:r>
            <a:r>
              <a:rPr sz="2000" dirty="0" smtClean="0"/>
              <a:t>바이트에 </a:t>
            </a:r>
            <a:r>
              <a:rPr sz="2000" dirty="0"/>
              <a:t>두 </a:t>
            </a:r>
            <a:r>
              <a:rPr sz="2000" dirty="0" err="1"/>
              <a:t>자리를</a:t>
            </a:r>
            <a:r>
              <a:rPr sz="2000" dirty="0"/>
              <a:t> </a:t>
            </a:r>
            <a:r>
              <a:rPr lang="ko-KR" altLang="en-US" sz="2000" dirty="0" smtClean="0"/>
              <a:t>저장 하는 방법</a:t>
            </a:r>
            <a:endParaRPr sz="2000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rPr dirty="0"/>
              <a:t> </a:t>
            </a:r>
            <a:r>
              <a:rPr dirty="0" err="1"/>
              <a:t>컴퓨터의</a:t>
            </a:r>
            <a:r>
              <a:rPr dirty="0"/>
              <a:t> </a:t>
            </a:r>
            <a:r>
              <a:rPr dirty="0" err="1"/>
              <a:t>수치</a:t>
            </a:r>
            <a:r>
              <a:rPr dirty="0"/>
              <a:t> </a:t>
            </a:r>
            <a:r>
              <a:rPr dirty="0" err="1"/>
              <a:t>표기법</a:t>
            </a:r>
            <a:r>
              <a:rPr dirty="0"/>
              <a:t> </a:t>
            </a:r>
            <a:r>
              <a:rPr lang="en-US" altLang="ko-KR" dirty="0" smtClean="0"/>
              <a:t>–</a:t>
            </a:r>
            <a:r>
              <a:rPr dirty="0" smtClean="0"/>
              <a:t> </a:t>
            </a:r>
            <a:r>
              <a:rPr lang="en-US" dirty="0" smtClean="0"/>
              <a:t>Packed BCD</a:t>
            </a:r>
            <a:endParaRPr dirty="0"/>
          </a:p>
        </p:txBody>
      </p:sp>
      <p:sp>
        <p:nvSpPr>
          <p:cNvPr id="511" name="산가지 표기법으로 재무재표를 작성한다?…"/>
          <p:cNvSpPr txBox="1"/>
          <p:nvPr/>
        </p:nvSpPr>
        <p:spPr>
          <a:xfrm>
            <a:off x="611560" y="1275605"/>
            <a:ext cx="8224040" cy="491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버리지</a:t>
            </a:r>
            <a:r>
              <a:rPr dirty="0"/>
              <a:t> </a:t>
            </a:r>
            <a:r>
              <a:rPr dirty="0" err="1"/>
              <a:t>않는</a:t>
            </a:r>
            <a:r>
              <a:rPr dirty="0"/>
              <a:t> </a:t>
            </a:r>
            <a:r>
              <a:rPr dirty="0" err="1"/>
              <a:t>BCD</a:t>
            </a:r>
            <a:r>
              <a:rPr dirty="0" err="1" smtClean="0"/>
              <a:t>코드</a:t>
            </a:r>
            <a:r>
              <a:rPr lang="en-US" dirty="0" smtClean="0"/>
              <a:t>, </a:t>
            </a:r>
            <a:r>
              <a:rPr lang="ko-KR" altLang="en-US" dirty="0"/>
              <a:t>묶음 이진화 십진법</a:t>
            </a:r>
            <a:r>
              <a:rPr dirty="0" smtClean="0"/>
              <a:t>(</a:t>
            </a:r>
            <a:r>
              <a:rPr dirty="0"/>
              <a:t>Packed BCD</a:t>
            </a:r>
            <a:r>
              <a:rPr dirty="0" smtClean="0"/>
              <a:t>)</a:t>
            </a:r>
            <a:endParaRPr dirty="0"/>
          </a:p>
        </p:txBody>
      </p:sp>
      <p:pic>
        <p:nvPicPr>
          <p:cNvPr id="512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21779" y="2261812"/>
            <a:ext cx="2238376" cy="1876426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산가지 표기법으로 재무재표를 작성한다?…"/>
          <p:cNvSpPr txBox="1"/>
          <p:nvPr/>
        </p:nvSpPr>
        <p:spPr>
          <a:xfrm>
            <a:off x="3253999" y="2267791"/>
            <a:ext cx="5569645" cy="9787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+729 : 72 9C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smtClean="0"/>
              <a:t>-</a:t>
            </a:r>
            <a:r>
              <a:rPr lang="en-US" dirty="0" smtClean="0"/>
              <a:t> </a:t>
            </a:r>
            <a:r>
              <a:rPr dirty="0" smtClean="0"/>
              <a:t>729 </a:t>
            </a:r>
            <a:r>
              <a:rPr dirty="0"/>
              <a:t>: 72 9D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– 고정소수표기법 1 </a:t>
            </a:r>
          </a:p>
        </p:txBody>
      </p:sp>
      <p:sp>
        <p:nvSpPr>
          <p:cNvPr id="516" name="산가지 표기법으로 재무재표를 작성한다?…"/>
          <p:cNvSpPr txBox="1"/>
          <p:nvPr/>
        </p:nvSpPr>
        <p:spPr>
          <a:xfrm>
            <a:off x="395536" y="1059582"/>
            <a:ext cx="8224040" cy="2080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고정 된 비트의 개수로 정수와 실수 모두를 표현한다, 이 말은 곧, 소수점의 위치를 고정 시켜놓고 연산한다고 볼 수 있다.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과거 하드웨어에서 지원되지 않던 시기에 소프트웨어적으로 구현돼 사용되던 방법</a:t>
            </a:r>
          </a:p>
        </p:txBody>
      </p:sp>
      <p:sp>
        <p:nvSpPr>
          <p:cNvPr id="517" name="산가지 표기법으로 재무재표를 작성한다?…"/>
          <p:cNvSpPr txBox="1"/>
          <p:nvPr/>
        </p:nvSpPr>
        <p:spPr>
          <a:xfrm>
            <a:off x="547935" y="3723878"/>
            <a:ext cx="1791817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000</a:t>
            </a:r>
            <a:r>
              <a:rPr dirty="0">
                <a:solidFill>
                  <a:srgbClr val="FF0000"/>
                </a:solidFill>
              </a:rPr>
              <a:t>1</a:t>
            </a:r>
            <a:r>
              <a:rPr dirty="0"/>
              <a:t>.4</a:t>
            </a:r>
          </a:p>
          <a:p>
            <a:pPr>
              <a:defRPr sz="2400">
                <a:solidFill>
                  <a:srgbClr val="FF00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3935</a:t>
            </a:r>
            <a:r>
              <a:rPr dirty="0">
                <a:solidFill>
                  <a:srgbClr val="3F3F3F"/>
                </a:solidFill>
              </a:rPr>
              <a:t>.1</a:t>
            </a:r>
          </a:p>
        </p:txBody>
      </p:sp>
      <p:sp>
        <p:nvSpPr>
          <p:cNvPr id="518" name="산가지 표기법으로 재무재표를 작성한다?…"/>
          <p:cNvSpPr txBox="1"/>
          <p:nvPr/>
        </p:nvSpPr>
        <p:spPr>
          <a:xfrm>
            <a:off x="2771799" y="3502278"/>
            <a:ext cx="5976666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정수 1자리를 포함한 실수와 정수 4자리를 포함한 실수 모두 정수 표현에 같은 비트의 개수가 필요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– 고정소수표기법 2</a:t>
            </a:r>
          </a:p>
        </p:txBody>
      </p:sp>
      <p:sp>
        <p:nvSpPr>
          <p:cNvPr id="523" name="산가지 표기법으로 재무재표를 작성한다?…"/>
          <p:cNvSpPr txBox="1"/>
          <p:nvPr/>
        </p:nvSpPr>
        <p:spPr>
          <a:xfrm>
            <a:off x="391557" y="1131590"/>
            <a:ext cx="8224040" cy="1257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rPr dirty="0" err="1"/>
              <a:t>절차</a:t>
            </a:r>
            <a:r>
              <a:rPr dirty="0"/>
              <a:t> 상 </a:t>
            </a:r>
            <a:r>
              <a:rPr dirty="0" err="1"/>
              <a:t>고정</a:t>
            </a:r>
            <a:r>
              <a:rPr dirty="0"/>
              <a:t> </a:t>
            </a:r>
            <a:r>
              <a:rPr dirty="0" err="1"/>
              <a:t>소수점</a:t>
            </a:r>
            <a:r>
              <a:rPr dirty="0"/>
              <a:t> </a:t>
            </a:r>
            <a:r>
              <a:rPr dirty="0" err="1"/>
              <a:t>연산은</a:t>
            </a:r>
            <a:r>
              <a:rPr dirty="0"/>
              <a:t> </a:t>
            </a:r>
            <a:r>
              <a:rPr dirty="0" err="1"/>
              <a:t>덧셈과</a:t>
            </a:r>
            <a:r>
              <a:rPr dirty="0"/>
              <a:t> </a:t>
            </a:r>
            <a:r>
              <a:rPr dirty="0" err="1"/>
              <a:t>뺄셈의</a:t>
            </a:r>
            <a:r>
              <a:rPr dirty="0"/>
              <a:t> </a:t>
            </a:r>
            <a:r>
              <a:rPr dirty="0" err="1"/>
              <a:t>연산에</a:t>
            </a:r>
            <a:r>
              <a:rPr dirty="0"/>
              <a:t> </a:t>
            </a:r>
            <a:r>
              <a:rPr dirty="0" err="1"/>
              <a:t>강하고</a:t>
            </a:r>
            <a:r>
              <a:rPr dirty="0"/>
              <a:t> </a:t>
            </a:r>
            <a:r>
              <a:rPr dirty="0" err="1"/>
              <a:t>부동</a:t>
            </a:r>
            <a:r>
              <a:rPr dirty="0"/>
              <a:t> </a:t>
            </a:r>
            <a:r>
              <a:rPr dirty="0" err="1"/>
              <a:t>소수점</a:t>
            </a:r>
            <a:r>
              <a:rPr dirty="0"/>
              <a:t> </a:t>
            </a:r>
            <a:r>
              <a:rPr dirty="0" err="1"/>
              <a:t>연산은</a:t>
            </a:r>
            <a:r>
              <a:rPr dirty="0"/>
              <a:t> </a:t>
            </a:r>
            <a:r>
              <a:rPr dirty="0" err="1"/>
              <a:t>곱셈과</a:t>
            </a:r>
            <a:r>
              <a:rPr dirty="0"/>
              <a:t> </a:t>
            </a:r>
            <a:r>
              <a:rPr dirty="0" err="1"/>
              <a:t>나눗셈</a:t>
            </a:r>
            <a:r>
              <a:rPr dirty="0"/>
              <a:t> </a:t>
            </a:r>
            <a:r>
              <a:rPr dirty="0" err="1"/>
              <a:t>연산에</a:t>
            </a:r>
            <a:r>
              <a:rPr dirty="0"/>
              <a:t> </a:t>
            </a:r>
            <a:r>
              <a:rPr dirty="0" err="1"/>
              <a:t>강하다</a:t>
            </a:r>
            <a:endParaRPr dirty="0"/>
          </a:p>
        </p:txBody>
      </p:sp>
      <p:sp>
        <p:nvSpPr>
          <p:cNvPr id="4" name="산가지 표기법으로 재무재표를 작성한다?…"/>
          <p:cNvSpPr txBox="1"/>
          <p:nvPr/>
        </p:nvSpPr>
        <p:spPr>
          <a:xfrm>
            <a:off x="2699792" y="2787774"/>
            <a:ext cx="2787944" cy="1806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lvl1pPr>
          </a:lstStyle>
          <a:p>
            <a:r>
              <a:rPr lang="en-US" sz="3200" dirty="0" smtClean="0"/>
              <a:t>1111.111</a:t>
            </a:r>
          </a:p>
          <a:p>
            <a:endParaRPr lang="en-US" sz="3200" dirty="0" smtClean="0"/>
          </a:p>
          <a:p>
            <a:r>
              <a:rPr lang="en-US" sz="3200" dirty="0" smtClean="0"/>
              <a:t>1231.2312</a:t>
            </a:r>
            <a:endParaRPr sz="3200" dirty="0"/>
          </a:p>
        </p:txBody>
      </p:sp>
      <p:sp>
        <p:nvSpPr>
          <p:cNvPr id="2" name="오른쪽 화살표 1"/>
          <p:cNvSpPr/>
          <p:nvPr/>
        </p:nvSpPr>
        <p:spPr>
          <a:xfrm rot="16200000">
            <a:off x="3652223" y="3347510"/>
            <a:ext cx="327386" cy="360041"/>
          </a:xfrm>
          <a:prstGeom prst="right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ko-KR" altLang="en-US" sz="1600" b="1" i="0" u="none" strike="noStrike" cap="none" spc="0" normalizeH="0" baseline="0">
              <a:ln>
                <a:noFill/>
              </a:ln>
              <a:solidFill>
                <a:srgbClr val="3F3F3F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  <p:sp>
        <p:nvSpPr>
          <p:cNvPr id="6" name="오른쪽 화살표 5"/>
          <p:cNvSpPr/>
          <p:nvPr/>
        </p:nvSpPr>
        <p:spPr>
          <a:xfrm rot="16200000">
            <a:off x="2673172" y="4578346"/>
            <a:ext cx="327386" cy="360041"/>
          </a:xfrm>
          <a:prstGeom prst="right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ko-KR" altLang="en-US" sz="1600" b="1" i="0" u="none" strike="noStrike" cap="none" spc="0" normalizeH="0" baseline="0">
              <a:ln>
                <a:noFill/>
              </a:ln>
              <a:solidFill>
                <a:srgbClr val="3F3F3F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 1</a:t>
            </a:r>
          </a:p>
        </p:txBody>
      </p:sp>
      <p:sp>
        <p:nvSpPr>
          <p:cNvPr id="528" name="산가지 표기법으로 재무재표를 작성한다?…"/>
          <p:cNvSpPr txBox="1"/>
          <p:nvPr/>
        </p:nvSpPr>
        <p:spPr>
          <a:xfrm>
            <a:off x="683568" y="1266466"/>
            <a:ext cx="8224040" cy="1421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스케일</a:t>
            </a:r>
            <a:r>
              <a:rPr dirty="0"/>
              <a:t> 수 </a:t>
            </a:r>
            <a:r>
              <a:rPr dirty="0" err="1"/>
              <a:t>표기법</a:t>
            </a:r>
            <a:r>
              <a:rPr dirty="0"/>
              <a:t> (Scaled Numeric Formats</a:t>
            </a:r>
            <a:r>
              <a:rPr dirty="0" smtClean="0"/>
              <a:t>)</a:t>
            </a:r>
            <a:endParaRPr lang="en-US" dirty="0" smtClean="0"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ko-KR" altLang="en-US" dirty="0" err="1" smtClean="0"/>
              <a:t>실수부를</a:t>
            </a:r>
            <a:r>
              <a:rPr lang="ko-KR" altLang="en-US" dirty="0" smtClean="0"/>
              <a:t> 정수로 변환해서 수행하는 방법</a:t>
            </a:r>
            <a:r>
              <a:rPr lang="en-US" altLang="ko-KR" dirty="0" smtClean="0"/>
              <a:t>, </a:t>
            </a:r>
            <a:r>
              <a:rPr dirty="0" err="1" smtClean="0"/>
              <a:t>실수부의</a:t>
            </a:r>
            <a:r>
              <a:rPr dirty="0" smtClean="0"/>
              <a:t> </a:t>
            </a:r>
            <a:r>
              <a:rPr dirty="0" err="1"/>
              <a:t>정확한</a:t>
            </a:r>
            <a:r>
              <a:rPr dirty="0"/>
              <a:t> </a:t>
            </a:r>
            <a:r>
              <a:rPr dirty="0" err="1"/>
              <a:t>수치와</a:t>
            </a:r>
            <a:r>
              <a:rPr dirty="0"/>
              <a:t> </a:t>
            </a:r>
            <a:r>
              <a:rPr dirty="0" err="1"/>
              <a:t>이진</a:t>
            </a:r>
            <a:r>
              <a:rPr dirty="0"/>
              <a:t> </a:t>
            </a:r>
            <a:r>
              <a:rPr dirty="0" err="1"/>
              <a:t>포맷의</a:t>
            </a:r>
            <a:r>
              <a:rPr dirty="0"/>
              <a:t> 폭 </a:t>
            </a:r>
            <a:r>
              <a:rPr dirty="0" err="1"/>
              <a:t>넓은</a:t>
            </a:r>
            <a:r>
              <a:rPr dirty="0"/>
              <a:t> </a:t>
            </a:r>
            <a:r>
              <a:rPr dirty="0" err="1"/>
              <a:t>표현</a:t>
            </a:r>
            <a:r>
              <a:rPr dirty="0"/>
              <a:t> </a:t>
            </a:r>
            <a:r>
              <a:rPr dirty="0" err="1" smtClean="0"/>
              <a:t>범위</a:t>
            </a:r>
            <a:r>
              <a:rPr lang="ko-KR" altLang="en-US" dirty="0" err="1" smtClean="0"/>
              <a:t>를</a:t>
            </a:r>
            <a:r>
              <a:rPr lang="ko-KR" altLang="en-US" dirty="0" smtClean="0"/>
              <a:t> 표현 할 수 있다</a:t>
            </a:r>
            <a:r>
              <a:rPr lang="en-US" altLang="ko-KR" dirty="0" smtClean="0"/>
              <a:t>.</a:t>
            </a:r>
            <a:endParaRPr dirty="0"/>
          </a:p>
        </p:txBody>
      </p:sp>
      <p:sp>
        <p:nvSpPr>
          <p:cNvPr id="2" name="직사각형 1"/>
          <p:cNvSpPr/>
          <p:nvPr/>
        </p:nvSpPr>
        <p:spPr>
          <a:xfrm>
            <a:off x="683568" y="2355726"/>
            <a:ext cx="8064896" cy="978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 lang="ko-KR" altLang="en-US" dirty="0"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lang="en-US" altLang="ko-KR" dirty="0" smtClean="0"/>
              <a:t>- </a:t>
            </a:r>
            <a:r>
              <a:rPr lang="ko-KR" altLang="en-US" dirty="0" smtClean="0"/>
              <a:t>모든 </a:t>
            </a:r>
            <a:r>
              <a:rPr lang="ko-KR" altLang="en-US" dirty="0"/>
              <a:t>연산을 정수 연산으로 변환해서 </a:t>
            </a:r>
            <a:r>
              <a:rPr lang="ko-KR" altLang="en-US" dirty="0" smtClean="0"/>
              <a:t>수행</a:t>
            </a:r>
            <a:endParaRPr lang="ko-KR" alt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 2 -1 </a:t>
            </a:r>
          </a:p>
        </p:txBody>
      </p:sp>
      <p:sp>
        <p:nvSpPr>
          <p:cNvPr id="531" name="산가지 표기법으로 재무재표를 작성한다?…"/>
          <p:cNvSpPr txBox="1"/>
          <p:nvPr/>
        </p:nvSpPr>
        <p:spPr>
          <a:xfrm>
            <a:off x="683568" y="1266467"/>
            <a:ext cx="8224040" cy="2080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0.1234567 = 0.1234567 * 10^7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= 1234567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… 연산 수행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               = 결과 / 10^7 </a:t>
            </a:r>
          </a:p>
        </p:txBody>
      </p:sp>
      <p:sp>
        <p:nvSpPr>
          <p:cNvPr id="532" name="산가지 표기법으로 재무재표를 작성한다?…"/>
          <p:cNvSpPr txBox="1"/>
          <p:nvPr/>
        </p:nvSpPr>
        <p:spPr>
          <a:xfrm>
            <a:off x="683568" y="1266467"/>
            <a:ext cx="8224040" cy="2491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0.1234567 = 0.1234567 * 10^7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               = 1234567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               … </a:t>
            </a:r>
            <a:r>
              <a:rPr dirty="0" err="1" smtClean="0"/>
              <a:t>연산</a:t>
            </a:r>
            <a:r>
              <a:rPr dirty="0" smtClean="0"/>
              <a:t> </a:t>
            </a:r>
            <a:r>
              <a:rPr dirty="0" err="1" smtClean="0"/>
              <a:t>수행</a:t>
            </a:r>
            <a:r>
              <a:rPr dirty="0" smtClean="0"/>
              <a:t>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smtClean="0"/>
              <a:t>               = </a:t>
            </a:r>
            <a:r>
              <a:rPr dirty="0" err="1" smtClean="0"/>
              <a:t>결과</a:t>
            </a:r>
            <a:r>
              <a:rPr dirty="0" smtClean="0"/>
              <a:t> / 10^7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 2- 2</a:t>
            </a:r>
          </a:p>
        </p:txBody>
      </p:sp>
      <p:sp>
        <p:nvSpPr>
          <p:cNvPr id="535" name="산가지 표기법으로 재무재표를 작성한다?…"/>
          <p:cNvSpPr txBox="1"/>
          <p:nvPr/>
        </p:nvSpPr>
        <p:spPr>
          <a:xfrm>
            <a:off x="614555" y="2492169"/>
            <a:ext cx="5325598" cy="2903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0.1111 * 0.1111 = 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= (1111 * 10^4) * (1111 * 10^4)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= 1234321/ 10^4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/>
              <a:t>= 123.4321 </a:t>
            </a:r>
            <a:r>
              <a:rPr dirty="0">
                <a:solidFill>
                  <a:srgbClr val="FF0000"/>
                </a:solidFill>
              </a:rPr>
              <a:t>!= 0.01234321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 dirty="0">
              <a:solidFill>
                <a:srgbClr val="FF0000"/>
              </a:solidFill>
            </a:endParaRP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 dirty="0">
              <a:solidFill>
                <a:srgbClr val="FF0000"/>
              </a:solidFill>
            </a:endParaRPr>
          </a:p>
        </p:txBody>
      </p:sp>
      <p:sp>
        <p:nvSpPr>
          <p:cNvPr id="536" name="산가지 표기법으로 재무재표를 작성한다?…"/>
          <p:cNvSpPr txBox="1"/>
          <p:nvPr/>
        </p:nvSpPr>
        <p:spPr>
          <a:xfrm>
            <a:off x="395536" y="1059582"/>
            <a:ext cx="8224040" cy="845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오버플로우</a:t>
            </a:r>
            <a:r>
              <a:rPr dirty="0"/>
              <a:t> </a:t>
            </a:r>
            <a:r>
              <a:rPr dirty="0" err="1"/>
              <a:t>발생의</a:t>
            </a:r>
            <a:r>
              <a:rPr dirty="0"/>
              <a:t> </a:t>
            </a:r>
            <a:r>
              <a:rPr dirty="0" err="1"/>
              <a:t>우려</a:t>
            </a:r>
            <a:endParaRPr dirty="0"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곱셈</a:t>
            </a:r>
            <a:r>
              <a:rPr dirty="0"/>
              <a:t> </a:t>
            </a:r>
            <a:r>
              <a:rPr dirty="0" err="1"/>
              <a:t>혹은</a:t>
            </a:r>
            <a:r>
              <a:rPr dirty="0"/>
              <a:t> </a:t>
            </a:r>
            <a:r>
              <a:rPr dirty="0" err="1"/>
              <a:t>나눗셈</a:t>
            </a:r>
            <a:r>
              <a:rPr dirty="0"/>
              <a:t> </a:t>
            </a:r>
            <a:r>
              <a:rPr dirty="0" err="1"/>
              <a:t>연산에서의</a:t>
            </a:r>
            <a:r>
              <a:rPr dirty="0"/>
              <a:t> </a:t>
            </a:r>
            <a:r>
              <a:rPr dirty="0" err="1"/>
              <a:t>문제</a:t>
            </a:r>
            <a:r>
              <a:rPr dirty="0"/>
              <a:t>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3400"/>
            </a:pPr>
            <a:r>
              <a:t> 컴퓨터의 수치 표기법 - 스케일수 표기법 2- 3</a:t>
            </a:r>
          </a:p>
        </p:txBody>
      </p:sp>
      <p:sp>
        <p:nvSpPr>
          <p:cNvPr id="541" name="산가지 표기법으로 재무재표를 작성한다?…"/>
          <p:cNvSpPr txBox="1"/>
          <p:nvPr/>
        </p:nvSpPr>
        <p:spPr>
          <a:xfrm>
            <a:off x="623807" y="2850789"/>
            <a:ext cx="5325598" cy="2903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0.1111 * 0.1111 = ?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(1111 * 10^4) * (1111 * 10^4) 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1234321/ 10^4 / </a:t>
            </a:r>
            <a:r>
              <a:rPr>
                <a:solidFill>
                  <a:srgbClr val="FF0000"/>
                </a:solidFill>
              </a:rPr>
              <a:t>10^4</a:t>
            </a:r>
          </a:p>
          <a:p>
            <a:pPr>
              <a:defRPr sz="2400">
                <a:solidFill>
                  <a:srgbClr val="FF0000"/>
                </a:solidFill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= 0.01234321</a:t>
            </a:r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/>
          </a:p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endParaRPr/>
          </a:p>
        </p:txBody>
      </p:sp>
      <p:sp>
        <p:nvSpPr>
          <p:cNvPr id="542" name="산가지 표기법으로 재무재표를 작성한다?…"/>
          <p:cNvSpPr txBox="1"/>
          <p:nvPr/>
        </p:nvSpPr>
        <p:spPr>
          <a:xfrm>
            <a:off x="612223" y="1779661"/>
            <a:ext cx="8136906" cy="434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정확한 연산 결과를 위한 Scale Factor 가 필요하다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442"/>
          <p:cNvSpPr txBox="1">
            <a:spLocks noGrp="1"/>
          </p:cNvSpPr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r>
              <a:t> 컴퓨터의 수치 표기법 – 유리수 표기법</a:t>
            </a:r>
          </a:p>
        </p:txBody>
      </p:sp>
      <p:sp>
        <p:nvSpPr>
          <p:cNvPr id="545" name="산가지 표기법으로 재무재표를 작성한다?…"/>
          <p:cNvSpPr txBox="1"/>
          <p:nvPr/>
        </p:nvSpPr>
        <p:spPr>
          <a:xfrm>
            <a:off x="683568" y="1266466"/>
            <a:ext cx="8224040" cy="12572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>
                <a:latin typeface="나눔바른고딕"/>
                <a:ea typeface="나눔바른고딕"/>
                <a:cs typeface="나눔바른고딕"/>
                <a:sym typeface="나눔바른고딕"/>
              </a:defRPr>
            </a:pPr>
            <a:r>
              <a:t>N/D 유리수를 표현하는 것 처럼 한 쌍의 정수를 이용해서 실수를 표기하는 방법, 정수의 비로 나타낼 수 있기 때문에 1/3(=0.33333…)과 같은 값을 정확히 표현 할 수 있다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Shape 821"/>
          <p:cNvSpPr txBox="1">
            <a:spLocks noGrp="1"/>
          </p:cNvSpPr>
          <p:nvPr>
            <p:ph type="title"/>
          </p:nvPr>
        </p:nvSpPr>
        <p:spPr>
          <a:xfrm>
            <a:off x="1043607" y="2924942"/>
            <a:ext cx="7056785" cy="533309"/>
          </a:xfrm>
          <a:prstGeom prst="rect">
            <a:avLst/>
          </a:prstGeom>
        </p:spPr>
        <p:txBody>
          <a:bodyPr lIns="45699" tIns="45699" rIns="45699" bIns="45699"/>
          <a:lstStyle>
            <a:lvl1pPr defTabSz="795527">
              <a:defRPr sz="2700"/>
            </a:lvl1pPr>
          </a:lstStyle>
          <a:p>
            <a: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085345210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ntents Slide Master">
  <a:themeElements>
    <a:clrScheme name="Contents Slide Master">
      <a:dk1>
        <a:srgbClr val="3F3F3F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1" i="0" u="none" strike="noStrike" cap="none" spc="0" normalizeH="0" baseline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1" i="0" u="none" strike="noStrike" cap="none" spc="0" normalizeH="0" baseline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ontents Slide Master">
  <a:themeElements>
    <a:clrScheme name="Contents Slide Master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1" i="0" u="none" strike="noStrike" cap="none" spc="0" normalizeH="0" baseline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1" i="0" u="none" strike="noStrike" cap="none" spc="0" normalizeH="0" baseline="0">
            <a:ln>
              <a:noFill/>
            </a:ln>
            <a:solidFill>
              <a:srgbClr val="3F3F3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2272</Words>
  <Application>Microsoft Office PowerPoint</Application>
  <PresentationFormat>화면 슬라이드 쇼(16:9)</PresentationFormat>
  <Paragraphs>249</Paragraphs>
  <Slides>44</Slides>
  <Notes>21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5" baseType="lpstr">
      <vt:lpstr>Contents Slide Master</vt:lpstr>
      <vt:lpstr>Great Code Understanding the Machine</vt:lpstr>
      <vt:lpstr>발표자 소개</vt:lpstr>
      <vt:lpstr>Great Code</vt:lpstr>
      <vt:lpstr>1. 책 소개</vt:lpstr>
      <vt:lpstr>저자 및 책 소개</vt:lpstr>
      <vt:lpstr>2. 수와 수치 표기법 </vt:lpstr>
      <vt:lpstr> 수와 수치 표기법</vt:lpstr>
      <vt:lpstr>수와 수치표기법 – 산가지 표기법</vt:lpstr>
      <vt:lpstr> 수와 수치 표기법</vt:lpstr>
      <vt:lpstr> 수와 수치 표기법 – 진법</vt:lpstr>
      <vt:lpstr> 수와 수치 표기법</vt:lpstr>
      <vt:lpstr>3. 컴퓨터의 수치 표기법</vt:lpstr>
      <vt:lpstr> 컴퓨터의 수치 표기법</vt:lpstr>
      <vt:lpstr> 컴퓨터의 수치 표기법</vt:lpstr>
      <vt:lpstr> 컴퓨터의 수치 표기법</vt:lpstr>
      <vt:lpstr> 컴퓨터의 수치 표기법</vt:lpstr>
      <vt:lpstr> 컴퓨터의 수치 표기법</vt:lpstr>
      <vt:lpstr> 컴퓨터의 수치 표기법</vt:lpstr>
      <vt:lpstr> 컴퓨터의 수치 표기법</vt:lpstr>
      <vt:lpstr>4. 다양한 수치 표기법</vt:lpstr>
      <vt:lpstr> 컴퓨터의 수치 표기법 - 비트크기 조작</vt:lpstr>
      <vt:lpstr> 컴퓨터의 수치 표기법 - 비트확장1</vt:lpstr>
      <vt:lpstr> 컴퓨터의 수치 표기법 - 비트확장 2</vt:lpstr>
      <vt:lpstr> 컴퓨터의 수치 표기법 - 축소</vt:lpstr>
      <vt:lpstr> 컴퓨터의 수치 표기법 - 축소 2</vt:lpstr>
      <vt:lpstr> 컴퓨터의 수치 표기법 - 축소 1-1</vt:lpstr>
      <vt:lpstr> 컴퓨터의 수치 표기법 - 축소 1-2</vt:lpstr>
      <vt:lpstr> 컴퓨터의 수치 표기법 - 축소 3</vt:lpstr>
      <vt:lpstr> 컴퓨터의 수치 표기법 – 포화 1</vt:lpstr>
      <vt:lpstr> 컴퓨터의 수치 표기법 – 포화 2</vt:lpstr>
      <vt:lpstr> 컴퓨터의 수치 표기법 - BCD코드 1</vt:lpstr>
      <vt:lpstr> 컴퓨터의 수치 표기법 - BCD코드 2</vt:lpstr>
      <vt:lpstr> 컴퓨터의 수치 표기법 - BCD코드 3</vt:lpstr>
      <vt:lpstr> 컴퓨터의 수치 표기법 - BCD코드 3</vt:lpstr>
      <vt:lpstr> 컴퓨터의 수치 표기법 - BCD코드 4</vt:lpstr>
      <vt:lpstr> 컴퓨터의 수치 표기법 – Packed BCD</vt:lpstr>
      <vt:lpstr> 컴퓨터의 수치 표기법 – 고정소수표기법 1 </vt:lpstr>
      <vt:lpstr> 컴퓨터의 수치 표기법 – 고정소수표기법 2</vt:lpstr>
      <vt:lpstr> 컴퓨터의 수치 표기법 - 스케일수 표기법 1</vt:lpstr>
      <vt:lpstr> 컴퓨터의 수치 표기법 - 스케일수 표기법 2 -1 </vt:lpstr>
      <vt:lpstr> 컴퓨터의 수치 표기법 - 스케일수 표기법 2- 2</vt:lpstr>
      <vt:lpstr> 컴퓨터의 수치 표기법 - 스케일수 표기법 2- 3</vt:lpstr>
      <vt:lpstr> 컴퓨터의 수치 표기법 – 유리수 표기법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Code Understanding the Machine</dc:title>
  <dc:creator>CZ-shmun-N1</dc:creator>
  <cp:lastModifiedBy>Windows 사용자</cp:lastModifiedBy>
  <cp:revision>29</cp:revision>
  <dcterms:modified xsi:type="dcterms:W3CDTF">2017-10-17T09:02:42Z</dcterms:modified>
</cp:coreProperties>
</file>